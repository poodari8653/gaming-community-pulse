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E8EAF0"/>
                </a:solidFill>
                <a:latin typeface="Arial"/>
              </a:defRPr>
            </a:pPr>
            <a:r>
              <a:rPr sz="1300" b="0" i="0" u="none" strike="noStrike">
                <a:solidFill>
                  <a:srgbClr val="E8EAF0"/>
                </a:solidFill>
                <a:latin typeface="Arial"/>
              </a:rPr>
              <a:t>Average sentiment score (-1 to +1)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sentiment</c:v>
                </c:pt>
              </c:strCache>
            </c:strRef>
          </c:tx>
          <c:spPr>
            <a:solidFill>
              <a:srgbClr val="F5C451"/>
            </a:solidFill>
            <a:effectLst/>
          </c:spPr>
          <c:invertIfNegative val="0"/>
          <c:dLbls>
            <c:numFmt formatCode="0.00;-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8EAF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C45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C45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CF8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CF8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F6B6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PUBG</c:v>
                  </c:pt>
                  <c:pt idx="1">
                    <c:v>Once Human</c:v>
                  </c:pt>
                  <c:pt idx="2">
                    <c:v>Marvel Rivals</c:v>
                  </c:pt>
                  <c:pt idx="3">
                    <c:v>Where Winds Meet</c:v>
                  </c:pt>
                  <c:pt idx="4">
                    <c:v>World of Warcraft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-0.003</c:v>
                </c:pt>
                <c:pt idx="1">
                  <c:v>-0.025</c:v>
                </c:pt>
                <c:pt idx="2">
                  <c:v>0.099</c:v>
                </c:pt>
                <c:pt idx="3">
                  <c:v>0.185</c:v>
                </c:pt>
                <c:pt idx="4">
                  <c:v>-0.093</c:v>
                </c:pt>
              </c:numCache>
            </c:numRef>
          </c:val>
        </c:ser>
        <c:dLbls>
          <c:numFmt formatCode="0.00;-0.00" sourceLinked="0"/>
          <c:txPr>
            <a:bodyPr/>
            <a:lstStyle/>
            <a:p>
              <a:pPr>
                <a:defRPr b="0" i="0" strike="noStrike" sz="1100" u="none">
                  <a:solidFill>
                    <a:srgbClr val="E8EAF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1B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"/>
          <c:min val="-0.3"/>
        </c:scaling>
        <c:delete val="0"/>
        <c:axPos val="b"/>
        <c:majorGridlines>
          <c:spPr>
            <a:ln w="12700" cap="flat">
              <a:solidFill>
                <a:srgbClr val="2A2F4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1B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solidFill>
          <a:srgbClr val="1B1F2C"/>
        </a:solidFill>
        <a:ln>
          <a:noFill/>
        </a:ln>
        <a:effectLst/>
      </c:spPr>
    </c:plotArea>
    <c:plotVisOnly val="1"/>
    <c:dispBlanksAs val="span"/>
  </c:chart>
  <c:spPr>
    <a:solidFill>
      <a:srgbClr val="12141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engagement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8EAF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PUBG</c:v>
                  </c:pt>
                  <c:pt idx="1">
                    <c:v>Once Human</c:v>
                  </c:pt>
                  <c:pt idx="2">
                    <c:v>Marvel Rivals</c:v>
                  </c:pt>
                  <c:pt idx="3">
                    <c:v>Where Winds Meet</c:v>
                  </c:pt>
                  <c:pt idx="4">
                    <c:v>World of Warcraft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11024</c:v>
                </c:pt>
                <c:pt idx="1">
                  <c:v>9222</c:v>
                </c:pt>
                <c:pt idx="2">
                  <c:v>9731</c:v>
                </c:pt>
                <c:pt idx="3">
                  <c:v>9308</c:v>
                </c:pt>
                <c:pt idx="4">
                  <c:v>7635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8EAF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AA1B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A2F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1B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B1F2C"/>
        </a:solidFill>
        <a:ln>
          <a:noFill/>
        </a:ln>
        <a:effectLst/>
      </c:spPr>
    </c:plotArea>
    <c:plotVisOnly val="1"/>
    <c:dispBlanksAs val="span"/>
  </c:chart>
  <c:spPr>
    <a:solidFill>
      <a:srgbClr val="12141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141C"/>
          </a:solidFill>
          <a:ln/>
        </p:spPr>
      </p:sp>
      <p:sp>
        <p:nvSpPr>
          <p:cNvPr id="3" name="Shape 1"/>
          <p:cNvSpPr/>
          <p:nvPr/>
        </p:nvSpPr>
        <p:spPr>
          <a:xfrm>
            <a:off x="9418320" y="-1371600"/>
            <a:ext cx="4572000" cy="4572000"/>
          </a:xfrm>
          <a:prstGeom prst="ellipse">
            <a:avLst/>
          </a:prstGeom>
          <a:solidFill>
            <a:srgbClr val="6C8C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3840480"/>
            <a:ext cx="3108960" cy="3108960"/>
          </a:xfrm>
          <a:prstGeom prst="ellipse">
            <a:avLst/>
          </a:prstGeom>
          <a:solidFill>
            <a:srgbClr val="B98CF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286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GAMING COMMUNITY PULSE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Lightweight Social Listening Prototype for Gaming Marketing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31520" y="3794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PUBG · Once Human · Marvel Rivals · Where Winds Meet · World of Warcraft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 ·  Discord  ·  YouTube        Placement prototype — 30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A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games, three platforms, one lightweight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2148840"/>
          </a:xfrm>
          <a:prstGeom prst="roundRect">
            <a:avLst>
              <a:gd name="adj" fmla="val 3404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856232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mixed portfolio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battle royale (PUBG), survival/gacha hybrid (Once Human), live-service hero shooter (Marvel Rivals), a newly-launched open-world RPG (Where Winds Meet), and a 20-year subscription MMO (World of Warcraft) — chosen to stress-test the tool against very different community moods.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349240" cy="2148840"/>
          </a:xfrm>
          <a:prstGeom prst="roundRect">
            <a:avLst>
              <a:gd name="adj" fmla="val 3404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74520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1856232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platforms, one view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42316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threads, Discord chat, and YouTube comments unified into a single dataset with consistent sentiment, theme, and engagement scoring.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49240" cy="2148840"/>
          </a:xfrm>
          <a:prstGeom prst="roundRect">
            <a:avLst>
              <a:gd name="adj" fmla="val 3404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297680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279392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507 records, 8-week window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84632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real YouTube comments captured live, plus 452 illustrative Reddit/Discord records modeled on realistic public discourse (see Methodology doc for why, and how this becomes live).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4023360"/>
            <a:ext cx="5349240" cy="2148840"/>
          </a:xfrm>
          <a:prstGeom prst="roundRect">
            <a:avLst>
              <a:gd name="adj" fmla="val 3404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4297680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4279392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non-technical users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84632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dashboard page — filters, charts, and plain-language tables. No querying, no code required.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Gaming Community Pulse — Prototype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CROSS-GAME SNAPSHOT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A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sentiment sits today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949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00200"/>
            <a:ext cx="3840480" cy="1005840"/>
          </a:xfrm>
          <a:prstGeom prst="roundRect">
            <a:avLst>
              <a:gd name="adj" fmla="val 7273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01000" y="17099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POSITIVE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001000" y="198424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EC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Winds Meet (+0.185)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772400" y="2770632"/>
            <a:ext cx="3840480" cy="1005840"/>
          </a:xfrm>
          <a:prstGeom prst="roundRect">
            <a:avLst>
              <a:gd name="adj" fmla="val 7273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001000" y="2880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NEGATIVE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001000" y="3154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of Warcraft (−0.093)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7772400" y="3941064"/>
            <a:ext cx="3840480" cy="1005840"/>
          </a:xfrm>
          <a:prstGeom prst="roundRect">
            <a:avLst>
              <a:gd name="adj" fmla="val 7273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001000" y="40507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ENGAGEMENT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001000" y="432511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PUBG (11,024 total score)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772400" y="5111496"/>
            <a:ext cx="3840480" cy="1005840"/>
          </a:xfrm>
          <a:prstGeom prst="roundRect">
            <a:avLst>
              <a:gd name="adj" fmla="val 7273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001000" y="52212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SINGLE THEME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001000" y="549554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 Rivals netcode complaints (22 mentions, −0.67)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Gaming Community Pulse — Prototype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A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engagement score by game (upvotes, likes, reactions)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11064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volume clusters tightly around studio-driven moments — trailers, patches, and launch dates — rather than organic drift, which is good news for campaign timing.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Gaming Community Pulse — Prototype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DROVE THE CONVERSATION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A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headline per game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19072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83280" y="16459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Cheat fatigue vs. crossover hype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629400" y="162763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Bug/cheating complaints are the loudest negative (17 mentions, −0.41); the Spider-Man crossover is the biggest positive spike.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633472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2560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Human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83280" y="2560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Loved for base-building, hurt by monetization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29400" y="254203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building is the single highest-engagement post in the dataset (881 score); gacha pricing is the most negative theme (−0.54).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832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547872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3ECF8E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 Rivals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34747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C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Adored roster, resented netcode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29400" y="345643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Praise scores +0.74 — the best of any theme in the study — but netcode complaints are the largest single theme (22 mentions, −0.67).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462272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3ECF8E"/>
          </a:solidFill>
          <a:ln/>
        </p:spPr>
      </p:sp>
      <p:sp>
        <p:nvSpPr>
          <p:cNvPr id="21" name="Text 19"/>
          <p:cNvSpPr/>
          <p:nvPr/>
        </p:nvSpPr>
        <p:spPr>
          <a:xfrm>
            <a:off x="1097280" y="43891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Winds Meet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383280" y="43891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C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positive community in the study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629400" y="437083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Open-world praise is the single highest theme score anywhere (+0.725); only 22% negative sentiment, the lowest of any game.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2120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77240" y="5376672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/>
        </p:spPr>
      </p:sp>
      <p:sp>
        <p:nvSpPr>
          <p:cNvPr id="26" name="Text 24"/>
          <p:cNvSpPr/>
          <p:nvPr/>
        </p:nvSpPr>
        <p:spPr>
          <a:xfrm>
            <a:off x="1097280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of Warcraft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383280" y="5303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Sceptical of the expansion, not the game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29400" y="528523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messaging and class balance drive negativity (−0.093 avg); story writing still scores +0.578 — the problem is the pitch, not the product.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Gaming Community Pulse — Prototype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CHATTER TO CONTENT CALENDAR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A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Recurring questions worth answering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562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HUMAN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EA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"Does console get the same seasonal content as PC?"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6517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C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Pinned FAQ / dev post ahead of the Aug 25 launch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3456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WINDS MEET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EA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"Best early build for a sword-focused playstyle?"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42519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C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Creator-partnered starter guide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50566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OF WARCRAFT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68680" y="5349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EA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"Anyone else grinding the new PvP season rewards?"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5852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C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Lightweight community engagement hook (clip roundup, leaderboard shoutout)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Gaming Community Pulse — Prototype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HELPS — AND WHERE IT DOESN'T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A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expectations before scaling this up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663440"/>
          </a:xfrm>
          <a:prstGeom prst="roundRect">
            <a:avLst>
              <a:gd name="adj" fmla="val 1569"/>
            </a:avLst>
          </a:prstGeom>
          <a:solidFill>
            <a:srgbClr val="17231E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EC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HELPS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✓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Surfacing patterns across thousands of posts no one could read end to end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32461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✓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directional reads to support a pitch or go/no-go decision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41605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✓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chatter into a structured, shareable dashboard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50749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✓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Flagging genuinely repetitive questions and complaints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5394960" cy="4663440"/>
          </a:xfrm>
          <a:prstGeom prst="roundRect">
            <a:avLst>
              <a:gd name="adj" fmla="val 1569"/>
            </a:avLst>
          </a:prstGeom>
          <a:solidFill>
            <a:srgbClr val="231819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DOESN'T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23317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✗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Sarcasm, in-jokes, and mixed sentiment still trip up sentiment models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7960" y="32461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✗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samples create noisy, swingy averages — needs volume or confidence intervals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37960" y="41605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✗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what and roughly how strongly, rarely why in any deep sense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37960" y="50749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✗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replace judgement on brand voice, timing, or response tone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Gaming Community Pulse — Prototype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A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RS could use this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2926080"/>
          </a:xfrm>
          <a:prstGeom prst="roundRect">
            <a:avLst>
              <a:gd name="adj" fmla="val 2807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47672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6C8CF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6060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planning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recurring questions into a weekly content shortlist instead of guesswork.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83280" y="1691640"/>
            <a:ext cx="2606040" cy="2926080"/>
          </a:xfrm>
          <a:prstGeom prst="roundRect">
            <a:avLst>
              <a:gd name="adj" fmla="val 2807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1947672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6C8CFF"/>
          </a:solidFill>
          <a:ln/>
        </p:spPr>
      </p:sp>
      <p:sp>
        <p:nvSpPr>
          <p:cNvPr id="11" name="Text 9"/>
          <p:cNvSpPr/>
          <p:nvPr/>
        </p:nvSpPr>
        <p:spPr>
          <a:xfrm>
            <a:off x="361188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11880" y="26060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research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11880" y="324612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sentiment before a launch/season, then measure the real lift after.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2606040" cy="2926080"/>
          </a:xfrm>
          <a:prstGeom prst="roundRect">
            <a:avLst>
              <a:gd name="adj" fmla="val 2807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46520" y="1947672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6C8CFF"/>
          </a:solidFill>
          <a:ln/>
        </p:spPr>
      </p:sp>
      <p:sp>
        <p:nvSpPr>
          <p:cNvPr id="16" name="Text 14"/>
          <p:cNvSpPr/>
          <p:nvPr/>
        </p:nvSpPr>
        <p:spPr>
          <a:xfrm>
            <a:off x="644652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46520" y="26060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monitoring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46520" y="324612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rising theme-level negativity early, before it becomes a PR story.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1691640"/>
            <a:ext cx="2606040" cy="2926080"/>
          </a:xfrm>
          <a:prstGeom prst="roundRect">
            <a:avLst>
              <a:gd name="adj" fmla="val 2807"/>
            </a:avLst>
          </a:prstGeom>
          <a:solidFill>
            <a:srgbClr val="1B1F2C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81160" y="1947672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6C8CFF"/>
          </a:solidFill>
          <a:ln/>
        </p:spPr>
      </p:sp>
      <p:sp>
        <p:nvSpPr>
          <p:cNvPr id="21" name="Text 19"/>
          <p:cNvSpPr/>
          <p:nvPr/>
        </p:nvSpPr>
        <p:spPr>
          <a:xfrm>
            <a:off x="928116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281160" y="26060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comparison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281160" y="324612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one consistent scorecard across every title in a pitch or QBR.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A2033"/>
          </a:solidFill>
          <a:ln w="12700">
            <a:solidFill>
              <a:srgbClr val="2A2F4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68680" y="507492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BEYOND THIS PLACEMENT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68680" y="54406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Reddit API + permissioned Discord bot access  →  add scheduled re-collection  →  upgrade sentiment to a hosted NLP model  →  pilot with one account team on one title.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Gaming Community Pulse — Prototype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6C8CFF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in three companion documents: Findings Summary, Methodology &amp; Limitations, and Recommendations — plus the live interactive dashboard (dashboard.html).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1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data: real, captured live 30 July 2026.  Reddit &amp; Discord data: illustrative synthetic sample, clearly labelled throughout.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2026-07-30T14:31:18Z</dcterms:created>
  <dcterms:modified xsi:type="dcterms:W3CDTF">2026-07-30T14:31:18Z</dcterms:modified>
</cp:coreProperties>
</file>