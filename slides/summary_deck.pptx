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41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141C"/>
          </a:solidFill>
          <a:ln/>
        </p:spPr>
      </p:sp>
      <p:sp>
        <p:nvSpPr>
          <p:cNvPr id="3" name="Shape 1"/>
          <p:cNvSpPr/>
          <p:nvPr/>
        </p:nvSpPr>
        <p:spPr>
          <a:xfrm>
            <a:off x="9418320" y="-1371600"/>
            <a:ext cx="4572000" cy="4572000"/>
          </a:xfrm>
          <a:prstGeom prst="ellipse">
            <a:avLst/>
          </a:prstGeom>
          <a:solidFill>
            <a:srgbClr val="6C8CFF">
              <a:alpha val="12000"/>
            </a:srgbClr>
          </a:solidFill>
          <a:ln/>
        </p:spPr>
      </p:sp>
      <p:sp>
        <p:nvSpPr>
          <p:cNvPr id="4" name="Shape 2"/>
          <p:cNvSpPr/>
          <p:nvPr/>
        </p:nvSpPr>
        <p:spPr>
          <a:xfrm>
            <a:off x="10515600" y="3840480"/>
            <a:ext cx="3108960" cy="3108960"/>
          </a:xfrm>
          <a:prstGeom prst="ellipse">
            <a:avLst/>
          </a:prstGeom>
          <a:solidFill>
            <a:srgbClr val="B98CFF">
              <a:alpha val="12000"/>
            </a:srgbClr>
          </a:solidFill>
          <a:ln/>
        </p:spPr>
      </p:sp>
      <p:sp>
        <p:nvSpPr>
          <p:cNvPr id="5" name="Text 3"/>
          <p:cNvSpPr/>
          <p:nvPr/>
        </p:nvSpPr>
        <p:spPr>
          <a:xfrm>
            <a:off x="731520" y="2148840"/>
            <a:ext cx="10058400" cy="457200"/>
          </a:xfrm>
          <a:prstGeom prst="rect">
            <a:avLst/>
          </a:prstGeom>
          <a:noFill/>
          <a:ln/>
        </p:spPr>
        <p:txBody>
          <a:bodyPr wrap="square" lIns="0" tIns="0" rIns="0" bIns="0" rtlCol="0" anchor="ctr"/>
          <a:lstStyle/>
          <a:p>
            <a:pPr indent="0" marL="0">
              <a:buNone/>
            </a:pPr>
            <a:r>
              <a:rPr lang="en-US" sz="1400" b="1" spc="300" kern="0" dirty="0">
                <a:solidFill>
                  <a:srgbClr val="6C8CFF"/>
                </a:solidFill>
                <a:latin typeface="Calibri" pitchFamily="34" charset="0"/>
                <a:ea typeface="Calibri" pitchFamily="34" charset="-122"/>
                <a:cs typeface="Calibri" pitchFamily="34" charset="-120"/>
              </a:rPr>
              <a:t>GAMING COMMUNITY PULSE  ·  VERSION 2</a:t>
            </a:r>
            <a:endParaRPr lang="en-US" sz="1400" dirty="0"/>
          </a:p>
        </p:txBody>
      </p:sp>
      <p:sp>
        <p:nvSpPr>
          <p:cNvPr id="6" name="Text 4"/>
          <p:cNvSpPr/>
          <p:nvPr/>
        </p:nvSpPr>
        <p:spPr>
          <a:xfrm>
            <a:off x="731520" y="2560320"/>
            <a:ext cx="10332720" cy="1280160"/>
          </a:xfrm>
          <a:prstGeom prst="rect">
            <a:avLst/>
          </a:prstGeom>
          <a:noFill/>
          <a:ln/>
        </p:spPr>
        <p:txBody>
          <a:bodyPr wrap="square" lIns="0" tIns="0" rIns="0" bIns="0" rtlCol="0" anchor="ctr"/>
          <a:lstStyle/>
          <a:p>
            <a:pPr indent="0" marL="0">
              <a:buNone/>
            </a:pPr>
            <a:r>
              <a:rPr lang="en-US" sz="3400" b="1" dirty="0">
                <a:solidFill>
                  <a:srgbClr val="E8EAF0"/>
                </a:solidFill>
                <a:latin typeface="Cambria" pitchFamily="34" charset="0"/>
                <a:ea typeface="Cambria" pitchFamily="34" charset="-122"/>
                <a:cs typeface="Cambria" pitchFamily="34" charset="-120"/>
              </a:rPr>
              <a:t>A social listening prototype, rebuilt around your nine questions</a:t>
            </a:r>
            <a:endParaRPr lang="en-US" sz="3400" dirty="0"/>
          </a:p>
        </p:txBody>
      </p:sp>
      <p:sp>
        <p:nvSpPr>
          <p:cNvPr id="7" name="Text 5"/>
          <p:cNvSpPr/>
          <p:nvPr/>
        </p:nvSpPr>
        <p:spPr>
          <a:xfrm>
            <a:off x="731520" y="3886200"/>
            <a:ext cx="10058400" cy="365760"/>
          </a:xfrm>
          <a:prstGeom prst="rect">
            <a:avLst/>
          </a:prstGeom>
          <a:noFill/>
          <a:ln/>
        </p:spPr>
        <p:txBody>
          <a:bodyPr wrap="square" lIns="0" tIns="0" rIns="0" bIns="0" rtlCol="0" anchor="ctr"/>
          <a:lstStyle/>
          <a:p>
            <a:pPr indent="0" marL="0">
              <a:buNone/>
            </a:pPr>
            <a:r>
              <a:rPr lang="en-US" sz="1500" dirty="0">
                <a:solidFill>
                  <a:srgbClr val="9AA1B4"/>
                </a:solidFill>
                <a:latin typeface="Calibri" pitchFamily="34" charset="0"/>
                <a:ea typeface="Calibri" pitchFamily="34" charset="-122"/>
                <a:cs typeface="Calibri" pitchFamily="34" charset="-120"/>
              </a:rPr>
              <a:t>PUBG · Once Human · Marvel Rivals · Where Winds Meet · World of Warcraft</a:t>
            </a:r>
            <a:endParaRPr lang="en-US" sz="1500" dirty="0"/>
          </a:p>
        </p:txBody>
      </p:sp>
      <p:sp>
        <p:nvSpPr>
          <p:cNvPr id="8" name="Text 6"/>
          <p:cNvSpPr/>
          <p:nvPr/>
        </p:nvSpPr>
        <p:spPr>
          <a:xfrm>
            <a:off x="731520" y="4279392"/>
            <a:ext cx="10058400" cy="365760"/>
          </a:xfrm>
          <a:prstGeom prst="rect">
            <a:avLst/>
          </a:prstGeom>
          <a:noFill/>
          <a:ln/>
        </p:spPr>
        <p:txBody>
          <a:bodyPr wrap="square" lIns="0" tIns="0" rIns="0" bIns="0" rtlCol="0" anchor="ctr"/>
          <a:lstStyle/>
          <a:p>
            <a:pPr indent="0" marL="0">
              <a:buNone/>
            </a:pPr>
            <a:r>
              <a:rPr lang="en-US" sz="1500" dirty="0">
                <a:solidFill>
                  <a:srgbClr val="9AA1B4"/>
                </a:solidFill>
                <a:latin typeface="Calibri" pitchFamily="34" charset="0"/>
                <a:ea typeface="Calibri" pitchFamily="34" charset="-122"/>
                <a:cs typeface="Calibri" pitchFamily="34" charset="-120"/>
              </a:rPr>
              <a:t>YouTube · Reddit · Discord · Twitch — all four collected through official APIs</a:t>
            </a:r>
            <a:endParaRPr lang="en-US" sz="1500" dirty="0"/>
          </a:p>
        </p:txBody>
      </p:sp>
      <p:sp>
        <p:nvSpPr>
          <p:cNvPr id="9" name="Text 7"/>
          <p:cNvSpPr/>
          <p:nvPr/>
        </p:nvSpPr>
        <p:spPr>
          <a:xfrm>
            <a:off x="731520" y="5715000"/>
            <a:ext cx="10058400" cy="320040"/>
          </a:xfrm>
          <a:prstGeom prst="rect">
            <a:avLst/>
          </a:prstGeom>
          <a:noFill/>
          <a:ln/>
        </p:spPr>
        <p:txBody>
          <a:bodyPr wrap="square" lIns="0" tIns="0" rIns="0" bIns="0" rtlCol="0" anchor="ctr"/>
          <a:lstStyle/>
          <a:p>
            <a:pPr indent="0" marL="0">
              <a:buNone/>
            </a:pPr>
            <a:r>
              <a:rPr lang="en-US" sz="1300" dirty="0">
                <a:solidFill>
                  <a:srgbClr val="E8EAF0"/>
                </a:solidFill>
                <a:latin typeface="Calibri" pitchFamily="34" charset="0"/>
                <a:ea typeface="Calibri" pitchFamily="34" charset="-122"/>
                <a:cs typeface="Calibri" pitchFamily="34" charset="-120"/>
              </a:rPr>
              <a:t>Prepared for Ruisheng Holdings Limited  ·  Attn: Jen So</a:t>
            </a:r>
            <a:endParaRPr lang="en-US" sz="1300" dirty="0"/>
          </a:p>
        </p:txBody>
      </p:sp>
      <p:sp>
        <p:nvSpPr>
          <p:cNvPr id="10" name="Text 8"/>
          <p:cNvSpPr/>
          <p:nvPr/>
        </p:nvSpPr>
        <p:spPr>
          <a:xfrm>
            <a:off x="731520" y="6053328"/>
            <a:ext cx="10607040" cy="320040"/>
          </a:xfrm>
          <a:prstGeom prst="rect">
            <a:avLst/>
          </a:prstGeom>
          <a:noFill/>
          <a:ln/>
        </p:spPr>
        <p:txBody>
          <a:bodyPr wrap="square" lIns="0" tIns="0" rIns="0" bIns="0" rtlCol="0" anchor="ctr"/>
          <a:lstStyle/>
          <a:p>
            <a:pPr indent="0" marL="0">
              <a:buNone/>
            </a:pPr>
            <a:r>
              <a:rPr lang="en-US" sz="1100" i="1" dirty="0">
                <a:solidFill>
                  <a:srgbClr val="9AA1B4"/>
                </a:solidFill>
                <a:latin typeface="Calibri" pitchFamily="34" charset="0"/>
                <a:ea typeface="Calibri" pitchFamily="34" charset="-122"/>
                <a:cs typeface="Calibri" pitchFamily="34" charset="-120"/>
              </a:rPr>
              <a:t>August 2026  ·  No current figures appear in this deck — they come from a live run and move on every refresh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6C8CFF"/>
                </a:solidFill>
                <a:latin typeface="Calibri" pitchFamily="34" charset="0"/>
                <a:ea typeface="Calibri" pitchFamily="34" charset="-122"/>
                <a:cs typeface="Calibri" pitchFamily="34" charset="-120"/>
              </a:rPr>
              <a:t>THE BRIEF</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E8EAF0"/>
                </a:solidFill>
                <a:latin typeface="Cambria" pitchFamily="34" charset="0"/>
                <a:ea typeface="Cambria" pitchFamily="34" charset="-122"/>
                <a:cs typeface="Cambria" pitchFamily="34" charset="-120"/>
              </a:rPr>
              <a:t>One test, set by you, that the tool has to pass</a:t>
            </a:r>
            <a:endParaRPr lang="en-US" sz="2800" dirty="0"/>
          </a:p>
        </p:txBody>
      </p:sp>
      <p:sp>
        <p:nvSpPr>
          <p:cNvPr id="4" name="Shape 2"/>
          <p:cNvSpPr/>
          <p:nvPr/>
        </p:nvSpPr>
        <p:spPr>
          <a:xfrm>
            <a:off x="548640" y="1417320"/>
            <a:ext cx="11064240" cy="1051560"/>
          </a:xfrm>
          <a:prstGeom prst="roundRect">
            <a:avLst>
              <a:gd name="adj" fmla="val 6957"/>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868680" y="1536192"/>
            <a:ext cx="10424160" cy="822960"/>
          </a:xfrm>
          <a:prstGeom prst="rect">
            <a:avLst/>
          </a:prstGeom>
          <a:noFill/>
          <a:ln/>
        </p:spPr>
        <p:txBody>
          <a:bodyPr wrap="square" lIns="0" tIns="0" rIns="0" bIns="0" rtlCol="0" anchor="ctr"/>
          <a:lstStyle/>
          <a:p>
            <a:pPr indent="0" marL="0">
              <a:buNone/>
            </a:pPr>
            <a:r>
              <a:rPr lang="en-US" sz="1700" i="1" dirty="0">
                <a:solidFill>
                  <a:srgbClr val="E8EAF0"/>
                </a:solidFill>
                <a:latin typeface="Cambria" pitchFamily="34" charset="0"/>
                <a:ea typeface="Cambria" pitchFamily="34" charset="-122"/>
                <a:cs typeface="Cambria" pitchFamily="34" charset="-120"/>
              </a:rPr>
              <a:t>“Someone should be able to open the dashboard each morning and understand what is happening across the gaming community within a few minutes.”</a:t>
            </a:r>
            <a:endParaRPr lang="en-US" sz="1700" dirty="0"/>
          </a:p>
        </p:txBody>
      </p:sp>
      <p:sp>
        <p:nvSpPr>
          <p:cNvPr id="6" name="Shape 4"/>
          <p:cNvSpPr/>
          <p:nvPr/>
        </p:nvSpPr>
        <p:spPr>
          <a:xfrm>
            <a:off x="548640" y="2697480"/>
            <a:ext cx="3520440" cy="1737360"/>
          </a:xfrm>
          <a:prstGeom prst="roundRect">
            <a:avLst>
              <a:gd name="adj" fmla="val 4211"/>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7" name="Shape 5"/>
          <p:cNvSpPr/>
          <p:nvPr/>
        </p:nvSpPr>
        <p:spPr>
          <a:xfrm>
            <a:off x="804672" y="2935224"/>
            <a:ext cx="402336" cy="402336"/>
          </a:xfrm>
          <a:prstGeom prst="ellipse">
            <a:avLst/>
          </a:prstGeom>
          <a:solidFill>
            <a:srgbClr val="6C8CFF"/>
          </a:solidFill>
          <a:ln/>
        </p:spPr>
      </p:sp>
      <p:sp>
        <p:nvSpPr>
          <p:cNvPr id="8" name="Text 6"/>
          <p:cNvSpPr/>
          <p:nvPr/>
        </p:nvSpPr>
        <p:spPr>
          <a:xfrm>
            <a:off x="804672" y="2935224"/>
            <a:ext cx="402336" cy="402336"/>
          </a:xfrm>
          <a:prstGeom prst="rect">
            <a:avLst/>
          </a:prstGeom>
          <a:noFill/>
          <a:ln/>
        </p:spPr>
        <p:txBody>
          <a:bodyPr wrap="square" lIns="0" tIns="0" rIns="0" bIns="0" rtlCol="0" anchor="ctr"/>
          <a:lstStyle/>
          <a:p>
            <a:pPr algn="ctr" indent="0" marL="0">
              <a:buNone/>
            </a:pPr>
            <a:r>
              <a:rPr lang="en-US" sz="1400" b="1" dirty="0">
                <a:solidFill>
                  <a:srgbClr val="12141C"/>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325880" y="2935224"/>
            <a:ext cx="2514600" cy="402336"/>
          </a:xfrm>
          <a:prstGeom prst="rect">
            <a:avLst/>
          </a:prstGeom>
          <a:noFill/>
          <a:ln/>
        </p:spPr>
        <p:txBody>
          <a:bodyPr wrap="square" lIns="0" tIns="0" rIns="0" bIns="0"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Collect</a:t>
            </a:r>
            <a:endParaRPr lang="en-US" sz="1500" dirty="0"/>
          </a:p>
        </p:txBody>
      </p:sp>
      <p:sp>
        <p:nvSpPr>
          <p:cNvPr id="10" name="Text 8"/>
          <p:cNvSpPr/>
          <p:nvPr/>
        </p:nvSpPr>
        <p:spPr>
          <a:xfrm>
            <a:off x="804672" y="3429000"/>
            <a:ext cx="3008376" cy="868680"/>
          </a:xfrm>
          <a:prstGeom prst="rect">
            <a:avLst/>
          </a:prstGeom>
          <a:noFill/>
          <a:ln/>
        </p:spPr>
        <p:txBody>
          <a:bodyPr wrap="square" lIns="0" tIns="0" rIns="0" bIns="0" rtlCol="0" anchor="t"/>
          <a:lstStyle/>
          <a:p>
            <a:pPr indent="0" marL="0">
              <a:lnSpc>
                <a:spcPct val="112000"/>
              </a:lnSpc>
              <a:buNone/>
            </a:pPr>
            <a:r>
              <a:rPr lang="en-US" sz="1050" dirty="0">
                <a:solidFill>
                  <a:srgbClr val="9AA1B4"/>
                </a:solidFill>
                <a:latin typeface="Calibri" pitchFamily="34" charset="0"/>
                <a:ea typeface="Calibri" pitchFamily="34" charset="-122"/>
                <a:cs typeface="Calibri" pitchFamily="34" charset="-120"/>
              </a:rPr>
              <a:t>Public posts, comments and clips from YouTube, Reddit, Discord and Twitch. Official APIs, credentials, no scraping.</a:t>
            </a:r>
            <a:endParaRPr lang="en-US" sz="1050" dirty="0"/>
          </a:p>
        </p:txBody>
      </p:sp>
      <p:sp>
        <p:nvSpPr>
          <p:cNvPr id="11" name="Shape 9"/>
          <p:cNvSpPr/>
          <p:nvPr/>
        </p:nvSpPr>
        <p:spPr>
          <a:xfrm>
            <a:off x="4325112" y="2697480"/>
            <a:ext cx="3520440" cy="1737360"/>
          </a:xfrm>
          <a:prstGeom prst="roundRect">
            <a:avLst>
              <a:gd name="adj" fmla="val 4211"/>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2" name="Shape 10"/>
          <p:cNvSpPr/>
          <p:nvPr/>
        </p:nvSpPr>
        <p:spPr>
          <a:xfrm>
            <a:off x="4581144" y="2935224"/>
            <a:ext cx="402336" cy="402336"/>
          </a:xfrm>
          <a:prstGeom prst="ellipse">
            <a:avLst/>
          </a:prstGeom>
          <a:solidFill>
            <a:srgbClr val="B98CFF"/>
          </a:solidFill>
          <a:ln/>
        </p:spPr>
      </p:sp>
      <p:sp>
        <p:nvSpPr>
          <p:cNvPr id="13" name="Text 11"/>
          <p:cNvSpPr/>
          <p:nvPr/>
        </p:nvSpPr>
        <p:spPr>
          <a:xfrm>
            <a:off x="4581144" y="2935224"/>
            <a:ext cx="402336" cy="402336"/>
          </a:xfrm>
          <a:prstGeom prst="rect">
            <a:avLst/>
          </a:prstGeom>
          <a:noFill/>
          <a:ln/>
        </p:spPr>
        <p:txBody>
          <a:bodyPr wrap="square" lIns="0" tIns="0" rIns="0" bIns="0" rtlCol="0" anchor="ctr"/>
          <a:lstStyle/>
          <a:p>
            <a:pPr algn="ctr" indent="0" marL="0">
              <a:buNone/>
            </a:pPr>
            <a:r>
              <a:rPr lang="en-US" sz="1400" b="1" dirty="0">
                <a:solidFill>
                  <a:srgbClr val="12141C"/>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5102352" y="2935224"/>
            <a:ext cx="2514600" cy="402336"/>
          </a:xfrm>
          <a:prstGeom prst="rect">
            <a:avLst/>
          </a:prstGeom>
          <a:noFill/>
          <a:ln/>
        </p:spPr>
        <p:txBody>
          <a:bodyPr wrap="square" lIns="0" tIns="0" rIns="0" bIns="0"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Score</a:t>
            </a:r>
            <a:endParaRPr lang="en-US" sz="1500" dirty="0"/>
          </a:p>
        </p:txBody>
      </p:sp>
      <p:sp>
        <p:nvSpPr>
          <p:cNvPr id="15" name="Text 13"/>
          <p:cNvSpPr/>
          <p:nvPr/>
        </p:nvSpPr>
        <p:spPr>
          <a:xfrm>
            <a:off x="4581144" y="3429000"/>
            <a:ext cx="3008376" cy="868680"/>
          </a:xfrm>
          <a:prstGeom prst="rect">
            <a:avLst/>
          </a:prstGeom>
          <a:noFill/>
          <a:ln/>
        </p:spPr>
        <p:txBody>
          <a:bodyPr wrap="square" lIns="0" tIns="0" rIns="0" bIns="0" rtlCol="0" anchor="t"/>
          <a:lstStyle/>
          <a:p>
            <a:pPr indent="0" marL="0">
              <a:lnSpc>
                <a:spcPct val="112000"/>
              </a:lnSpc>
              <a:buNone/>
            </a:pPr>
            <a:r>
              <a:rPr lang="en-US" sz="1050" dirty="0">
                <a:solidFill>
                  <a:srgbClr val="9AA1B4"/>
                </a:solidFill>
                <a:latin typeface="Calibri" pitchFamily="34" charset="0"/>
                <a:ea typeface="Calibri" pitchFamily="34" charset="-122"/>
                <a:cs typeface="Calibri" pitchFamily="34" charset="-120"/>
              </a:rPr>
              <a:t>One pass per record: sentiment, sarcasm, theme, whether it is a genuine question, whether it is a risk, and language.</a:t>
            </a:r>
            <a:endParaRPr lang="en-US" sz="1050" dirty="0"/>
          </a:p>
        </p:txBody>
      </p:sp>
      <p:sp>
        <p:nvSpPr>
          <p:cNvPr id="16" name="Shape 14"/>
          <p:cNvSpPr/>
          <p:nvPr/>
        </p:nvSpPr>
        <p:spPr>
          <a:xfrm>
            <a:off x="8101584" y="2697480"/>
            <a:ext cx="3520440" cy="1737360"/>
          </a:xfrm>
          <a:prstGeom prst="roundRect">
            <a:avLst>
              <a:gd name="adj" fmla="val 4211"/>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7" name="Shape 15"/>
          <p:cNvSpPr/>
          <p:nvPr/>
        </p:nvSpPr>
        <p:spPr>
          <a:xfrm>
            <a:off x="8357616" y="2935224"/>
            <a:ext cx="402336" cy="402336"/>
          </a:xfrm>
          <a:prstGeom prst="ellipse">
            <a:avLst/>
          </a:prstGeom>
          <a:solidFill>
            <a:srgbClr val="F5C451"/>
          </a:solidFill>
          <a:ln/>
        </p:spPr>
      </p:sp>
      <p:sp>
        <p:nvSpPr>
          <p:cNvPr id="18" name="Text 16"/>
          <p:cNvSpPr/>
          <p:nvPr/>
        </p:nvSpPr>
        <p:spPr>
          <a:xfrm>
            <a:off x="8357616" y="2935224"/>
            <a:ext cx="402336" cy="402336"/>
          </a:xfrm>
          <a:prstGeom prst="rect">
            <a:avLst/>
          </a:prstGeom>
          <a:noFill/>
          <a:ln/>
        </p:spPr>
        <p:txBody>
          <a:bodyPr wrap="square" lIns="0" tIns="0" rIns="0" bIns="0" rtlCol="0" anchor="ctr"/>
          <a:lstStyle/>
          <a:p>
            <a:pPr algn="ctr" indent="0" marL="0">
              <a:buNone/>
            </a:pPr>
            <a:r>
              <a:rPr lang="en-US" sz="1400" b="1" dirty="0">
                <a:solidFill>
                  <a:srgbClr val="12141C"/>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8878824" y="2935224"/>
            <a:ext cx="2514600" cy="402336"/>
          </a:xfrm>
          <a:prstGeom prst="rect">
            <a:avLst/>
          </a:prstGeom>
          <a:noFill/>
          <a:ln/>
        </p:spPr>
        <p:txBody>
          <a:bodyPr wrap="square" lIns="0" tIns="0" rIns="0" bIns="0"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Normalise</a:t>
            </a:r>
            <a:endParaRPr lang="en-US" sz="1500" dirty="0"/>
          </a:p>
        </p:txBody>
      </p:sp>
      <p:sp>
        <p:nvSpPr>
          <p:cNvPr id="20" name="Text 18"/>
          <p:cNvSpPr/>
          <p:nvPr/>
        </p:nvSpPr>
        <p:spPr>
          <a:xfrm>
            <a:off x="8357616" y="3429000"/>
            <a:ext cx="3008376" cy="868680"/>
          </a:xfrm>
          <a:prstGeom prst="rect">
            <a:avLst/>
          </a:prstGeom>
          <a:noFill/>
          <a:ln/>
        </p:spPr>
        <p:txBody>
          <a:bodyPr wrap="square" lIns="0" tIns="0" rIns="0" bIns="0" rtlCol="0" anchor="t"/>
          <a:lstStyle/>
          <a:p>
            <a:pPr indent="0" marL="0">
              <a:lnSpc>
                <a:spcPct val="112000"/>
              </a:lnSpc>
              <a:buNone/>
            </a:pPr>
            <a:r>
              <a:rPr lang="en-US" sz="1050" dirty="0">
                <a:solidFill>
                  <a:srgbClr val="9AA1B4"/>
                </a:solidFill>
                <a:latin typeface="Calibri" pitchFamily="34" charset="0"/>
                <a:ea typeface="Calibri" pitchFamily="34" charset="-122"/>
                <a:cs typeface="Calibri" pitchFamily="34" charset="-120"/>
              </a:rPr>
              <a:t>Engagement onto a 0–100 index, weighted and capped per platform, so a Discord reaction and a Twitch clip view can sit in one column honestly.</a:t>
            </a:r>
            <a:endParaRPr lang="en-US" sz="1050" dirty="0"/>
          </a:p>
        </p:txBody>
      </p:sp>
      <p:sp>
        <p:nvSpPr>
          <p:cNvPr id="21" name="Shape 19"/>
          <p:cNvSpPr/>
          <p:nvPr/>
        </p:nvSpPr>
        <p:spPr>
          <a:xfrm>
            <a:off x="548640" y="4663440"/>
            <a:ext cx="3520440" cy="1737360"/>
          </a:xfrm>
          <a:prstGeom prst="roundRect">
            <a:avLst>
              <a:gd name="adj" fmla="val 4211"/>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22" name="Shape 20"/>
          <p:cNvSpPr/>
          <p:nvPr/>
        </p:nvSpPr>
        <p:spPr>
          <a:xfrm>
            <a:off x="804672" y="4901184"/>
            <a:ext cx="402336" cy="402336"/>
          </a:xfrm>
          <a:prstGeom prst="ellipse">
            <a:avLst/>
          </a:prstGeom>
          <a:solidFill>
            <a:srgbClr val="F5C451"/>
          </a:solidFill>
          <a:ln/>
        </p:spPr>
      </p:sp>
      <p:sp>
        <p:nvSpPr>
          <p:cNvPr id="23" name="Text 21"/>
          <p:cNvSpPr/>
          <p:nvPr/>
        </p:nvSpPr>
        <p:spPr>
          <a:xfrm>
            <a:off x="804672" y="4901184"/>
            <a:ext cx="402336" cy="402336"/>
          </a:xfrm>
          <a:prstGeom prst="rect">
            <a:avLst/>
          </a:prstGeom>
          <a:noFill/>
          <a:ln/>
        </p:spPr>
        <p:txBody>
          <a:bodyPr wrap="square" lIns="0" tIns="0" rIns="0" bIns="0" rtlCol="0" anchor="ctr"/>
          <a:lstStyle/>
          <a:p>
            <a:pPr algn="ctr" indent="0" marL="0">
              <a:buNone/>
            </a:pPr>
            <a:r>
              <a:rPr lang="en-US" sz="1400" b="1" dirty="0">
                <a:solidFill>
                  <a:srgbClr val="12141C"/>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1325880" y="4901184"/>
            <a:ext cx="2514600" cy="402336"/>
          </a:xfrm>
          <a:prstGeom prst="rect">
            <a:avLst/>
          </a:prstGeom>
          <a:noFill/>
          <a:ln/>
        </p:spPr>
        <p:txBody>
          <a:bodyPr wrap="square" lIns="0" tIns="0" rIns="0" bIns="0"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Classify</a:t>
            </a:r>
            <a:endParaRPr lang="en-US" sz="1500" dirty="0"/>
          </a:p>
        </p:txBody>
      </p:sp>
      <p:sp>
        <p:nvSpPr>
          <p:cNvPr id="25" name="Text 23"/>
          <p:cNvSpPr/>
          <p:nvPr/>
        </p:nvSpPr>
        <p:spPr>
          <a:xfrm>
            <a:off x="804672" y="5394960"/>
            <a:ext cx="3008376" cy="868680"/>
          </a:xfrm>
          <a:prstGeom prst="rect">
            <a:avLst/>
          </a:prstGeom>
          <a:noFill/>
          <a:ln/>
        </p:spPr>
        <p:txBody>
          <a:bodyPr wrap="square" lIns="0" tIns="0" rIns="0" bIns="0" rtlCol="0" anchor="t"/>
          <a:lstStyle/>
          <a:p>
            <a:pPr indent="0" marL="0">
              <a:lnSpc>
                <a:spcPct val="112000"/>
              </a:lnSpc>
              <a:buNone/>
            </a:pPr>
            <a:r>
              <a:rPr lang="en-US" sz="1050" dirty="0">
                <a:solidFill>
                  <a:srgbClr val="9AA1B4"/>
                </a:solidFill>
                <a:latin typeface="Calibri" pitchFamily="34" charset="0"/>
                <a:ea typeface="Calibri" pitchFamily="34" charset="-122"/>
                <a:cs typeface="Calibri" pitchFamily="34" charset="-120"/>
              </a:rPr>
              <a:t>The region the content was published in, from publisher-side signals only. No commenter is ever geolocated.</a:t>
            </a:r>
            <a:endParaRPr lang="en-US" sz="1050" dirty="0"/>
          </a:p>
        </p:txBody>
      </p:sp>
      <p:sp>
        <p:nvSpPr>
          <p:cNvPr id="26" name="Shape 24"/>
          <p:cNvSpPr/>
          <p:nvPr/>
        </p:nvSpPr>
        <p:spPr>
          <a:xfrm>
            <a:off x="4325112" y="4663440"/>
            <a:ext cx="3520440" cy="1737360"/>
          </a:xfrm>
          <a:prstGeom prst="roundRect">
            <a:avLst>
              <a:gd name="adj" fmla="val 4211"/>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27" name="Shape 25"/>
          <p:cNvSpPr/>
          <p:nvPr/>
        </p:nvSpPr>
        <p:spPr>
          <a:xfrm>
            <a:off x="4581144" y="4901184"/>
            <a:ext cx="402336" cy="402336"/>
          </a:xfrm>
          <a:prstGeom prst="ellipse">
            <a:avLst/>
          </a:prstGeom>
          <a:solidFill>
            <a:srgbClr val="3ECF8E"/>
          </a:solidFill>
          <a:ln/>
        </p:spPr>
      </p:sp>
      <p:sp>
        <p:nvSpPr>
          <p:cNvPr id="28" name="Text 26"/>
          <p:cNvSpPr/>
          <p:nvPr/>
        </p:nvSpPr>
        <p:spPr>
          <a:xfrm>
            <a:off x="4581144" y="4901184"/>
            <a:ext cx="402336" cy="402336"/>
          </a:xfrm>
          <a:prstGeom prst="rect">
            <a:avLst/>
          </a:prstGeom>
          <a:noFill/>
          <a:ln/>
        </p:spPr>
        <p:txBody>
          <a:bodyPr wrap="square" lIns="0" tIns="0" rIns="0" bIns="0" rtlCol="0" anchor="ctr"/>
          <a:lstStyle/>
          <a:p>
            <a:pPr algn="ctr" indent="0" marL="0">
              <a:buNone/>
            </a:pPr>
            <a:r>
              <a:rPr lang="en-US" sz="1400" b="1" dirty="0">
                <a:solidFill>
                  <a:srgbClr val="12141C"/>
                </a:solidFill>
                <a:latin typeface="Calibri" pitchFamily="34" charset="0"/>
                <a:ea typeface="Calibri" pitchFamily="34" charset="-122"/>
                <a:cs typeface="Calibri" pitchFamily="34" charset="-120"/>
              </a:rPr>
              <a:t>5</a:t>
            </a:r>
            <a:endParaRPr lang="en-US" sz="1400" dirty="0"/>
          </a:p>
        </p:txBody>
      </p:sp>
      <p:sp>
        <p:nvSpPr>
          <p:cNvPr id="29" name="Text 27"/>
          <p:cNvSpPr/>
          <p:nvPr/>
        </p:nvSpPr>
        <p:spPr>
          <a:xfrm>
            <a:off x="5102352" y="4901184"/>
            <a:ext cx="2514600" cy="402336"/>
          </a:xfrm>
          <a:prstGeom prst="rect">
            <a:avLst/>
          </a:prstGeom>
          <a:noFill/>
          <a:ln/>
        </p:spPr>
        <p:txBody>
          <a:bodyPr wrap="square" lIns="0" tIns="0" rIns="0" bIns="0"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Detect</a:t>
            </a:r>
            <a:endParaRPr lang="en-US" sz="1500" dirty="0"/>
          </a:p>
        </p:txBody>
      </p:sp>
      <p:sp>
        <p:nvSpPr>
          <p:cNvPr id="30" name="Text 28"/>
          <p:cNvSpPr/>
          <p:nvPr/>
        </p:nvSpPr>
        <p:spPr>
          <a:xfrm>
            <a:off x="4581144" y="5394960"/>
            <a:ext cx="3008376" cy="868680"/>
          </a:xfrm>
          <a:prstGeom prst="rect">
            <a:avLst/>
          </a:prstGeom>
          <a:noFill/>
          <a:ln/>
        </p:spPr>
        <p:txBody>
          <a:bodyPr wrap="square" lIns="0" tIns="0" rIns="0" bIns="0" rtlCol="0" anchor="t"/>
          <a:lstStyle/>
          <a:p>
            <a:pPr indent="0" marL="0">
              <a:lnSpc>
                <a:spcPct val="112000"/>
              </a:lnSpc>
              <a:buNone/>
            </a:pPr>
            <a:r>
              <a:rPr lang="en-US" sz="1050" dirty="0">
                <a:solidFill>
                  <a:srgbClr val="9AA1B4"/>
                </a:solidFill>
                <a:latin typeface="Calibri" pitchFamily="34" charset="0"/>
                <a:ea typeface="Calibri" pitchFamily="34" charset="-122"/>
                <a:cs typeface="Calibri" pitchFamily="34" charset="-120"/>
              </a:rPr>
              <a:t>Volume spikes against a trailing baseline, ranked risks, and recurring questions clustered into a content shortlist.</a:t>
            </a:r>
            <a:endParaRPr lang="en-US" sz="1050" dirty="0"/>
          </a:p>
        </p:txBody>
      </p:sp>
      <p:sp>
        <p:nvSpPr>
          <p:cNvPr id="31" name="Shape 29"/>
          <p:cNvSpPr/>
          <p:nvPr/>
        </p:nvSpPr>
        <p:spPr>
          <a:xfrm>
            <a:off x="8101584" y="4663440"/>
            <a:ext cx="3520440" cy="1737360"/>
          </a:xfrm>
          <a:prstGeom prst="roundRect">
            <a:avLst>
              <a:gd name="adj" fmla="val 4211"/>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32" name="Shape 30"/>
          <p:cNvSpPr/>
          <p:nvPr/>
        </p:nvSpPr>
        <p:spPr>
          <a:xfrm>
            <a:off x="8357616" y="4901184"/>
            <a:ext cx="402336" cy="402336"/>
          </a:xfrm>
          <a:prstGeom prst="ellipse">
            <a:avLst/>
          </a:prstGeom>
          <a:solidFill>
            <a:srgbClr val="3ECF8E"/>
          </a:solidFill>
          <a:ln/>
        </p:spPr>
      </p:sp>
      <p:sp>
        <p:nvSpPr>
          <p:cNvPr id="33" name="Text 31"/>
          <p:cNvSpPr/>
          <p:nvPr/>
        </p:nvSpPr>
        <p:spPr>
          <a:xfrm>
            <a:off x="8357616" y="4901184"/>
            <a:ext cx="402336" cy="402336"/>
          </a:xfrm>
          <a:prstGeom prst="rect">
            <a:avLst/>
          </a:prstGeom>
          <a:noFill/>
          <a:ln/>
        </p:spPr>
        <p:txBody>
          <a:bodyPr wrap="square" lIns="0" tIns="0" rIns="0" bIns="0" rtlCol="0" anchor="ctr"/>
          <a:lstStyle/>
          <a:p>
            <a:pPr algn="ctr" indent="0" marL="0">
              <a:buNone/>
            </a:pPr>
            <a:r>
              <a:rPr lang="en-US" sz="1400" b="1" dirty="0">
                <a:solidFill>
                  <a:srgbClr val="12141C"/>
                </a:solidFill>
                <a:latin typeface="Calibri" pitchFamily="34" charset="0"/>
                <a:ea typeface="Calibri" pitchFamily="34" charset="-122"/>
                <a:cs typeface="Calibri" pitchFamily="34" charset="-120"/>
              </a:rPr>
              <a:t>6</a:t>
            </a:r>
            <a:endParaRPr lang="en-US" sz="1400" dirty="0"/>
          </a:p>
        </p:txBody>
      </p:sp>
      <p:sp>
        <p:nvSpPr>
          <p:cNvPr id="34" name="Text 32"/>
          <p:cNvSpPr/>
          <p:nvPr/>
        </p:nvSpPr>
        <p:spPr>
          <a:xfrm>
            <a:off x="8878824" y="4901184"/>
            <a:ext cx="2514600" cy="402336"/>
          </a:xfrm>
          <a:prstGeom prst="rect">
            <a:avLst/>
          </a:prstGeom>
          <a:noFill/>
          <a:ln/>
        </p:spPr>
        <p:txBody>
          <a:bodyPr wrap="square" lIns="0" tIns="0" rIns="0" bIns="0"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Brief</a:t>
            </a:r>
            <a:endParaRPr lang="en-US" sz="1500" dirty="0"/>
          </a:p>
        </p:txBody>
      </p:sp>
      <p:sp>
        <p:nvSpPr>
          <p:cNvPr id="35" name="Text 33"/>
          <p:cNvSpPr/>
          <p:nvPr/>
        </p:nvSpPr>
        <p:spPr>
          <a:xfrm>
            <a:off x="8357616" y="5394960"/>
            <a:ext cx="3008376" cy="868680"/>
          </a:xfrm>
          <a:prstGeom prst="rect">
            <a:avLst/>
          </a:prstGeom>
          <a:noFill/>
          <a:ln/>
        </p:spPr>
        <p:txBody>
          <a:bodyPr wrap="square" lIns="0" tIns="0" rIns="0" bIns="0" rtlCol="0" anchor="t"/>
          <a:lstStyle/>
          <a:p>
            <a:pPr indent="0" marL="0">
              <a:lnSpc>
                <a:spcPct val="112000"/>
              </a:lnSpc>
              <a:buNone/>
            </a:pPr>
            <a:r>
              <a:rPr lang="en-US" sz="1050" dirty="0">
                <a:solidFill>
                  <a:srgbClr val="9AA1B4"/>
                </a:solidFill>
                <a:latin typeface="Calibri" pitchFamily="34" charset="0"/>
                <a:ea typeface="Calibri" pitchFamily="34" charset="-122"/>
                <a:cs typeface="Calibri" pitchFamily="34" charset="-120"/>
              </a:rPr>
              <a:t>A written daily narrative at the top of the page, with the charts underneath as the evidence rather than the interface.</a:t>
            </a:r>
            <a:endParaRPr lang="en-US" sz="1050" dirty="0"/>
          </a:p>
        </p:txBody>
      </p:sp>
      <p:sp>
        <p:nvSpPr>
          <p:cNvPr id="36" name="Text 34"/>
          <p:cNvSpPr/>
          <p:nvPr/>
        </p:nvSpPr>
        <p:spPr>
          <a:xfrm>
            <a:off x="548640" y="6537960"/>
            <a:ext cx="6400800" cy="274320"/>
          </a:xfrm>
          <a:prstGeom prst="rect">
            <a:avLst/>
          </a:prstGeom>
          <a:noFill/>
          <a:ln/>
        </p:spPr>
        <p:txBody>
          <a:bodyPr wrap="square" lIns="0" tIns="0" rIns="0" bIns="0" rtlCol="0" anchor="ctr"/>
          <a:lstStyle/>
          <a:p>
            <a:pPr indent="0" marL="0">
              <a:buNone/>
            </a:pPr>
            <a:r>
              <a:rPr lang="en-US" sz="900" dirty="0">
                <a:solidFill>
                  <a:srgbClr val="9AA1B4"/>
                </a:solidFill>
                <a:latin typeface="Calibri" pitchFamily="34" charset="0"/>
                <a:ea typeface="Calibri" pitchFamily="34" charset="-122"/>
                <a:cs typeface="Calibri" pitchFamily="34" charset="-120"/>
              </a:rPr>
              <a:t>Gaming Community Pulse v2 — prepared for Ruisheng Holdings</a:t>
            </a:r>
            <a:endParaRPr lang="en-US" sz="900" dirty="0"/>
          </a:p>
        </p:txBody>
      </p:sp>
      <p:sp>
        <p:nvSpPr>
          <p:cNvPr id="37" name="Text 35"/>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1B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6C8CFF"/>
                </a:solidFill>
                <a:latin typeface="Calibri" pitchFamily="34" charset="0"/>
                <a:ea typeface="Calibri" pitchFamily="34" charset="-122"/>
                <a:cs typeface="Calibri" pitchFamily="34" charset="-120"/>
              </a:rPr>
              <a:t>WHERE WE STARTED</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E8EAF0"/>
                </a:solidFill>
                <a:latin typeface="Cambria" pitchFamily="34" charset="0"/>
                <a:ea typeface="Cambria" pitchFamily="34" charset="-122"/>
                <a:cs typeface="Cambria" pitchFamily="34" charset="-120"/>
              </a:rPr>
              <a:t>What version 1 delivered — and the three limitations it shipped with</a:t>
            </a:r>
            <a:endParaRPr lang="en-US" sz="2800" dirty="0"/>
          </a:p>
        </p:txBody>
      </p:sp>
      <p:sp>
        <p:nvSpPr>
          <p:cNvPr id="4" name="Shape 2"/>
          <p:cNvSpPr/>
          <p:nvPr/>
        </p:nvSpPr>
        <p:spPr>
          <a:xfrm>
            <a:off x="548640" y="1508760"/>
            <a:ext cx="3703320" cy="4160520"/>
          </a:xfrm>
          <a:prstGeom prst="roundRect">
            <a:avLst>
              <a:gd name="adj" fmla="val 1975"/>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822960" y="1719072"/>
            <a:ext cx="3200400" cy="274320"/>
          </a:xfrm>
          <a:prstGeom prst="rect">
            <a:avLst/>
          </a:prstGeom>
          <a:noFill/>
          <a:ln/>
        </p:spPr>
        <p:txBody>
          <a:bodyPr wrap="square" lIns="0" tIns="0" rIns="0" bIns="0" rtlCol="0" anchor="ctr"/>
          <a:lstStyle/>
          <a:p>
            <a:pPr indent="0" marL="0">
              <a:buNone/>
            </a:pPr>
            <a:r>
              <a:rPr lang="en-US" sz="1000" b="1" spc="100" kern="0" dirty="0">
                <a:solidFill>
                  <a:srgbClr val="3ECF8E"/>
                </a:solidFill>
                <a:latin typeface="Calibri" pitchFamily="34" charset="0"/>
                <a:ea typeface="Calibri" pitchFamily="34" charset="-122"/>
                <a:cs typeface="Calibri" pitchFamily="34" charset="-120"/>
              </a:rPr>
              <a:t>VERSION 1 DELIVERED</a:t>
            </a:r>
            <a:endParaRPr lang="en-US" sz="1000" dirty="0"/>
          </a:p>
        </p:txBody>
      </p:sp>
      <p:sp>
        <p:nvSpPr>
          <p:cNvPr id="6" name="Text 4"/>
          <p:cNvSpPr/>
          <p:nvPr/>
        </p:nvSpPr>
        <p:spPr>
          <a:xfrm>
            <a:off x="822960" y="2084832"/>
            <a:ext cx="3200400" cy="3383280"/>
          </a:xfrm>
          <a:prstGeom prst="rect">
            <a:avLst/>
          </a:prstGeom>
          <a:noFill/>
          <a:ln/>
        </p:spPr>
        <p:txBody>
          <a:bodyPr wrap="square" lIns="0" tIns="0" rIns="0" bIns="0" rtlCol="0" anchor="t"/>
          <a:lstStyle/>
          <a:p>
            <a:pPr marL="177800" indent="-177800">
              <a:lnSpc>
                <a:spcPct val="110000"/>
              </a:lnSpc>
              <a:spcAft>
                <a:spcPts val="700"/>
              </a:spcAft>
              <a:buSzPct val="100000"/>
              <a:buChar char="•"/>
            </a:pPr>
            <a:r>
              <a:rPr lang="en-US" sz="1200" dirty="0">
                <a:solidFill>
                  <a:srgbClr val="E8EAF0"/>
                </a:solidFill>
                <a:latin typeface="Calibri" pitchFamily="34" charset="0"/>
                <a:ea typeface="Calibri" pitchFamily="34" charset="-122"/>
                <a:cs typeface="Calibri" pitchFamily="34" charset="-120"/>
              </a:rPr>
              <a:t>Five titles, three platforms, one dashboard page</a:t>
            </a:r>
            <a:endParaRPr lang="en-US" sz="1200" dirty="0"/>
          </a:p>
          <a:p>
            <a:pPr marL="177800" indent="-177800">
              <a:lnSpc>
                <a:spcPct val="110000"/>
              </a:lnSpc>
              <a:spcAft>
                <a:spcPts val="700"/>
              </a:spcAft>
              <a:buSzPct val="100000"/>
              <a:buChar char="•"/>
            </a:pPr>
            <a:r>
              <a:rPr lang="en-US" sz="1200" dirty="0">
                <a:solidFill>
                  <a:srgbClr val="E8EAF0"/>
                </a:solidFill>
                <a:latin typeface="Calibri" pitchFamily="34" charset="0"/>
                <a:ea typeface="Calibri" pitchFamily="34" charset="-122"/>
                <a:cs typeface="Calibri" pitchFamily="34" charset="-120"/>
              </a:rPr>
              <a:t>Real YouTube comments, captured live</a:t>
            </a:r>
            <a:endParaRPr lang="en-US" sz="1200" dirty="0"/>
          </a:p>
          <a:p>
            <a:pPr marL="177800" indent="-177800">
              <a:lnSpc>
                <a:spcPct val="110000"/>
              </a:lnSpc>
              <a:spcAft>
                <a:spcPts val="700"/>
              </a:spcAft>
              <a:buSzPct val="100000"/>
              <a:buChar char="•"/>
            </a:pPr>
            <a:r>
              <a:rPr lang="en-US" sz="1200" dirty="0">
                <a:solidFill>
                  <a:srgbClr val="E8EAF0"/>
                </a:solidFill>
                <a:latin typeface="Calibri" pitchFamily="34" charset="0"/>
                <a:ea typeface="Calibri" pitchFamily="34" charset="-122"/>
                <a:cs typeface="Calibri" pitchFamily="34" charset="-120"/>
              </a:rPr>
              <a:t>Lexicon sentiment on a −1 to +1 scale</a:t>
            </a:r>
            <a:endParaRPr lang="en-US" sz="1200" dirty="0"/>
          </a:p>
          <a:p>
            <a:pPr marL="177800" indent="-177800">
              <a:lnSpc>
                <a:spcPct val="110000"/>
              </a:lnSpc>
              <a:spcAft>
                <a:spcPts val="700"/>
              </a:spcAft>
              <a:buSzPct val="100000"/>
              <a:buChar char="•"/>
            </a:pPr>
            <a:r>
              <a:rPr lang="en-US" sz="1200" dirty="0">
                <a:solidFill>
                  <a:srgbClr val="E8EAF0"/>
                </a:solidFill>
                <a:latin typeface="Calibri" pitchFamily="34" charset="0"/>
                <a:ea typeface="Calibri" pitchFamily="34" charset="-122"/>
                <a:cs typeface="Calibri" pitchFamily="34" charset="-120"/>
              </a:rPr>
              <a:t>Theme, engagement and question panels</a:t>
            </a:r>
            <a:endParaRPr lang="en-US" sz="1200" dirty="0"/>
          </a:p>
          <a:p>
            <a:pPr marL="177800" indent="-177800">
              <a:lnSpc>
                <a:spcPct val="110000"/>
              </a:lnSpc>
              <a:spcAft>
                <a:spcPts val="700"/>
              </a:spcAft>
              <a:buSzPct val="100000"/>
              <a:buChar char="•"/>
            </a:pPr>
            <a:r>
              <a:rPr lang="en-US" sz="1200" dirty="0">
                <a:solidFill>
                  <a:srgbClr val="E8EAF0"/>
                </a:solidFill>
                <a:latin typeface="Calibri" pitchFamily="34" charset="0"/>
                <a:ea typeface="Calibri" pitchFamily="34" charset="-122"/>
                <a:cs typeface="Calibri" pitchFamily="34" charset="-120"/>
              </a:rPr>
              <a:t>Four written documents</a:t>
            </a:r>
            <a:endParaRPr lang="en-US" sz="1200" dirty="0"/>
          </a:p>
        </p:txBody>
      </p:sp>
      <p:sp>
        <p:nvSpPr>
          <p:cNvPr id="7" name="Shape 5"/>
          <p:cNvSpPr/>
          <p:nvPr/>
        </p:nvSpPr>
        <p:spPr>
          <a:xfrm>
            <a:off x="4480560" y="1508760"/>
            <a:ext cx="7132320" cy="1298448"/>
          </a:xfrm>
          <a:prstGeom prst="roundRect">
            <a:avLst>
              <a:gd name="adj" fmla="val 5634"/>
            </a:avLst>
          </a:prstGeom>
          <a:solidFill>
            <a:srgbClr val="231819"/>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8" name="Text 6"/>
          <p:cNvSpPr/>
          <p:nvPr/>
        </p:nvSpPr>
        <p:spPr>
          <a:xfrm>
            <a:off x="4709160" y="1709928"/>
            <a:ext cx="457200" cy="457200"/>
          </a:xfrm>
          <a:prstGeom prst="rect">
            <a:avLst/>
          </a:prstGeom>
          <a:noFill/>
          <a:ln/>
        </p:spPr>
        <p:txBody>
          <a:bodyPr wrap="square" lIns="0" tIns="0" rIns="0" bIns="0" rtlCol="0" anchor="ctr"/>
          <a:lstStyle/>
          <a:p>
            <a:pPr algn="ctr" indent="0" marL="0">
              <a:buNone/>
            </a:pPr>
            <a:r>
              <a:rPr lang="en-US" sz="2000" b="1" dirty="0">
                <a:solidFill>
                  <a:srgbClr val="FF6B6B"/>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5257800" y="1673352"/>
            <a:ext cx="6126480" cy="347472"/>
          </a:xfrm>
          <a:prstGeom prst="rect">
            <a:avLst/>
          </a:prstGeom>
          <a:noFill/>
          <a:ln/>
        </p:spPr>
        <p:txBody>
          <a:bodyPr wrap="square" lIns="0" tIns="0" rIns="0" bIns="0" rtlCol="0" anchor="ctr"/>
          <a:lstStyle/>
          <a:p>
            <a:pPr indent="0" marL="0">
              <a:buNone/>
            </a:pPr>
            <a:r>
              <a:rPr lang="en-US" sz="1400" b="1" dirty="0">
                <a:solidFill>
                  <a:srgbClr val="E8EAF0"/>
                </a:solidFill>
                <a:latin typeface="Calibri" pitchFamily="34" charset="0"/>
                <a:ea typeface="Calibri" pitchFamily="34" charset="-122"/>
                <a:cs typeface="Calibri" pitchFamily="34" charset="-120"/>
              </a:rPr>
              <a:t>The data was mostly manufactured</a:t>
            </a:r>
            <a:endParaRPr lang="en-US" sz="1400" dirty="0"/>
          </a:p>
        </p:txBody>
      </p:sp>
      <p:sp>
        <p:nvSpPr>
          <p:cNvPr id="10" name="Text 8"/>
          <p:cNvSpPr/>
          <p:nvPr/>
        </p:nvSpPr>
        <p:spPr>
          <a:xfrm>
            <a:off x="5257800" y="2039112"/>
            <a:ext cx="6172200" cy="658368"/>
          </a:xfrm>
          <a:prstGeom prst="rect">
            <a:avLst/>
          </a:prstGeom>
          <a:noFill/>
          <a:ln/>
        </p:spPr>
        <p:txBody>
          <a:bodyPr wrap="square" lIns="0" tIns="0" rIns="0" bIns="0" rtlCol="0" anchor="t"/>
          <a:lstStyle/>
          <a:p>
            <a:pPr indent="0" marL="0">
              <a:lnSpc>
                <a:spcPct val="110000"/>
              </a:lnSpc>
              <a:buNone/>
            </a:pPr>
            <a:r>
              <a:rPr lang="en-US" sz="1100" dirty="0">
                <a:solidFill>
                  <a:srgbClr val="9AA1B4"/>
                </a:solidFill>
                <a:latin typeface="Calibri" pitchFamily="34" charset="0"/>
                <a:ea typeface="Calibri" pitchFamily="34" charset="-122"/>
                <a:cs typeface="Calibri" pitchFamily="34" charset="-120"/>
              </a:rPr>
              <a:t>452 of 507 records — around 89% — were synthetic. Only 55 YouTube comments were observed. Reddit was not partly built: there was no Reddit code at all.</a:t>
            </a:r>
            <a:endParaRPr lang="en-US" sz="1100" dirty="0"/>
          </a:p>
        </p:txBody>
      </p:sp>
      <p:sp>
        <p:nvSpPr>
          <p:cNvPr id="11" name="Shape 9"/>
          <p:cNvSpPr/>
          <p:nvPr/>
        </p:nvSpPr>
        <p:spPr>
          <a:xfrm>
            <a:off x="4480560" y="2944368"/>
            <a:ext cx="7132320" cy="1298448"/>
          </a:xfrm>
          <a:prstGeom prst="roundRect">
            <a:avLst>
              <a:gd name="adj" fmla="val 5634"/>
            </a:avLst>
          </a:prstGeom>
          <a:solidFill>
            <a:srgbClr val="231819"/>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2" name="Text 10"/>
          <p:cNvSpPr/>
          <p:nvPr/>
        </p:nvSpPr>
        <p:spPr>
          <a:xfrm>
            <a:off x="4709160" y="3145536"/>
            <a:ext cx="457200" cy="457200"/>
          </a:xfrm>
          <a:prstGeom prst="rect">
            <a:avLst/>
          </a:prstGeom>
          <a:noFill/>
          <a:ln/>
        </p:spPr>
        <p:txBody>
          <a:bodyPr wrap="square" lIns="0" tIns="0" rIns="0" bIns="0" rtlCol="0" anchor="ctr"/>
          <a:lstStyle/>
          <a:p>
            <a:pPr algn="ctr" indent="0" marL="0">
              <a:buNone/>
            </a:pPr>
            <a:r>
              <a:rPr lang="en-US" sz="2000" b="1" dirty="0">
                <a:solidFill>
                  <a:srgbClr val="FF6B6B"/>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5257800" y="3108960"/>
            <a:ext cx="6126480" cy="347472"/>
          </a:xfrm>
          <a:prstGeom prst="rect">
            <a:avLst/>
          </a:prstGeom>
          <a:noFill/>
          <a:ln/>
        </p:spPr>
        <p:txBody>
          <a:bodyPr wrap="square" lIns="0" tIns="0" rIns="0" bIns="0" rtlCol="0" anchor="ctr"/>
          <a:lstStyle/>
          <a:p>
            <a:pPr indent="0" marL="0">
              <a:buNone/>
            </a:pPr>
            <a:r>
              <a:rPr lang="en-US" sz="1400" b="1" dirty="0">
                <a:solidFill>
                  <a:srgbClr val="E8EAF0"/>
                </a:solidFill>
                <a:latin typeface="Calibri" pitchFamily="34" charset="0"/>
                <a:ea typeface="Calibri" pitchFamily="34" charset="-122"/>
                <a:cs typeface="Calibri" pitchFamily="34" charset="-120"/>
              </a:rPr>
              <a:t>Sentiment was keyword matching</a:t>
            </a:r>
            <a:endParaRPr lang="en-US" sz="1400" dirty="0"/>
          </a:p>
        </p:txBody>
      </p:sp>
      <p:sp>
        <p:nvSpPr>
          <p:cNvPr id="14" name="Text 12"/>
          <p:cNvSpPr/>
          <p:nvPr/>
        </p:nvSpPr>
        <p:spPr>
          <a:xfrm>
            <a:off x="5257800" y="3474720"/>
            <a:ext cx="6172200" cy="658368"/>
          </a:xfrm>
          <a:prstGeom prst="rect">
            <a:avLst/>
          </a:prstGeom>
          <a:noFill/>
          <a:ln/>
        </p:spPr>
        <p:txBody>
          <a:bodyPr wrap="square" lIns="0" tIns="0" rIns="0" bIns="0" rtlCol="0" anchor="t"/>
          <a:lstStyle/>
          <a:p>
            <a:pPr indent="0" marL="0">
              <a:lnSpc>
                <a:spcPct val="110000"/>
              </a:lnSpc>
              <a:buNone/>
            </a:pPr>
            <a:r>
              <a:rPr lang="en-US" sz="1100" dirty="0">
                <a:solidFill>
                  <a:srgbClr val="9AA1B4"/>
                </a:solidFill>
                <a:latin typeface="Calibri" pitchFamily="34" charset="0"/>
                <a:ea typeface="Calibri" pitchFamily="34" charset="-122"/>
                <a:cs typeface="Calibri" pitchFamily="34" charset="-120"/>
              </a:rPr>
              <a:t>A flat lexicon of roughly 60 words, summed and normalised. No negation, no intensity, no emoji, no context.</a:t>
            </a:r>
            <a:endParaRPr lang="en-US" sz="1100" dirty="0"/>
          </a:p>
        </p:txBody>
      </p:sp>
      <p:sp>
        <p:nvSpPr>
          <p:cNvPr id="15" name="Shape 13"/>
          <p:cNvSpPr/>
          <p:nvPr/>
        </p:nvSpPr>
        <p:spPr>
          <a:xfrm>
            <a:off x="4480560" y="4379976"/>
            <a:ext cx="7132320" cy="1298448"/>
          </a:xfrm>
          <a:prstGeom prst="roundRect">
            <a:avLst>
              <a:gd name="adj" fmla="val 5634"/>
            </a:avLst>
          </a:prstGeom>
          <a:solidFill>
            <a:srgbClr val="231819"/>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6" name="Text 14"/>
          <p:cNvSpPr/>
          <p:nvPr/>
        </p:nvSpPr>
        <p:spPr>
          <a:xfrm>
            <a:off x="4709160" y="4581144"/>
            <a:ext cx="457200" cy="457200"/>
          </a:xfrm>
          <a:prstGeom prst="rect">
            <a:avLst/>
          </a:prstGeom>
          <a:noFill/>
          <a:ln/>
        </p:spPr>
        <p:txBody>
          <a:bodyPr wrap="square" lIns="0" tIns="0" rIns="0" bIns="0" rtlCol="0" anchor="ctr"/>
          <a:lstStyle/>
          <a:p>
            <a:pPr algn="ctr" indent="0" marL="0">
              <a:buNone/>
            </a:pPr>
            <a:r>
              <a:rPr lang="en-US" sz="2000" b="1" dirty="0">
                <a:solidFill>
                  <a:srgbClr val="FF6B6B"/>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5257800" y="4544568"/>
            <a:ext cx="6126480" cy="347472"/>
          </a:xfrm>
          <a:prstGeom prst="rect">
            <a:avLst/>
          </a:prstGeom>
          <a:noFill/>
          <a:ln/>
        </p:spPr>
        <p:txBody>
          <a:bodyPr wrap="square" lIns="0" tIns="0" rIns="0" bIns="0" rtlCol="0" anchor="ctr"/>
          <a:lstStyle/>
          <a:p>
            <a:pPr indent="0" marL="0">
              <a:buNone/>
            </a:pPr>
            <a:r>
              <a:rPr lang="en-US" sz="1400" b="1" dirty="0">
                <a:solidFill>
                  <a:srgbClr val="E8EAF0"/>
                </a:solidFill>
                <a:latin typeface="Calibri" pitchFamily="34" charset="0"/>
                <a:ea typeface="Calibri" pitchFamily="34" charset="-122"/>
                <a:cs typeface="Calibri" pitchFamily="34" charset="-120"/>
              </a:rPr>
              <a:t>Engagement summed incomparable units</a:t>
            </a:r>
            <a:endParaRPr lang="en-US" sz="1400" dirty="0"/>
          </a:p>
        </p:txBody>
      </p:sp>
      <p:sp>
        <p:nvSpPr>
          <p:cNvPr id="18" name="Text 16"/>
          <p:cNvSpPr/>
          <p:nvPr/>
        </p:nvSpPr>
        <p:spPr>
          <a:xfrm>
            <a:off x="5257800" y="4910328"/>
            <a:ext cx="6172200" cy="658368"/>
          </a:xfrm>
          <a:prstGeom prst="rect">
            <a:avLst/>
          </a:prstGeom>
          <a:noFill/>
          <a:ln/>
        </p:spPr>
        <p:txBody>
          <a:bodyPr wrap="square" lIns="0" tIns="0" rIns="0" bIns="0" rtlCol="0" anchor="t"/>
          <a:lstStyle/>
          <a:p>
            <a:pPr indent="0" marL="0">
              <a:lnSpc>
                <a:spcPct val="110000"/>
              </a:lnSpc>
              <a:buNone/>
            </a:pPr>
            <a:r>
              <a:rPr lang="en-US" sz="1100" dirty="0">
                <a:solidFill>
                  <a:srgbClr val="9AA1B4"/>
                </a:solidFill>
                <a:latin typeface="Calibri" pitchFamily="34" charset="0"/>
                <a:ea typeface="Calibri" pitchFamily="34" charset="-122"/>
                <a:cs typeface="Calibri" pitchFamily="34" charset="-120"/>
              </a:rPr>
              <a:t>YouTube likes plus Reddit upvotes plus Discord reactions, untransformed. The total largely reflected which platform contributed the most rows.</a:t>
            </a:r>
            <a:endParaRPr lang="en-US" sz="1100" dirty="0"/>
          </a:p>
        </p:txBody>
      </p:sp>
      <p:sp>
        <p:nvSpPr>
          <p:cNvPr id="19" name="Shape 17"/>
          <p:cNvSpPr/>
          <p:nvPr/>
        </p:nvSpPr>
        <p:spPr>
          <a:xfrm>
            <a:off x="548640" y="5806440"/>
            <a:ext cx="11064240" cy="658368"/>
          </a:xfrm>
          <a:prstGeom prst="roundRect">
            <a:avLst>
              <a:gd name="adj" fmla="val 11111"/>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20" name="Text 18"/>
          <p:cNvSpPr/>
          <p:nvPr/>
        </p:nvSpPr>
        <p:spPr>
          <a:xfrm>
            <a:off x="868680" y="5897880"/>
            <a:ext cx="10424160" cy="502920"/>
          </a:xfrm>
          <a:prstGeom prst="rect">
            <a:avLst/>
          </a:prstGeom>
          <a:noFill/>
          <a:ln/>
        </p:spPr>
        <p:txBody>
          <a:bodyPr wrap="square" lIns="0" tIns="0" rIns="0" bIns="0" rtlCol="0" anchor="ctr"/>
          <a:lstStyle/>
          <a:p>
            <a:pPr indent="0" marL="0">
              <a:buNone/>
            </a:pPr>
            <a:r>
              <a:rPr lang="en-US" sz="1250" dirty="0">
                <a:solidFill>
                  <a:srgbClr val="E8EAF0"/>
                </a:solidFill>
                <a:latin typeface="Calibri" pitchFamily="34" charset="0"/>
                <a:ea typeface="Calibri" pitchFamily="34" charset="-122"/>
                <a:cs typeface="Calibri" pitchFamily="34" charset="-120"/>
              </a:rPr>
              <a:t>None of v1's figures are restated in this deck. The scale, the scorer and the engagement metric have all changed, so the old numbers are not comparable to the new ones — they are withdrawn, not updated.</a:t>
            </a:r>
            <a:endParaRPr lang="en-US" sz="1250" dirty="0"/>
          </a:p>
        </p:txBody>
      </p:sp>
      <p:sp>
        <p:nvSpPr>
          <p:cNvPr id="21" name="Text 19"/>
          <p:cNvSpPr/>
          <p:nvPr/>
        </p:nvSpPr>
        <p:spPr>
          <a:xfrm>
            <a:off x="548640" y="6537960"/>
            <a:ext cx="6400800" cy="274320"/>
          </a:xfrm>
          <a:prstGeom prst="rect">
            <a:avLst/>
          </a:prstGeom>
          <a:noFill/>
          <a:ln/>
        </p:spPr>
        <p:txBody>
          <a:bodyPr wrap="square" lIns="0" tIns="0" rIns="0" bIns="0" rtlCol="0" anchor="ctr"/>
          <a:lstStyle/>
          <a:p>
            <a:pPr indent="0" marL="0">
              <a:buNone/>
            </a:pPr>
            <a:r>
              <a:rPr lang="en-US" sz="900" dirty="0">
                <a:solidFill>
                  <a:srgbClr val="9AA1B4"/>
                </a:solidFill>
                <a:latin typeface="Calibri" pitchFamily="34" charset="0"/>
                <a:ea typeface="Calibri" pitchFamily="34" charset="-122"/>
                <a:cs typeface="Calibri" pitchFamily="34" charset="-120"/>
              </a:rPr>
              <a:t>Gaming Community Pulse v2 — prepared for Ruisheng Holdings</a:t>
            </a:r>
            <a:endParaRPr lang="en-US" sz="900" dirty="0"/>
          </a:p>
        </p:txBody>
      </p:sp>
      <p:sp>
        <p:nvSpPr>
          <p:cNvPr id="22" name="Text 20"/>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1B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6C8CFF"/>
                </a:solidFill>
                <a:latin typeface="Calibri" pitchFamily="34" charset="0"/>
                <a:ea typeface="Calibri" pitchFamily="34" charset="-122"/>
                <a:cs typeface="Calibri" pitchFamily="34" charset="-120"/>
              </a:rPr>
              <a:t>YOUR QUESTIONS</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E8EAF0"/>
                </a:solidFill>
                <a:latin typeface="Cambria" pitchFamily="34" charset="0"/>
                <a:ea typeface="Cambria" pitchFamily="34" charset="-122"/>
                <a:cs typeface="Cambria" pitchFamily="34" charset="-120"/>
              </a:rPr>
              <a:t>You asked nine questions. This is what happened to each one.</a:t>
            </a:r>
            <a:endParaRPr lang="en-US" sz="2800" dirty="0"/>
          </a:p>
        </p:txBody>
      </p:sp>
      <p:sp>
        <p:nvSpPr>
          <p:cNvPr id="4" name="Shape 2"/>
          <p:cNvSpPr/>
          <p:nvPr/>
        </p:nvSpPr>
        <p:spPr>
          <a:xfrm>
            <a:off x="548640" y="1481328"/>
            <a:ext cx="5349240" cy="676656"/>
          </a:xfrm>
          <a:prstGeom prst="roundRect">
            <a:avLst>
              <a:gd name="adj" fmla="val 10811"/>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768096" y="1627632"/>
            <a:ext cx="384048" cy="384048"/>
          </a:xfrm>
          <a:prstGeom prst="ellipse">
            <a:avLst/>
          </a:prstGeom>
          <a:solidFill>
            <a:srgbClr val="6C8CFF"/>
          </a:solidFill>
          <a:ln/>
        </p:spPr>
      </p:sp>
      <p:sp>
        <p:nvSpPr>
          <p:cNvPr id="6" name="Text 4"/>
          <p:cNvSpPr/>
          <p:nvPr/>
        </p:nvSpPr>
        <p:spPr>
          <a:xfrm>
            <a:off x="768096" y="1627632"/>
            <a:ext cx="384048" cy="384048"/>
          </a:xfrm>
          <a:prstGeom prst="rect">
            <a:avLst/>
          </a:prstGeom>
          <a:noFill/>
          <a:ln/>
        </p:spPr>
        <p:txBody>
          <a:bodyPr wrap="square" lIns="0" tIns="0" rIns="0" bIns="0" rtlCol="0" anchor="ctr"/>
          <a:lstStyle/>
          <a:p>
            <a:pPr algn="ctr" indent="0" marL="0">
              <a:buNone/>
            </a:pPr>
            <a:r>
              <a:rPr lang="en-US" sz="1300" b="1" dirty="0">
                <a:solidFill>
                  <a:srgbClr val="12141C"/>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80160" y="1554480"/>
            <a:ext cx="4389120" cy="530352"/>
          </a:xfrm>
          <a:prstGeom prst="rect">
            <a:avLst/>
          </a:prstGeom>
          <a:noFill/>
          <a:ln/>
        </p:spPr>
        <p:txBody>
          <a:bodyPr wrap="square" lIns="0" tIns="0" rIns="0" bIns="0" rtlCol="0" anchor="ctr"/>
          <a:lstStyle/>
          <a:p>
            <a:pPr indent="0" marL="0">
              <a:lnSpc>
                <a:spcPct val="105000"/>
              </a:lnSpc>
              <a:buNone/>
            </a:pPr>
            <a:r>
              <a:rPr lang="en-US" sz="1150" dirty="0">
                <a:solidFill>
                  <a:srgbClr val="E8EAF0"/>
                </a:solidFill>
                <a:latin typeface="Calibri" pitchFamily="34" charset="0"/>
                <a:ea typeface="Calibri" pitchFamily="34" charset="-122"/>
                <a:cs typeface="Calibri" pitchFamily="34" charset="-120"/>
              </a:rPr>
              <a:t>Can sentiment go beyond keyword matching — and be shown on −100 to +100?</a:t>
            </a:r>
            <a:endParaRPr lang="en-US" sz="1150" dirty="0"/>
          </a:p>
        </p:txBody>
      </p:sp>
      <p:sp>
        <p:nvSpPr>
          <p:cNvPr id="8" name="Shape 6"/>
          <p:cNvSpPr/>
          <p:nvPr/>
        </p:nvSpPr>
        <p:spPr>
          <a:xfrm>
            <a:off x="548640" y="2267712"/>
            <a:ext cx="5349240" cy="676656"/>
          </a:xfrm>
          <a:prstGeom prst="roundRect">
            <a:avLst>
              <a:gd name="adj" fmla="val 10811"/>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9" name="Shape 7"/>
          <p:cNvSpPr/>
          <p:nvPr/>
        </p:nvSpPr>
        <p:spPr>
          <a:xfrm>
            <a:off x="768096" y="2414016"/>
            <a:ext cx="384048" cy="384048"/>
          </a:xfrm>
          <a:prstGeom prst="ellipse">
            <a:avLst/>
          </a:prstGeom>
          <a:solidFill>
            <a:srgbClr val="6C8CFF"/>
          </a:solidFill>
          <a:ln/>
        </p:spPr>
      </p:sp>
      <p:sp>
        <p:nvSpPr>
          <p:cNvPr id="10" name="Text 8"/>
          <p:cNvSpPr/>
          <p:nvPr/>
        </p:nvSpPr>
        <p:spPr>
          <a:xfrm>
            <a:off x="768096" y="2414016"/>
            <a:ext cx="384048" cy="384048"/>
          </a:xfrm>
          <a:prstGeom prst="rect">
            <a:avLst/>
          </a:prstGeom>
          <a:noFill/>
          <a:ln/>
        </p:spPr>
        <p:txBody>
          <a:bodyPr wrap="square" lIns="0" tIns="0" rIns="0" bIns="0" rtlCol="0" anchor="ctr"/>
          <a:lstStyle/>
          <a:p>
            <a:pPr algn="ctr" indent="0" marL="0">
              <a:buNone/>
            </a:pPr>
            <a:r>
              <a:rPr lang="en-US" sz="1300" b="1" dirty="0">
                <a:solidFill>
                  <a:srgbClr val="12141C"/>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280160" y="2340864"/>
            <a:ext cx="4389120" cy="530352"/>
          </a:xfrm>
          <a:prstGeom prst="rect">
            <a:avLst/>
          </a:prstGeom>
          <a:noFill/>
          <a:ln/>
        </p:spPr>
        <p:txBody>
          <a:bodyPr wrap="square" lIns="0" tIns="0" rIns="0" bIns="0" rtlCol="0" anchor="ctr"/>
          <a:lstStyle/>
          <a:p>
            <a:pPr indent="0" marL="0">
              <a:lnSpc>
                <a:spcPct val="105000"/>
              </a:lnSpc>
              <a:buNone/>
            </a:pPr>
            <a:r>
              <a:rPr lang="en-US" sz="1150" dirty="0">
                <a:solidFill>
                  <a:srgbClr val="E8EAF0"/>
                </a:solidFill>
                <a:latin typeface="Calibri" pitchFamily="34" charset="0"/>
                <a:ea typeface="Calibri" pitchFamily="34" charset="-122"/>
                <a:cs typeface="Calibri" pitchFamily="34" charset="-120"/>
              </a:rPr>
              <a:t>Explain the engagement score: inputs, weights, normalisation, meaning.</a:t>
            </a:r>
            <a:endParaRPr lang="en-US" sz="1150" dirty="0"/>
          </a:p>
        </p:txBody>
      </p:sp>
      <p:sp>
        <p:nvSpPr>
          <p:cNvPr id="12" name="Shape 10"/>
          <p:cNvSpPr/>
          <p:nvPr/>
        </p:nvSpPr>
        <p:spPr>
          <a:xfrm>
            <a:off x="548640" y="3054096"/>
            <a:ext cx="5349240" cy="676656"/>
          </a:xfrm>
          <a:prstGeom prst="roundRect">
            <a:avLst>
              <a:gd name="adj" fmla="val 10811"/>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3" name="Shape 11"/>
          <p:cNvSpPr/>
          <p:nvPr/>
        </p:nvSpPr>
        <p:spPr>
          <a:xfrm>
            <a:off x="768096" y="3200400"/>
            <a:ext cx="384048" cy="384048"/>
          </a:xfrm>
          <a:prstGeom prst="ellipse">
            <a:avLst/>
          </a:prstGeom>
          <a:solidFill>
            <a:srgbClr val="6C8CFF"/>
          </a:solidFill>
          <a:ln/>
        </p:spPr>
      </p:sp>
      <p:sp>
        <p:nvSpPr>
          <p:cNvPr id="14" name="Text 12"/>
          <p:cNvSpPr/>
          <p:nvPr/>
        </p:nvSpPr>
        <p:spPr>
          <a:xfrm>
            <a:off x="768096" y="3200400"/>
            <a:ext cx="384048" cy="384048"/>
          </a:xfrm>
          <a:prstGeom prst="rect">
            <a:avLst/>
          </a:prstGeom>
          <a:noFill/>
          <a:ln/>
        </p:spPr>
        <p:txBody>
          <a:bodyPr wrap="square" lIns="0" tIns="0" rIns="0" bIns="0" rtlCol="0" anchor="ctr"/>
          <a:lstStyle/>
          <a:p>
            <a:pPr algn="ctr" indent="0" marL="0">
              <a:buNone/>
            </a:pPr>
            <a:r>
              <a:rPr lang="en-US" sz="1300" b="1" dirty="0">
                <a:solidFill>
                  <a:srgbClr val="12141C"/>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280160" y="3127248"/>
            <a:ext cx="4389120" cy="530352"/>
          </a:xfrm>
          <a:prstGeom prst="rect">
            <a:avLst/>
          </a:prstGeom>
          <a:noFill/>
          <a:ln/>
        </p:spPr>
        <p:txBody>
          <a:bodyPr wrap="square" lIns="0" tIns="0" rIns="0" bIns="0" rtlCol="0" anchor="ctr"/>
          <a:lstStyle/>
          <a:p>
            <a:pPr indent="0" marL="0">
              <a:lnSpc>
                <a:spcPct val="105000"/>
              </a:lnSpc>
              <a:buNone/>
            </a:pPr>
            <a:r>
              <a:rPr lang="en-US" sz="1150" dirty="0">
                <a:solidFill>
                  <a:srgbClr val="E8EAF0"/>
                </a:solidFill>
                <a:latin typeface="Calibri" pitchFamily="34" charset="0"/>
                <a:ea typeface="Calibri" pitchFamily="34" charset="-122"/>
                <a:cs typeface="Calibri" pitchFamily="34" charset="-120"/>
              </a:rPr>
              <a:t>Can content be categorised by the region it was published in?</a:t>
            </a:r>
            <a:endParaRPr lang="en-US" sz="1150" dirty="0"/>
          </a:p>
        </p:txBody>
      </p:sp>
      <p:sp>
        <p:nvSpPr>
          <p:cNvPr id="16" name="Shape 14"/>
          <p:cNvSpPr/>
          <p:nvPr/>
        </p:nvSpPr>
        <p:spPr>
          <a:xfrm>
            <a:off x="548640" y="3840480"/>
            <a:ext cx="5349240" cy="676656"/>
          </a:xfrm>
          <a:prstGeom prst="roundRect">
            <a:avLst>
              <a:gd name="adj" fmla="val 10811"/>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7" name="Shape 15"/>
          <p:cNvSpPr/>
          <p:nvPr/>
        </p:nvSpPr>
        <p:spPr>
          <a:xfrm>
            <a:off x="768096" y="3986784"/>
            <a:ext cx="384048" cy="384048"/>
          </a:xfrm>
          <a:prstGeom prst="ellipse">
            <a:avLst/>
          </a:prstGeom>
          <a:solidFill>
            <a:srgbClr val="6C8CFF"/>
          </a:solidFill>
          <a:ln/>
        </p:spPr>
      </p:sp>
      <p:sp>
        <p:nvSpPr>
          <p:cNvPr id="18" name="Text 16"/>
          <p:cNvSpPr/>
          <p:nvPr/>
        </p:nvSpPr>
        <p:spPr>
          <a:xfrm>
            <a:off x="768096" y="3986784"/>
            <a:ext cx="384048" cy="384048"/>
          </a:xfrm>
          <a:prstGeom prst="rect">
            <a:avLst/>
          </a:prstGeom>
          <a:noFill/>
          <a:ln/>
        </p:spPr>
        <p:txBody>
          <a:bodyPr wrap="square" lIns="0" tIns="0" rIns="0" bIns="0" rtlCol="0" anchor="ctr"/>
          <a:lstStyle/>
          <a:p>
            <a:pPr algn="ctr" indent="0" marL="0">
              <a:buNone/>
            </a:pPr>
            <a:r>
              <a:rPr lang="en-US" sz="1300" b="1" dirty="0">
                <a:solidFill>
                  <a:srgbClr val="12141C"/>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280160" y="3913632"/>
            <a:ext cx="4389120" cy="530352"/>
          </a:xfrm>
          <a:prstGeom prst="rect">
            <a:avLst/>
          </a:prstGeom>
          <a:noFill/>
          <a:ln/>
        </p:spPr>
        <p:txBody>
          <a:bodyPr wrap="square" lIns="0" tIns="0" rIns="0" bIns="0" rtlCol="0" anchor="ctr"/>
          <a:lstStyle/>
          <a:p>
            <a:pPr indent="0" marL="0">
              <a:lnSpc>
                <a:spcPct val="105000"/>
              </a:lnSpc>
              <a:buNone/>
            </a:pPr>
            <a:r>
              <a:rPr lang="en-US" sz="1150" dirty="0">
                <a:solidFill>
                  <a:srgbClr val="E8EAF0"/>
                </a:solidFill>
                <a:latin typeface="Calibri" pitchFamily="34" charset="0"/>
                <a:ea typeface="Calibri" pitchFamily="34" charset="-122"/>
                <a:cs typeface="Calibri" pitchFamily="34" charset="-120"/>
              </a:rPr>
              <a:t>What are the data sources, and how does data flow through to the dashboard?</a:t>
            </a:r>
            <a:endParaRPr lang="en-US" sz="1150" dirty="0"/>
          </a:p>
        </p:txBody>
      </p:sp>
      <p:sp>
        <p:nvSpPr>
          <p:cNvPr id="20" name="Shape 18"/>
          <p:cNvSpPr/>
          <p:nvPr/>
        </p:nvSpPr>
        <p:spPr>
          <a:xfrm>
            <a:off x="548640" y="4626864"/>
            <a:ext cx="5349240" cy="676656"/>
          </a:xfrm>
          <a:prstGeom prst="roundRect">
            <a:avLst>
              <a:gd name="adj" fmla="val 10811"/>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21" name="Shape 19"/>
          <p:cNvSpPr/>
          <p:nvPr/>
        </p:nvSpPr>
        <p:spPr>
          <a:xfrm>
            <a:off x="768096" y="4773168"/>
            <a:ext cx="384048" cy="384048"/>
          </a:xfrm>
          <a:prstGeom prst="ellipse">
            <a:avLst/>
          </a:prstGeom>
          <a:solidFill>
            <a:srgbClr val="6C8CFF"/>
          </a:solidFill>
          <a:ln/>
        </p:spPr>
      </p:sp>
      <p:sp>
        <p:nvSpPr>
          <p:cNvPr id="22" name="Text 20"/>
          <p:cNvSpPr/>
          <p:nvPr/>
        </p:nvSpPr>
        <p:spPr>
          <a:xfrm>
            <a:off x="768096" y="4773168"/>
            <a:ext cx="384048" cy="384048"/>
          </a:xfrm>
          <a:prstGeom prst="rect">
            <a:avLst/>
          </a:prstGeom>
          <a:noFill/>
          <a:ln/>
        </p:spPr>
        <p:txBody>
          <a:bodyPr wrap="square" lIns="0" tIns="0" rIns="0" bIns="0" rtlCol="0" anchor="ctr"/>
          <a:lstStyle/>
          <a:p>
            <a:pPr algn="ctr" indent="0" marL="0">
              <a:buNone/>
            </a:pPr>
            <a:r>
              <a:rPr lang="en-US" sz="1300" b="1" dirty="0">
                <a:solidFill>
                  <a:srgbClr val="12141C"/>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280160" y="4700016"/>
            <a:ext cx="4389120" cy="530352"/>
          </a:xfrm>
          <a:prstGeom prst="rect">
            <a:avLst/>
          </a:prstGeom>
          <a:noFill/>
          <a:ln/>
        </p:spPr>
        <p:txBody>
          <a:bodyPr wrap="square" lIns="0" tIns="0" rIns="0" bIns="0" rtlCol="0" anchor="ctr"/>
          <a:lstStyle/>
          <a:p>
            <a:pPr indent="0" marL="0">
              <a:lnSpc>
                <a:spcPct val="105000"/>
              </a:lnSpc>
              <a:buNone/>
            </a:pPr>
            <a:r>
              <a:rPr lang="en-US" sz="1150" dirty="0">
                <a:solidFill>
                  <a:srgbClr val="E8EAF0"/>
                </a:solidFill>
                <a:latin typeface="Calibri" pitchFamily="34" charset="0"/>
                <a:ea typeface="Calibri" pitchFamily="34" charset="-122"/>
                <a:cs typeface="Calibri" pitchFamily="34" charset="-120"/>
              </a:rPr>
              <a:t>Put media channel and time range at the top as global filters.</a:t>
            </a:r>
            <a:endParaRPr lang="en-US" sz="1150" dirty="0"/>
          </a:p>
        </p:txBody>
      </p:sp>
      <p:sp>
        <p:nvSpPr>
          <p:cNvPr id="24" name="Shape 22"/>
          <p:cNvSpPr/>
          <p:nvPr/>
        </p:nvSpPr>
        <p:spPr>
          <a:xfrm>
            <a:off x="6263640" y="1481328"/>
            <a:ext cx="5349240" cy="676656"/>
          </a:xfrm>
          <a:prstGeom prst="roundRect">
            <a:avLst>
              <a:gd name="adj" fmla="val 10811"/>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25" name="Shape 23"/>
          <p:cNvSpPr/>
          <p:nvPr/>
        </p:nvSpPr>
        <p:spPr>
          <a:xfrm>
            <a:off x="6483096" y="1627632"/>
            <a:ext cx="384048" cy="384048"/>
          </a:xfrm>
          <a:prstGeom prst="ellipse">
            <a:avLst/>
          </a:prstGeom>
          <a:solidFill>
            <a:srgbClr val="6C8CFF"/>
          </a:solidFill>
          <a:ln/>
        </p:spPr>
      </p:sp>
      <p:sp>
        <p:nvSpPr>
          <p:cNvPr id="26" name="Text 24"/>
          <p:cNvSpPr/>
          <p:nvPr/>
        </p:nvSpPr>
        <p:spPr>
          <a:xfrm>
            <a:off x="6483096" y="1627632"/>
            <a:ext cx="384048" cy="384048"/>
          </a:xfrm>
          <a:prstGeom prst="rect">
            <a:avLst/>
          </a:prstGeom>
          <a:noFill/>
          <a:ln/>
        </p:spPr>
        <p:txBody>
          <a:bodyPr wrap="square" lIns="0" tIns="0" rIns="0" bIns="0" rtlCol="0" anchor="ctr"/>
          <a:lstStyle/>
          <a:p>
            <a:pPr algn="ctr" indent="0" marL="0">
              <a:buNone/>
            </a:pPr>
            <a:r>
              <a:rPr lang="en-US" sz="1300" b="1" dirty="0">
                <a:solidFill>
                  <a:srgbClr val="12141C"/>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6995160" y="1554480"/>
            <a:ext cx="4389120" cy="530352"/>
          </a:xfrm>
          <a:prstGeom prst="rect">
            <a:avLst/>
          </a:prstGeom>
          <a:noFill/>
          <a:ln/>
        </p:spPr>
        <p:txBody>
          <a:bodyPr wrap="square" lIns="0" tIns="0" rIns="0" bIns="0" rtlCol="0" anchor="ctr"/>
          <a:lstStyle/>
          <a:p>
            <a:pPr indent="0" marL="0">
              <a:lnSpc>
                <a:spcPct val="105000"/>
              </a:lnSpc>
              <a:buNone/>
            </a:pPr>
            <a:r>
              <a:rPr lang="en-US" sz="1150" dirty="0">
                <a:solidFill>
                  <a:srgbClr val="E8EAF0"/>
                </a:solidFill>
                <a:latin typeface="Calibri" pitchFamily="34" charset="0"/>
                <a:ea typeface="Calibri" pitchFamily="34" charset="-122"/>
                <a:cs typeface="Calibri" pitchFamily="34" charset="-120"/>
              </a:rPr>
              <a:t>Add an AI-written daily summary — and say how long it should be.</a:t>
            </a:r>
            <a:endParaRPr lang="en-US" sz="1150" dirty="0"/>
          </a:p>
        </p:txBody>
      </p:sp>
      <p:sp>
        <p:nvSpPr>
          <p:cNvPr id="28" name="Shape 26"/>
          <p:cNvSpPr/>
          <p:nvPr/>
        </p:nvSpPr>
        <p:spPr>
          <a:xfrm>
            <a:off x="6263640" y="2267712"/>
            <a:ext cx="5349240" cy="676656"/>
          </a:xfrm>
          <a:prstGeom prst="roundRect">
            <a:avLst>
              <a:gd name="adj" fmla="val 10811"/>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29" name="Shape 27"/>
          <p:cNvSpPr/>
          <p:nvPr/>
        </p:nvSpPr>
        <p:spPr>
          <a:xfrm>
            <a:off x="6483096" y="2414016"/>
            <a:ext cx="384048" cy="384048"/>
          </a:xfrm>
          <a:prstGeom prst="ellipse">
            <a:avLst/>
          </a:prstGeom>
          <a:solidFill>
            <a:srgbClr val="6C8CFF"/>
          </a:solidFill>
          <a:ln/>
        </p:spPr>
      </p:sp>
      <p:sp>
        <p:nvSpPr>
          <p:cNvPr id="30" name="Text 28"/>
          <p:cNvSpPr/>
          <p:nvPr/>
        </p:nvSpPr>
        <p:spPr>
          <a:xfrm>
            <a:off x="6483096" y="2414016"/>
            <a:ext cx="384048" cy="384048"/>
          </a:xfrm>
          <a:prstGeom prst="rect">
            <a:avLst/>
          </a:prstGeom>
          <a:noFill/>
          <a:ln/>
        </p:spPr>
        <p:txBody>
          <a:bodyPr wrap="square" lIns="0" tIns="0" rIns="0" bIns="0" rtlCol="0" anchor="ctr"/>
          <a:lstStyle/>
          <a:p>
            <a:pPr algn="ctr" indent="0" marL="0">
              <a:buNone/>
            </a:pPr>
            <a:r>
              <a:rPr lang="en-US" sz="1300" b="1" dirty="0">
                <a:solidFill>
                  <a:srgbClr val="12141C"/>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6995160" y="2340864"/>
            <a:ext cx="4389120" cy="530352"/>
          </a:xfrm>
          <a:prstGeom prst="rect">
            <a:avLst/>
          </a:prstGeom>
          <a:noFill/>
          <a:ln/>
        </p:spPr>
        <p:txBody>
          <a:bodyPr wrap="square" lIns="0" tIns="0" rIns="0" bIns="0" rtlCol="0" anchor="ctr"/>
          <a:lstStyle/>
          <a:p>
            <a:pPr indent="0" marL="0">
              <a:lnSpc>
                <a:spcPct val="105000"/>
              </a:lnSpc>
              <a:buNone/>
            </a:pPr>
            <a:r>
              <a:rPr lang="en-US" sz="1150" dirty="0">
                <a:solidFill>
                  <a:srgbClr val="E8EAF0"/>
                </a:solidFill>
                <a:latin typeface="Calibri" pitchFamily="34" charset="0"/>
                <a:ea typeface="Calibri" pitchFamily="34" charset="-122"/>
                <a:cs typeface="Calibri" pitchFamily="34" charset="-120"/>
              </a:rPr>
              <a:t>Make it usable in a few minutes each morning, not another chart wall.</a:t>
            </a:r>
            <a:endParaRPr lang="en-US" sz="1150" dirty="0"/>
          </a:p>
        </p:txBody>
      </p:sp>
      <p:sp>
        <p:nvSpPr>
          <p:cNvPr id="32" name="Shape 30"/>
          <p:cNvSpPr/>
          <p:nvPr/>
        </p:nvSpPr>
        <p:spPr>
          <a:xfrm>
            <a:off x="6263640" y="3054096"/>
            <a:ext cx="5349240" cy="676656"/>
          </a:xfrm>
          <a:prstGeom prst="roundRect">
            <a:avLst>
              <a:gd name="adj" fmla="val 10811"/>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33" name="Shape 31"/>
          <p:cNvSpPr/>
          <p:nvPr/>
        </p:nvSpPr>
        <p:spPr>
          <a:xfrm>
            <a:off x="6483096" y="3200400"/>
            <a:ext cx="384048" cy="384048"/>
          </a:xfrm>
          <a:prstGeom prst="ellipse">
            <a:avLst/>
          </a:prstGeom>
          <a:solidFill>
            <a:srgbClr val="6C8CFF"/>
          </a:solidFill>
          <a:ln/>
        </p:spPr>
      </p:sp>
      <p:sp>
        <p:nvSpPr>
          <p:cNvPr id="34" name="Text 32"/>
          <p:cNvSpPr/>
          <p:nvPr/>
        </p:nvSpPr>
        <p:spPr>
          <a:xfrm>
            <a:off x="6483096" y="3200400"/>
            <a:ext cx="384048" cy="384048"/>
          </a:xfrm>
          <a:prstGeom prst="rect">
            <a:avLst/>
          </a:prstGeom>
          <a:noFill/>
          <a:ln/>
        </p:spPr>
        <p:txBody>
          <a:bodyPr wrap="square" lIns="0" tIns="0" rIns="0" bIns="0" rtlCol="0" anchor="ctr"/>
          <a:lstStyle/>
          <a:p>
            <a:pPr algn="ctr" indent="0" marL="0">
              <a:buNone/>
            </a:pPr>
            <a:r>
              <a:rPr lang="en-US" sz="1300" b="1" dirty="0">
                <a:solidFill>
                  <a:srgbClr val="12141C"/>
                </a:solidFill>
                <a:latin typeface="Calibri" pitchFamily="34" charset="0"/>
                <a:ea typeface="Calibri" pitchFamily="34" charset="-122"/>
                <a:cs typeface="Calibri" pitchFamily="34" charset="-120"/>
              </a:rPr>
              <a:t>8</a:t>
            </a:r>
            <a:endParaRPr lang="en-US" sz="1300" dirty="0"/>
          </a:p>
        </p:txBody>
      </p:sp>
      <p:sp>
        <p:nvSpPr>
          <p:cNvPr id="35" name="Text 33"/>
          <p:cNvSpPr/>
          <p:nvPr/>
        </p:nvSpPr>
        <p:spPr>
          <a:xfrm>
            <a:off x="6995160" y="3127248"/>
            <a:ext cx="4389120" cy="530352"/>
          </a:xfrm>
          <a:prstGeom prst="rect">
            <a:avLst/>
          </a:prstGeom>
          <a:noFill/>
          <a:ln/>
        </p:spPr>
        <p:txBody>
          <a:bodyPr wrap="square" lIns="0" tIns="0" rIns="0" bIns="0" rtlCol="0" anchor="ctr"/>
          <a:lstStyle/>
          <a:p>
            <a:pPr indent="0" marL="0">
              <a:lnSpc>
                <a:spcPct val="105000"/>
              </a:lnSpc>
              <a:buNone/>
            </a:pPr>
            <a:r>
              <a:rPr lang="en-US" sz="1150" dirty="0">
                <a:solidFill>
                  <a:srgbClr val="E8EAF0"/>
                </a:solidFill>
                <a:latin typeface="Calibri" pitchFamily="34" charset="0"/>
                <a:ea typeface="Calibri" pitchFamily="34" charset="-122"/>
                <a:cs typeface="Calibri" pitchFamily="34" charset="-120"/>
              </a:rPr>
              <a:t>Deliver business value: risks, trends, campaign ideas, notable changes.</a:t>
            </a:r>
            <a:endParaRPr lang="en-US" sz="1150" dirty="0"/>
          </a:p>
        </p:txBody>
      </p:sp>
      <p:sp>
        <p:nvSpPr>
          <p:cNvPr id="36" name="Shape 34"/>
          <p:cNvSpPr/>
          <p:nvPr/>
        </p:nvSpPr>
        <p:spPr>
          <a:xfrm>
            <a:off x="6263640" y="3840480"/>
            <a:ext cx="5349240" cy="676656"/>
          </a:xfrm>
          <a:prstGeom prst="roundRect">
            <a:avLst>
              <a:gd name="adj" fmla="val 10811"/>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37" name="Shape 35"/>
          <p:cNvSpPr/>
          <p:nvPr/>
        </p:nvSpPr>
        <p:spPr>
          <a:xfrm>
            <a:off x="6483096" y="3986784"/>
            <a:ext cx="384048" cy="384048"/>
          </a:xfrm>
          <a:prstGeom prst="ellipse">
            <a:avLst/>
          </a:prstGeom>
          <a:solidFill>
            <a:srgbClr val="6C8CFF"/>
          </a:solidFill>
          <a:ln/>
        </p:spPr>
      </p:sp>
      <p:sp>
        <p:nvSpPr>
          <p:cNvPr id="38" name="Text 36"/>
          <p:cNvSpPr/>
          <p:nvPr/>
        </p:nvSpPr>
        <p:spPr>
          <a:xfrm>
            <a:off x="6483096" y="3986784"/>
            <a:ext cx="384048" cy="384048"/>
          </a:xfrm>
          <a:prstGeom prst="rect">
            <a:avLst/>
          </a:prstGeom>
          <a:noFill/>
          <a:ln/>
        </p:spPr>
        <p:txBody>
          <a:bodyPr wrap="square" lIns="0" tIns="0" rIns="0" bIns="0" rtlCol="0" anchor="ctr"/>
          <a:lstStyle/>
          <a:p>
            <a:pPr algn="ctr" indent="0" marL="0">
              <a:buNone/>
            </a:pPr>
            <a:r>
              <a:rPr lang="en-US" sz="1300" b="1" dirty="0">
                <a:solidFill>
                  <a:srgbClr val="12141C"/>
                </a:solidFill>
                <a:latin typeface="Calibri" pitchFamily="34" charset="0"/>
                <a:ea typeface="Calibri" pitchFamily="34" charset="-122"/>
                <a:cs typeface="Calibri" pitchFamily="34" charset="-120"/>
              </a:rPr>
              <a:t>9</a:t>
            </a:r>
            <a:endParaRPr lang="en-US" sz="1300" dirty="0"/>
          </a:p>
        </p:txBody>
      </p:sp>
      <p:sp>
        <p:nvSpPr>
          <p:cNvPr id="39" name="Text 37"/>
          <p:cNvSpPr/>
          <p:nvPr/>
        </p:nvSpPr>
        <p:spPr>
          <a:xfrm>
            <a:off x="6995160" y="3913632"/>
            <a:ext cx="4389120" cy="530352"/>
          </a:xfrm>
          <a:prstGeom prst="rect">
            <a:avLst/>
          </a:prstGeom>
          <a:noFill/>
          <a:ln/>
        </p:spPr>
        <p:txBody>
          <a:bodyPr wrap="square" lIns="0" tIns="0" rIns="0" bIns="0" rtlCol="0" anchor="ctr"/>
          <a:lstStyle/>
          <a:p>
            <a:pPr indent="0" marL="0">
              <a:lnSpc>
                <a:spcPct val="105000"/>
              </a:lnSpc>
              <a:buNone/>
            </a:pPr>
            <a:r>
              <a:rPr lang="en-US" sz="1150" dirty="0">
                <a:solidFill>
                  <a:srgbClr val="E8EAF0"/>
                </a:solidFill>
                <a:latin typeface="Calibri" pitchFamily="34" charset="0"/>
                <a:ea typeface="Calibri" pitchFamily="34" charset="-122"/>
                <a:cs typeface="Calibri" pitchFamily="34" charset="-120"/>
              </a:rPr>
              <a:t>Confirm the complete source code ships for internal deployment.</a:t>
            </a:r>
            <a:endParaRPr lang="en-US" sz="1150" dirty="0"/>
          </a:p>
        </p:txBody>
      </p:sp>
      <p:sp>
        <p:nvSpPr>
          <p:cNvPr id="40" name="Shape 38"/>
          <p:cNvSpPr/>
          <p:nvPr/>
        </p:nvSpPr>
        <p:spPr>
          <a:xfrm>
            <a:off x="6492240" y="5468112"/>
            <a:ext cx="5120640" cy="1005840"/>
          </a:xfrm>
          <a:prstGeom prst="roundRect">
            <a:avLst>
              <a:gd name="adj" fmla="val 7273"/>
            </a:avLst>
          </a:prstGeom>
          <a:solidFill>
            <a:srgbClr val="17231E"/>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41" name="Text 39"/>
          <p:cNvSpPr/>
          <p:nvPr/>
        </p:nvSpPr>
        <p:spPr>
          <a:xfrm>
            <a:off x="6766560" y="5577840"/>
            <a:ext cx="4663440" cy="320040"/>
          </a:xfrm>
          <a:prstGeom prst="rect">
            <a:avLst/>
          </a:prstGeom>
          <a:noFill/>
          <a:ln/>
        </p:spPr>
        <p:txBody>
          <a:bodyPr wrap="square" lIns="0" tIns="0" rIns="0" bIns="0" rtlCol="0" anchor="ctr"/>
          <a:lstStyle/>
          <a:p>
            <a:pPr indent="0" marL="0">
              <a:buNone/>
            </a:pPr>
            <a:r>
              <a:rPr lang="en-US" sz="1400" b="1" dirty="0">
                <a:solidFill>
                  <a:srgbClr val="3ECF8E"/>
                </a:solidFill>
                <a:latin typeface="Calibri" pitchFamily="34" charset="0"/>
                <a:ea typeface="Calibri" pitchFamily="34" charset="-122"/>
                <a:cs typeface="Calibri" pitchFamily="34" charset="-120"/>
              </a:rPr>
              <a:t>All nine are built and running, not proposed.</a:t>
            </a:r>
            <a:endParaRPr lang="en-US" sz="1400" dirty="0"/>
          </a:p>
        </p:txBody>
      </p:sp>
      <p:sp>
        <p:nvSpPr>
          <p:cNvPr id="42" name="Text 40"/>
          <p:cNvSpPr/>
          <p:nvPr/>
        </p:nvSpPr>
        <p:spPr>
          <a:xfrm>
            <a:off x="6766560" y="5897880"/>
            <a:ext cx="4617720" cy="502920"/>
          </a:xfrm>
          <a:prstGeom prst="rect">
            <a:avLst/>
          </a:prstGeom>
          <a:noFill/>
          <a:ln/>
        </p:spPr>
        <p:txBody>
          <a:bodyPr wrap="square" lIns="0" tIns="0" rIns="0" bIns="0" rtlCol="0" anchor="ctr"/>
          <a:lstStyle/>
          <a:p>
            <a:pPr indent="0" marL="0">
              <a:lnSpc>
                <a:spcPct val="110000"/>
              </a:lnSpc>
              <a:buNone/>
            </a:pPr>
            <a:r>
              <a:rPr lang="en-US" sz="1050" dirty="0">
                <a:solidFill>
                  <a:srgbClr val="9AA1B4"/>
                </a:solidFill>
                <a:latin typeface="Calibri" pitchFamily="34" charset="0"/>
                <a:ea typeface="Calibri" pitchFamily="34" charset="-122"/>
                <a:cs typeface="Calibri" pitchFamily="34" charset="-120"/>
              </a:rPr>
              <a:t>The one judgement call rather than a build is the word-count recommendation in question six — which you asked us for.</a:t>
            </a:r>
            <a:endParaRPr lang="en-US" sz="1050" dirty="0"/>
          </a:p>
        </p:txBody>
      </p:sp>
      <p:sp>
        <p:nvSpPr>
          <p:cNvPr id="43" name="Shape 41"/>
          <p:cNvSpPr/>
          <p:nvPr/>
        </p:nvSpPr>
        <p:spPr>
          <a:xfrm>
            <a:off x="548640" y="5468112"/>
            <a:ext cx="5577840" cy="1005840"/>
          </a:xfrm>
          <a:prstGeom prst="roundRect">
            <a:avLst>
              <a:gd name="adj" fmla="val 7273"/>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44" name="Text 42"/>
          <p:cNvSpPr/>
          <p:nvPr/>
        </p:nvSpPr>
        <p:spPr>
          <a:xfrm>
            <a:off x="822960" y="5577840"/>
            <a:ext cx="5120640" cy="320040"/>
          </a:xfrm>
          <a:prstGeom prst="rect">
            <a:avLst/>
          </a:prstGeom>
          <a:noFill/>
          <a:ln/>
        </p:spPr>
        <p:txBody>
          <a:bodyPr wrap="square" lIns="0" tIns="0" rIns="0" bIns="0" rtlCol="0" anchor="ctr"/>
          <a:lstStyle/>
          <a:p>
            <a:pPr indent="0" marL="0">
              <a:buNone/>
            </a:pPr>
            <a:r>
              <a:rPr lang="en-US" sz="1400" b="1" dirty="0">
                <a:solidFill>
                  <a:srgbClr val="6C8CFF"/>
                </a:solidFill>
                <a:latin typeface="Calibri" pitchFamily="34" charset="0"/>
                <a:ea typeface="Calibri" pitchFamily="34" charset="-122"/>
                <a:cs typeface="Calibri" pitchFamily="34" charset="-120"/>
              </a:rPr>
              <a:t>Two gaps you did not ask about were also closed.</a:t>
            </a:r>
            <a:endParaRPr lang="en-US" sz="1400" dirty="0"/>
          </a:p>
        </p:txBody>
      </p:sp>
      <p:sp>
        <p:nvSpPr>
          <p:cNvPr id="45" name="Text 43"/>
          <p:cNvSpPr/>
          <p:nvPr/>
        </p:nvSpPr>
        <p:spPr>
          <a:xfrm>
            <a:off x="822960" y="5897880"/>
            <a:ext cx="5120640" cy="502920"/>
          </a:xfrm>
          <a:prstGeom prst="rect">
            <a:avLst/>
          </a:prstGeom>
          <a:noFill/>
          <a:ln/>
        </p:spPr>
        <p:txBody>
          <a:bodyPr wrap="square" lIns="0" tIns="0" rIns="0" bIns="0" rtlCol="0" anchor="ctr"/>
          <a:lstStyle/>
          <a:p>
            <a:pPr indent="0" marL="0">
              <a:buNone/>
            </a:pPr>
            <a:r>
              <a:rPr lang="en-US" sz="1050" dirty="0">
                <a:solidFill>
                  <a:srgbClr val="9AA1B4"/>
                </a:solidFill>
                <a:latin typeface="Calibri" pitchFamily="34" charset="0"/>
                <a:ea typeface="Calibri" pitchFamily="34" charset="-122"/>
                <a:cs typeface="Calibri" pitchFamily="34" charset="-120"/>
              </a:rPr>
              <a:t>We found them while working through your list. They are on slide 14.</a:t>
            </a:r>
            <a:endParaRPr lang="en-US" sz="1050" dirty="0"/>
          </a:p>
        </p:txBody>
      </p:sp>
      <p:sp>
        <p:nvSpPr>
          <p:cNvPr id="46" name="Text 44"/>
          <p:cNvSpPr/>
          <p:nvPr/>
        </p:nvSpPr>
        <p:spPr>
          <a:xfrm>
            <a:off x="548640" y="6537960"/>
            <a:ext cx="6400800" cy="274320"/>
          </a:xfrm>
          <a:prstGeom prst="rect">
            <a:avLst/>
          </a:prstGeom>
          <a:noFill/>
          <a:ln/>
        </p:spPr>
        <p:txBody>
          <a:bodyPr wrap="square" lIns="0" tIns="0" rIns="0" bIns="0" rtlCol="0" anchor="ctr"/>
          <a:lstStyle/>
          <a:p>
            <a:pPr indent="0" marL="0">
              <a:buNone/>
            </a:pPr>
            <a:r>
              <a:rPr lang="en-US" sz="900" dirty="0">
                <a:solidFill>
                  <a:srgbClr val="9AA1B4"/>
                </a:solidFill>
                <a:latin typeface="Calibri" pitchFamily="34" charset="0"/>
                <a:ea typeface="Calibri" pitchFamily="34" charset="-122"/>
                <a:cs typeface="Calibri" pitchFamily="34" charset="-120"/>
              </a:rPr>
              <a:t>Gaming Community Pulse v2 — prepared for Ruisheng Holdings</a:t>
            </a:r>
            <a:endParaRPr lang="en-US" sz="900" dirty="0"/>
          </a:p>
        </p:txBody>
      </p:sp>
      <p:sp>
        <p:nvSpPr>
          <p:cNvPr id="47" name="Text 45"/>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1B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6C8CFF"/>
                </a:solidFill>
                <a:latin typeface="Calibri" pitchFamily="34" charset="0"/>
                <a:ea typeface="Calibri" pitchFamily="34" charset="-122"/>
                <a:cs typeface="Calibri" pitchFamily="34" charset="-120"/>
              </a:rPr>
              <a:t>QUESTION 1 — SENTIMENT</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E8EAF0"/>
                </a:solidFill>
                <a:latin typeface="Cambria" pitchFamily="34" charset="0"/>
                <a:ea typeface="Cambria" pitchFamily="34" charset="-122"/>
                <a:cs typeface="Cambria" pitchFamily="34" charset="-120"/>
              </a:rPr>
              <a:t>Your example was right. Here is the old scorer failing, twice.</a:t>
            </a:r>
            <a:endParaRPr lang="en-US" sz="2800" dirty="0"/>
          </a:p>
        </p:txBody>
      </p:sp>
      <p:sp>
        <p:nvSpPr>
          <p:cNvPr id="4" name="Shape 2"/>
          <p:cNvSpPr/>
          <p:nvPr/>
        </p:nvSpPr>
        <p:spPr>
          <a:xfrm>
            <a:off x="548640" y="1371600"/>
            <a:ext cx="11064240" cy="749808"/>
          </a:xfrm>
          <a:prstGeom prst="roundRect">
            <a:avLst>
              <a:gd name="adj" fmla="val 9756"/>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685800" y="1517904"/>
            <a:ext cx="91440" cy="457200"/>
          </a:xfrm>
          <a:prstGeom prst="roundRect">
            <a:avLst>
              <a:gd name="adj" fmla="val 50000"/>
            </a:avLst>
          </a:prstGeom>
          <a:solidFill>
            <a:srgbClr val="6C8CFF"/>
          </a:solidFill>
          <a:ln/>
        </p:spPr>
      </p:sp>
      <p:sp>
        <p:nvSpPr>
          <p:cNvPr id="6" name="Text 4"/>
          <p:cNvSpPr/>
          <p:nvPr/>
        </p:nvSpPr>
        <p:spPr>
          <a:xfrm>
            <a:off x="932688" y="1463040"/>
            <a:ext cx="10515600" cy="566928"/>
          </a:xfrm>
          <a:prstGeom prst="rect">
            <a:avLst/>
          </a:prstGeom>
          <a:noFill/>
          <a:ln/>
        </p:spPr>
        <p:txBody>
          <a:bodyPr wrap="square" lIns="0" tIns="0" rIns="0" bIns="0" rtlCol="0" anchor="ctr"/>
          <a:lstStyle/>
          <a:p>
            <a:pPr indent="0" marL="0">
              <a:lnSpc>
                <a:spcPct val="105000"/>
              </a:lnSpc>
              <a:buNone/>
            </a:pPr>
            <a:r>
              <a:rPr lang="en-US" sz="1250" i="1" dirty="0">
                <a:solidFill>
                  <a:srgbClr val="E8EAF0"/>
                </a:solidFill>
                <a:latin typeface="Cambria" pitchFamily="34" charset="0"/>
                <a:ea typeface="Cambria" pitchFamily="34" charset="-122"/>
                <a:cs typeface="Cambria" pitchFamily="34" charset="-120"/>
              </a:rPr>
              <a:t>“Could you clarify how the current sentiment analysis works and whether it could be developed beyond keyword-based matching? … sarcasm or irony can result in a statement such as ‘This game is amazing’ expressing a negative sentiment.”</a:t>
            </a:r>
            <a:endParaRPr lang="en-US" sz="1250" dirty="0"/>
          </a:p>
        </p:txBody>
      </p:sp>
      <p:sp>
        <p:nvSpPr>
          <p:cNvPr id="7" name="Shape 5"/>
          <p:cNvSpPr/>
          <p:nvPr/>
        </p:nvSpPr>
        <p:spPr>
          <a:xfrm>
            <a:off x="548640" y="2267712"/>
            <a:ext cx="5349240" cy="2578608"/>
          </a:xfrm>
          <a:prstGeom prst="roundRect">
            <a:avLst>
              <a:gd name="adj" fmla="val 2837"/>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8" name="Shape 6"/>
          <p:cNvSpPr/>
          <p:nvPr/>
        </p:nvSpPr>
        <p:spPr>
          <a:xfrm>
            <a:off x="566928" y="2450592"/>
            <a:ext cx="91440" cy="2212848"/>
          </a:xfrm>
          <a:prstGeom prst="roundRect">
            <a:avLst>
              <a:gd name="adj" fmla="val 50000"/>
            </a:avLst>
          </a:prstGeom>
          <a:solidFill>
            <a:srgbClr val="FF6B6B"/>
          </a:solidFill>
          <a:ln/>
        </p:spPr>
      </p:sp>
      <p:sp>
        <p:nvSpPr>
          <p:cNvPr id="9" name="Text 7"/>
          <p:cNvSpPr/>
          <p:nvPr/>
        </p:nvSpPr>
        <p:spPr>
          <a:xfrm>
            <a:off x="868680" y="2432304"/>
            <a:ext cx="4754880" cy="274320"/>
          </a:xfrm>
          <a:prstGeom prst="rect">
            <a:avLst/>
          </a:prstGeom>
          <a:noFill/>
          <a:ln/>
        </p:spPr>
        <p:txBody>
          <a:bodyPr wrap="square" lIns="0" tIns="0" rIns="0" bIns="0" rtlCol="0" anchor="ctr"/>
          <a:lstStyle/>
          <a:p>
            <a:pPr indent="0" marL="0">
              <a:buNone/>
            </a:pPr>
            <a:r>
              <a:rPr lang="en-US" sz="1000" b="1" spc="100" kern="0" dirty="0">
                <a:solidFill>
                  <a:srgbClr val="9AA1B4"/>
                </a:solidFill>
                <a:latin typeface="Calibri" pitchFamily="34" charset="0"/>
                <a:ea typeface="Calibri" pitchFamily="34" charset="-122"/>
                <a:cs typeface="Calibri" pitchFamily="34" charset="-120"/>
              </a:rPr>
              <a:t>VERSION 1 SCORED THIS</a:t>
            </a:r>
            <a:endParaRPr lang="en-US" sz="1000" dirty="0"/>
          </a:p>
        </p:txBody>
      </p:sp>
      <p:sp>
        <p:nvSpPr>
          <p:cNvPr id="10" name="Text 8"/>
          <p:cNvSpPr/>
          <p:nvPr/>
        </p:nvSpPr>
        <p:spPr>
          <a:xfrm>
            <a:off x="868680" y="2724912"/>
            <a:ext cx="4754880" cy="475488"/>
          </a:xfrm>
          <a:prstGeom prst="rect">
            <a:avLst/>
          </a:prstGeom>
          <a:noFill/>
          <a:ln/>
        </p:spPr>
        <p:txBody>
          <a:bodyPr wrap="square" lIns="0" tIns="0" rIns="0" bIns="0" rtlCol="0" anchor="ctr"/>
          <a:lstStyle/>
          <a:p>
            <a:pPr indent="0" marL="0">
              <a:buNone/>
            </a:pPr>
            <a:r>
              <a:rPr lang="en-US" sz="1900" i="1" dirty="0">
                <a:solidFill>
                  <a:srgbClr val="E8EAF0"/>
                </a:solidFill>
                <a:latin typeface="Cambria" pitchFamily="34" charset="0"/>
                <a:ea typeface="Cambria" pitchFamily="34" charset="-122"/>
                <a:cs typeface="Cambria" pitchFamily="34" charset="-120"/>
              </a:rPr>
              <a:t>“This game is not good at all”</a:t>
            </a:r>
            <a:endParaRPr lang="en-US" sz="1900" dirty="0"/>
          </a:p>
        </p:txBody>
      </p:sp>
      <p:sp>
        <p:nvSpPr>
          <p:cNvPr id="11" name="Text 9"/>
          <p:cNvSpPr/>
          <p:nvPr/>
        </p:nvSpPr>
        <p:spPr>
          <a:xfrm>
            <a:off x="868680" y="3236976"/>
            <a:ext cx="1371600" cy="420624"/>
          </a:xfrm>
          <a:prstGeom prst="rect">
            <a:avLst/>
          </a:prstGeom>
          <a:noFill/>
          <a:ln/>
        </p:spPr>
        <p:txBody>
          <a:bodyPr wrap="square" lIns="0" tIns="0" rIns="0" bIns="0" rtlCol="0" anchor="ctr"/>
          <a:lstStyle/>
          <a:p>
            <a:pPr indent="0" marL="0">
              <a:buNone/>
            </a:pPr>
            <a:r>
              <a:rPr lang="en-US" sz="2500" b="1" dirty="0">
                <a:solidFill>
                  <a:srgbClr val="3ECF8E"/>
                </a:solidFill>
                <a:latin typeface="Cambria" pitchFamily="34" charset="0"/>
                <a:ea typeface="Cambria" pitchFamily="34" charset="-122"/>
                <a:cs typeface="Cambria" pitchFamily="34" charset="-120"/>
              </a:rPr>
              <a:t>+0.33</a:t>
            </a:r>
            <a:endParaRPr lang="en-US" sz="2500" dirty="0"/>
          </a:p>
        </p:txBody>
      </p:sp>
      <p:sp>
        <p:nvSpPr>
          <p:cNvPr id="12" name="Text 10"/>
          <p:cNvSpPr/>
          <p:nvPr/>
        </p:nvSpPr>
        <p:spPr>
          <a:xfrm>
            <a:off x="2240280" y="3291840"/>
            <a:ext cx="3291840" cy="347472"/>
          </a:xfrm>
          <a:prstGeom prst="rect">
            <a:avLst/>
          </a:prstGeom>
          <a:noFill/>
          <a:ln/>
        </p:spPr>
        <p:txBody>
          <a:bodyPr wrap="square" lIns="0" tIns="0" rIns="0" bIns="0" rtlCol="0" anchor="ctr"/>
          <a:lstStyle/>
          <a:p>
            <a:pPr indent="0" marL="0">
              <a:buNone/>
            </a:pPr>
            <a:r>
              <a:rPr lang="en-US" sz="1300" b="1" dirty="0">
                <a:solidFill>
                  <a:srgbClr val="3ECF8E"/>
                </a:solidFill>
                <a:latin typeface="Calibri" pitchFamily="34" charset="0"/>
                <a:ea typeface="Calibri" pitchFamily="34" charset="-122"/>
                <a:cs typeface="Calibri" pitchFamily="34" charset="-120"/>
              </a:rPr>
              <a:t>scored POSITIVE</a:t>
            </a:r>
            <a:endParaRPr lang="en-US" sz="1300" dirty="0"/>
          </a:p>
        </p:txBody>
      </p:sp>
      <p:sp>
        <p:nvSpPr>
          <p:cNvPr id="13" name="Text 11"/>
          <p:cNvSpPr/>
          <p:nvPr/>
        </p:nvSpPr>
        <p:spPr>
          <a:xfrm>
            <a:off x="868680" y="3694176"/>
            <a:ext cx="4754880" cy="475488"/>
          </a:xfrm>
          <a:prstGeom prst="rect">
            <a:avLst/>
          </a:prstGeom>
          <a:noFill/>
          <a:ln/>
        </p:spPr>
        <p:txBody>
          <a:bodyPr wrap="square" lIns="0" tIns="0" rIns="0" bIns="0" rtlCol="0" anchor="ctr"/>
          <a:lstStyle/>
          <a:p>
            <a:pPr indent="0" marL="0">
              <a:lnSpc>
                <a:spcPct val="110000"/>
              </a:lnSpc>
              <a:buNone/>
            </a:pPr>
            <a:r>
              <a:rPr lang="en-US" sz="1100" dirty="0">
                <a:solidFill>
                  <a:srgbClr val="9AA1B4"/>
                </a:solidFill>
                <a:latin typeface="Calibri" pitchFamily="34" charset="0"/>
                <a:ea typeface="Calibri" pitchFamily="34" charset="-122"/>
                <a:cs typeface="Calibri" pitchFamily="34" charset="-120"/>
              </a:rPr>
              <a:t>The word good was matched. Nothing in the scorer reversed it.</a:t>
            </a:r>
            <a:endParaRPr lang="en-US" sz="1100" dirty="0"/>
          </a:p>
        </p:txBody>
      </p:sp>
      <p:sp>
        <p:nvSpPr>
          <p:cNvPr id="14" name="Shape 12"/>
          <p:cNvSpPr/>
          <p:nvPr/>
        </p:nvSpPr>
        <p:spPr>
          <a:xfrm>
            <a:off x="868680" y="4224528"/>
            <a:ext cx="4754880" cy="10973"/>
          </a:xfrm>
          <a:prstGeom prst="rect">
            <a:avLst/>
          </a:prstGeom>
          <a:solidFill>
            <a:srgbClr val="2A2F40"/>
          </a:solidFill>
          <a:ln/>
        </p:spPr>
      </p:sp>
      <p:sp>
        <p:nvSpPr>
          <p:cNvPr id="15" name="Text 13"/>
          <p:cNvSpPr/>
          <p:nvPr/>
        </p:nvSpPr>
        <p:spPr>
          <a:xfrm>
            <a:off x="868680" y="4315968"/>
            <a:ext cx="2103120" cy="310896"/>
          </a:xfrm>
          <a:prstGeom prst="rect">
            <a:avLst/>
          </a:prstGeom>
          <a:noFill/>
          <a:ln/>
        </p:spPr>
        <p:txBody>
          <a:bodyPr wrap="square" lIns="0" tIns="0" rIns="0" bIns="0" rtlCol="0" anchor="ctr"/>
          <a:lstStyle/>
          <a:p>
            <a:pPr indent="0" marL="0">
              <a:buNone/>
            </a:pPr>
            <a:r>
              <a:rPr lang="en-US" sz="1100" dirty="0">
                <a:solidFill>
                  <a:srgbClr val="9AA1B4"/>
                </a:solidFill>
                <a:latin typeface="Calibri" pitchFamily="34" charset="0"/>
                <a:ea typeface="Calibri" pitchFamily="34" charset="-122"/>
                <a:cs typeface="Calibri" pitchFamily="34" charset="-120"/>
              </a:rPr>
              <a:t>Version 2 scores it</a:t>
            </a:r>
            <a:endParaRPr lang="en-US" sz="1100" dirty="0"/>
          </a:p>
        </p:txBody>
      </p:sp>
      <p:sp>
        <p:nvSpPr>
          <p:cNvPr id="16" name="Text 14"/>
          <p:cNvSpPr/>
          <p:nvPr/>
        </p:nvSpPr>
        <p:spPr>
          <a:xfrm>
            <a:off x="2880360" y="4279392"/>
            <a:ext cx="1097280" cy="384048"/>
          </a:xfrm>
          <a:prstGeom prst="rect">
            <a:avLst/>
          </a:prstGeom>
          <a:noFill/>
          <a:ln/>
        </p:spPr>
        <p:txBody>
          <a:bodyPr wrap="square" lIns="0" tIns="0" rIns="0" bIns="0" rtlCol="0" anchor="ctr"/>
          <a:lstStyle/>
          <a:p>
            <a:pPr indent="0" marL="0">
              <a:buNone/>
            </a:pPr>
            <a:r>
              <a:rPr lang="en-US" sz="2300" b="1" dirty="0">
                <a:solidFill>
                  <a:srgbClr val="FF6B6B"/>
                </a:solidFill>
                <a:latin typeface="Cambria" pitchFamily="34" charset="0"/>
                <a:ea typeface="Cambria" pitchFamily="34" charset="-122"/>
                <a:cs typeface="Cambria" pitchFamily="34" charset="-120"/>
              </a:rPr>
              <a:t>−30</a:t>
            </a:r>
            <a:endParaRPr lang="en-US" sz="2300" dirty="0"/>
          </a:p>
        </p:txBody>
      </p:sp>
      <p:sp>
        <p:nvSpPr>
          <p:cNvPr id="17" name="Text 15"/>
          <p:cNvSpPr/>
          <p:nvPr/>
        </p:nvSpPr>
        <p:spPr>
          <a:xfrm>
            <a:off x="3977640" y="4334256"/>
            <a:ext cx="1554480" cy="310896"/>
          </a:xfrm>
          <a:prstGeom prst="rect">
            <a:avLst/>
          </a:prstGeom>
          <a:noFill/>
          <a:ln/>
        </p:spPr>
        <p:txBody>
          <a:bodyPr wrap="square" lIns="0" tIns="0" rIns="0" bIns="0" rtlCol="0" anchor="ctr"/>
          <a:lstStyle/>
          <a:p>
            <a:pPr indent="0" marL="0">
              <a:buNone/>
            </a:pPr>
            <a:r>
              <a:rPr lang="en-US" sz="1300" b="1" dirty="0">
                <a:solidFill>
                  <a:srgbClr val="FF6B6B"/>
                </a:solidFill>
                <a:latin typeface="Calibri" pitchFamily="34" charset="0"/>
                <a:ea typeface="Calibri" pitchFamily="34" charset="-122"/>
                <a:cs typeface="Calibri" pitchFamily="34" charset="-120"/>
              </a:rPr>
              <a:t>negative</a:t>
            </a:r>
            <a:endParaRPr lang="en-US" sz="1300" dirty="0"/>
          </a:p>
        </p:txBody>
      </p:sp>
      <p:sp>
        <p:nvSpPr>
          <p:cNvPr id="18" name="Shape 16"/>
          <p:cNvSpPr/>
          <p:nvPr/>
        </p:nvSpPr>
        <p:spPr>
          <a:xfrm>
            <a:off x="6263640" y="2267712"/>
            <a:ext cx="5349240" cy="2578608"/>
          </a:xfrm>
          <a:prstGeom prst="roundRect">
            <a:avLst>
              <a:gd name="adj" fmla="val 2837"/>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9" name="Shape 17"/>
          <p:cNvSpPr/>
          <p:nvPr/>
        </p:nvSpPr>
        <p:spPr>
          <a:xfrm>
            <a:off x="6281928" y="2450592"/>
            <a:ext cx="91440" cy="2212848"/>
          </a:xfrm>
          <a:prstGeom prst="roundRect">
            <a:avLst>
              <a:gd name="adj" fmla="val 50000"/>
            </a:avLst>
          </a:prstGeom>
          <a:solidFill>
            <a:srgbClr val="FF6B6B"/>
          </a:solidFill>
          <a:ln/>
        </p:spPr>
      </p:sp>
      <p:sp>
        <p:nvSpPr>
          <p:cNvPr id="20" name="Text 18"/>
          <p:cNvSpPr/>
          <p:nvPr/>
        </p:nvSpPr>
        <p:spPr>
          <a:xfrm>
            <a:off x="6583680" y="2432304"/>
            <a:ext cx="4754880" cy="274320"/>
          </a:xfrm>
          <a:prstGeom prst="rect">
            <a:avLst/>
          </a:prstGeom>
          <a:noFill/>
          <a:ln/>
        </p:spPr>
        <p:txBody>
          <a:bodyPr wrap="square" lIns="0" tIns="0" rIns="0" bIns="0" rtlCol="0" anchor="ctr"/>
          <a:lstStyle/>
          <a:p>
            <a:pPr indent="0" marL="0">
              <a:buNone/>
            </a:pPr>
            <a:r>
              <a:rPr lang="en-US" sz="1000" b="1" spc="100" kern="0" dirty="0">
                <a:solidFill>
                  <a:srgbClr val="9AA1B4"/>
                </a:solidFill>
                <a:latin typeface="Calibri" pitchFamily="34" charset="0"/>
                <a:ea typeface="Calibri" pitchFamily="34" charset="-122"/>
                <a:cs typeface="Calibri" pitchFamily="34" charset="-120"/>
              </a:rPr>
              <a:t>VERSION 1 SCORED THIS</a:t>
            </a:r>
            <a:endParaRPr lang="en-US" sz="1000" dirty="0"/>
          </a:p>
        </p:txBody>
      </p:sp>
      <p:sp>
        <p:nvSpPr>
          <p:cNvPr id="21" name="Text 19"/>
          <p:cNvSpPr/>
          <p:nvPr/>
        </p:nvSpPr>
        <p:spPr>
          <a:xfrm>
            <a:off x="6583680" y="2724912"/>
            <a:ext cx="4754880" cy="475488"/>
          </a:xfrm>
          <a:prstGeom prst="rect">
            <a:avLst/>
          </a:prstGeom>
          <a:noFill/>
          <a:ln/>
        </p:spPr>
        <p:txBody>
          <a:bodyPr wrap="square" lIns="0" tIns="0" rIns="0" bIns="0" rtlCol="0" anchor="ctr"/>
          <a:lstStyle/>
          <a:p>
            <a:pPr indent="0" marL="0">
              <a:buNone/>
            </a:pPr>
            <a:r>
              <a:rPr lang="en-US" sz="1900" i="1" dirty="0">
                <a:solidFill>
                  <a:srgbClr val="E8EAF0"/>
                </a:solidFill>
                <a:latin typeface="Cambria" pitchFamily="34" charset="0"/>
                <a:ea typeface="Cambria" pitchFamily="34" charset="-122"/>
                <a:cs typeface="Cambria" pitchFamily="34" charset="-120"/>
              </a:rPr>
              <a:t>“INSANE 1v5 clutch!!!”</a:t>
            </a:r>
            <a:endParaRPr lang="en-US" sz="1900" dirty="0"/>
          </a:p>
        </p:txBody>
      </p:sp>
      <p:sp>
        <p:nvSpPr>
          <p:cNvPr id="22" name="Text 20"/>
          <p:cNvSpPr/>
          <p:nvPr/>
        </p:nvSpPr>
        <p:spPr>
          <a:xfrm>
            <a:off x="6583680" y="3236976"/>
            <a:ext cx="1371600" cy="420624"/>
          </a:xfrm>
          <a:prstGeom prst="rect">
            <a:avLst/>
          </a:prstGeom>
          <a:noFill/>
          <a:ln/>
        </p:spPr>
        <p:txBody>
          <a:bodyPr wrap="square" lIns="0" tIns="0" rIns="0" bIns="0" rtlCol="0" anchor="ctr"/>
          <a:lstStyle/>
          <a:p>
            <a:pPr indent="0" marL="0">
              <a:buNone/>
            </a:pPr>
            <a:r>
              <a:rPr lang="en-US" sz="2500" b="1" dirty="0">
                <a:solidFill>
                  <a:srgbClr val="FF6B6B"/>
                </a:solidFill>
                <a:latin typeface="Cambria" pitchFamily="34" charset="0"/>
                <a:ea typeface="Cambria" pitchFamily="34" charset="-122"/>
                <a:cs typeface="Cambria" pitchFamily="34" charset="-120"/>
              </a:rPr>
              <a:t>−0.33</a:t>
            </a:r>
            <a:endParaRPr lang="en-US" sz="2500" dirty="0"/>
          </a:p>
        </p:txBody>
      </p:sp>
      <p:sp>
        <p:nvSpPr>
          <p:cNvPr id="23" name="Text 21"/>
          <p:cNvSpPr/>
          <p:nvPr/>
        </p:nvSpPr>
        <p:spPr>
          <a:xfrm>
            <a:off x="7955280" y="3291840"/>
            <a:ext cx="3291840" cy="347472"/>
          </a:xfrm>
          <a:prstGeom prst="rect">
            <a:avLst/>
          </a:prstGeom>
          <a:noFill/>
          <a:ln/>
        </p:spPr>
        <p:txBody>
          <a:bodyPr wrap="square" lIns="0" tIns="0" rIns="0" bIns="0" rtlCol="0" anchor="ctr"/>
          <a:lstStyle/>
          <a:p>
            <a:pPr indent="0" marL="0">
              <a:buNone/>
            </a:pPr>
            <a:r>
              <a:rPr lang="en-US" sz="1300" b="1" dirty="0">
                <a:solidFill>
                  <a:srgbClr val="FF6B6B"/>
                </a:solidFill>
                <a:latin typeface="Calibri" pitchFamily="34" charset="0"/>
                <a:ea typeface="Calibri" pitchFamily="34" charset="-122"/>
                <a:cs typeface="Calibri" pitchFamily="34" charset="-120"/>
              </a:rPr>
              <a:t>scored NEGATIVE</a:t>
            </a:r>
            <a:endParaRPr lang="en-US" sz="1300" dirty="0"/>
          </a:p>
        </p:txBody>
      </p:sp>
      <p:sp>
        <p:nvSpPr>
          <p:cNvPr id="24" name="Text 22"/>
          <p:cNvSpPr/>
          <p:nvPr/>
        </p:nvSpPr>
        <p:spPr>
          <a:xfrm>
            <a:off x="6583680" y="3694176"/>
            <a:ext cx="4754880" cy="475488"/>
          </a:xfrm>
          <a:prstGeom prst="rect">
            <a:avLst/>
          </a:prstGeom>
          <a:noFill/>
          <a:ln/>
        </p:spPr>
        <p:txBody>
          <a:bodyPr wrap="square" lIns="0" tIns="0" rIns="0" bIns="0" rtlCol="0" anchor="ctr"/>
          <a:lstStyle/>
          <a:p>
            <a:pPr indent="0" marL="0">
              <a:lnSpc>
                <a:spcPct val="110000"/>
              </a:lnSpc>
              <a:buNone/>
            </a:pPr>
            <a:r>
              <a:rPr lang="en-US" sz="1100" dirty="0">
                <a:solidFill>
                  <a:srgbClr val="9AA1B4"/>
                </a:solidFill>
                <a:latin typeface="Calibri" pitchFamily="34" charset="0"/>
                <a:ea typeface="Calibri" pitchFamily="34" charset="-122"/>
                <a:cs typeface="Calibri" pitchFamily="34" charset="-120"/>
              </a:rPr>
              <a:t>Insane sat in the negative list, because in general English it is negative. In gaming it is praise.</a:t>
            </a:r>
            <a:endParaRPr lang="en-US" sz="1100" dirty="0"/>
          </a:p>
        </p:txBody>
      </p:sp>
      <p:sp>
        <p:nvSpPr>
          <p:cNvPr id="25" name="Shape 23"/>
          <p:cNvSpPr/>
          <p:nvPr/>
        </p:nvSpPr>
        <p:spPr>
          <a:xfrm>
            <a:off x="6583680" y="4224528"/>
            <a:ext cx="4754880" cy="10973"/>
          </a:xfrm>
          <a:prstGeom prst="rect">
            <a:avLst/>
          </a:prstGeom>
          <a:solidFill>
            <a:srgbClr val="2A2F40"/>
          </a:solidFill>
          <a:ln/>
        </p:spPr>
      </p:sp>
      <p:sp>
        <p:nvSpPr>
          <p:cNvPr id="26" name="Text 24"/>
          <p:cNvSpPr/>
          <p:nvPr/>
        </p:nvSpPr>
        <p:spPr>
          <a:xfrm>
            <a:off x="6583680" y="4315968"/>
            <a:ext cx="2103120" cy="310896"/>
          </a:xfrm>
          <a:prstGeom prst="rect">
            <a:avLst/>
          </a:prstGeom>
          <a:noFill/>
          <a:ln/>
        </p:spPr>
        <p:txBody>
          <a:bodyPr wrap="square" lIns="0" tIns="0" rIns="0" bIns="0" rtlCol="0" anchor="ctr"/>
          <a:lstStyle/>
          <a:p>
            <a:pPr indent="0" marL="0">
              <a:buNone/>
            </a:pPr>
            <a:r>
              <a:rPr lang="en-US" sz="1100" dirty="0">
                <a:solidFill>
                  <a:srgbClr val="9AA1B4"/>
                </a:solidFill>
                <a:latin typeface="Calibri" pitchFamily="34" charset="0"/>
                <a:ea typeface="Calibri" pitchFamily="34" charset="-122"/>
                <a:cs typeface="Calibri" pitchFamily="34" charset="-120"/>
              </a:rPr>
              <a:t>Version 2 scores it</a:t>
            </a:r>
            <a:endParaRPr lang="en-US" sz="1100" dirty="0"/>
          </a:p>
        </p:txBody>
      </p:sp>
      <p:sp>
        <p:nvSpPr>
          <p:cNvPr id="27" name="Text 25"/>
          <p:cNvSpPr/>
          <p:nvPr/>
        </p:nvSpPr>
        <p:spPr>
          <a:xfrm>
            <a:off x="8595360" y="4279392"/>
            <a:ext cx="1097280" cy="384048"/>
          </a:xfrm>
          <a:prstGeom prst="rect">
            <a:avLst/>
          </a:prstGeom>
          <a:noFill/>
          <a:ln/>
        </p:spPr>
        <p:txBody>
          <a:bodyPr wrap="square" lIns="0" tIns="0" rIns="0" bIns="0" rtlCol="0" anchor="ctr"/>
          <a:lstStyle/>
          <a:p>
            <a:pPr indent="0" marL="0">
              <a:buNone/>
            </a:pPr>
            <a:r>
              <a:rPr lang="en-US" sz="2300" b="1" dirty="0">
                <a:solidFill>
                  <a:srgbClr val="3ECF8E"/>
                </a:solidFill>
                <a:latin typeface="Cambria" pitchFamily="34" charset="0"/>
                <a:ea typeface="Cambria" pitchFamily="34" charset="-122"/>
                <a:cs typeface="Cambria" pitchFamily="34" charset="-120"/>
              </a:rPr>
              <a:t>+100</a:t>
            </a:r>
            <a:endParaRPr lang="en-US" sz="2300" dirty="0"/>
          </a:p>
        </p:txBody>
      </p:sp>
      <p:sp>
        <p:nvSpPr>
          <p:cNvPr id="28" name="Text 26"/>
          <p:cNvSpPr/>
          <p:nvPr/>
        </p:nvSpPr>
        <p:spPr>
          <a:xfrm>
            <a:off x="9692640" y="4334256"/>
            <a:ext cx="1554480" cy="310896"/>
          </a:xfrm>
          <a:prstGeom prst="rect">
            <a:avLst/>
          </a:prstGeom>
          <a:noFill/>
          <a:ln/>
        </p:spPr>
        <p:txBody>
          <a:bodyPr wrap="square" lIns="0" tIns="0" rIns="0" bIns="0" rtlCol="0" anchor="ctr"/>
          <a:lstStyle/>
          <a:p>
            <a:pPr indent="0" marL="0">
              <a:buNone/>
            </a:pPr>
            <a:r>
              <a:rPr lang="en-US" sz="1300" b="1" dirty="0">
                <a:solidFill>
                  <a:srgbClr val="3ECF8E"/>
                </a:solidFill>
                <a:latin typeface="Calibri" pitchFamily="34" charset="0"/>
                <a:ea typeface="Calibri" pitchFamily="34" charset="-122"/>
                <a:cs typeface="Calibri" pitchFamily="34" charset="-120"/>
              </a:rPr>
              <a:t>positive</a:t>
            </a:r>
            <a:endParaRPr lang="en-US" sz="1300" dirty="0"/>
          </a:p>
        </p:txBody>
      </p:sp>
      <p:sp>
        <p:nvSpPr>
          <p:cNvPr id="29" name="Shape 27"/>
          <p:cNvSpPr/>
          <p:nvPr/>
        </p:nvSpPr>
        <p:spPr>
          <a:xfrm>
            <a:off x="548640" y="5029200"/>
            <a:ext cx="11064240" cy="1170432"/>
          </a:xfrm>
          <a:prstGeom prst="roundRect">
            <a:avLst>
              <a:gd name="adj" fmla="val 6250"/>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30" name="Text 28"/>
          <p:cNvSpPr/>
          <p:nvPr/>
        </p:nvSpPr>
        <p:spPr>
          <a:xfrm>
            <a:off x="868680" y="5138928"/>
            <a:ext cx="10424160" cy="457200"/>
          </a:xfrm>
          <a:prstGeom prst="rect">
            <a:avLst/>
          </a:prstGeom>
          <a:noFill/>
          <a:ln/>
        </p:spPr>
        <p:txBody>
          <a:bodyPr wrap="square" lIns="0" tIns="0" rIns="0" bIns="0" rtlCol="0" anchor="ctr"/>
          <a:lstStyle/>
          <a:p>
            <a:pPr indent="0" marL="0">
              <a:lnSpc>
                <a:spcPct val="105000"/>
              </a:lnSpc>
              <a:buNone/>
            </a:pPr>
            <a:r>
              <a:rPr lang="en-US" sz="1250" dirty="0">
                <a:solidFill>
                  <a:srgbClr val="E8EAF0"/>
                </a:solidFill>
                <a:latin typeface="Calibri" pitchFamily="34" charset="0"/>
                <a:ea typeface="Calibri" pitchFamily="34" charset="-122"/>
                <a:cs typeface="Calibri" pitchFamily="34" charset="-120"/>
              </a:rPr>
              <a:t>Both are reproducible against the old code, and neither is an edge case. The second systematically mis-scored the most enthusiastic content on Twitch and Discord — the material a marketing team most wants to find.</a:t>
            </a:r>
            <a:endParaRPr lang="en-US" sz="1250" dirty="0"/>
          </a:p>
        </p:txBody>
      </p:sp>
      <p:sp>
        <p:nvSpPr>
          <p:cNvPr id="31" name="Text 29"/>
          <p:cNvSpPr/>
          <p:nvPr/>
        </p:nvSpPr>
        <p:spPr>
          <a:xfrm>
            <a:off x="868680" y="5650992"/>
            <a:ext cx="10424160" cy="384048"/>
          </a:xfrm>
          <a:prstGeom prst="rect">
            <a:avLst/>
          </a:prstGeom>
          <a:noFill/>
          <a:ln/>
        </p:spPr>
        <p:txBody>
          <a:bodyPr wrap="square" lIns="0" tIns="0" rIns="0" bIns="0" rtlCol="0" anchor="ctr"/>
          <a:lstStyle/>
          <a:p>
            <a:pPr indent="0" marL="0">
              <a:buNone/>
            </a:pPr>
            <a:r>
              <a:rPr lang="en-US" sz="1250" b="1" dirty="0">
                <a:solidFill>
                  <a:srgbClr val="6C8CFF"/>
                </a:solidFill>
                <a:latin typeface="Calibri" pitchFamily="34" charset="0"/>
                <a:ea typeface="Calibri" pitchFamily="34" charset="-122"/>
                <a:cs typeface="Calibri" pitchFamily="34" charset="-120"/>
              </a:rPr>
              <a:t>The version 2 figures above are the rebuilt lexicon alone — the fallback layer, with no API key. The semantic layer is better still.</a:t>
            </a:r>
            <a:endParaRPr lang="en-US" sz="1250" dirty="0"/>
          </a:p>
        </p:txBody>
      </p:sp>
      <p:sp>
        <p:nvSpPr>
          <p:cNvPr id="32" name="Text 30"/>
          <p:cNvSpPr/>
          <p:nvPr/>
        </p:nvSpPr>
        <p:spPr>
          <a:xfrm>
            <a:off x="548640" y="6144768"/>
            <a:ext cx="1508760"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WHERE IT LIVES</a:t>
            </a:r>
            <a:endParaRPr lang="en-US" sz="950" dirty="0"/>
          </a:p>
        </p:txBody>
      </p:sp>
      <p:sp>
        <p:nvSpPr>
          <p:cNvPr id="33" name="Text 31"/>
          <p:cNvSpPr/>
          <p:nvPr/>
        </p:nvSpPr>
        <p:spPr>
          <a:xfrm>
            <a:off x="2057400" y="6144768"/>
            <a:ext cx="9555480" cy="292608"/>
          </a:xfrm>
          <a:prstGeom prst="rect">
            <a:avLst/>
          </a:prstGeom>
          <a:noFill/>
          <a:ln/>
        </p:spPr>
        <p:txBody>
          <a:bodyPr wrap="square" lIns="0" tIns="0" rIns="0" bIns="0" rtlCol="0" anchor="ctr"/>
          <a:lstStyle/>
          <a:p>
            <a:pPr indent="0" marL="0">
              <a:buNone/>
            </a:pPr>
            <a:r>
              <a:rPr lang="en-US" sz="1100" dirty="0">
                <a:solidFill>
                  <a:srgbClr val="6C8CFF"/>
                </a:solidFill>
                <a:latin typeface="Consolas" pitchFamily="34" charset="0"/>
                <a:ea typeface="Consolas" pitchFamily="34" charset="-122"/>
                <a:cs typeface="Consolas" pitchFamily="34" charset="-120"/>
              </a:rPr>
              <a:t>server/lib/sentiment.js  ·  server/lib/nlp.js</a:t>
            </a:r>
            <a:endParaRPr lang="en-US" sz="1100" dirty="0"/>
          </a:p>
        </p:txBody>
      </p:sp>
      <p:sp>
        <p:nvSpPr>
          <p:cNvPr id="34" name="Text 32"/>
          <p:cNvSpPr/>
          <p:nvPr/>
        </p:nvSpPr>
        <p:spPr>
          <a:xfrm>
            <a:off x="548640" y="6537960"/>
            <a:ext cx="6400800" cy="274320"/>
          </a:xfrm>
          <a:prstGeom prst="rect">
            <a:avLst/>
          </a:prstGeom>
          <a:noFill/>
          <a:ln/>
        </p:spPr>
        <p:txBody>
          <a:bodyPr wrap="square" lIns="0" tIns="0" rIns="0" bIns="0" rtlCol="0" anchor="ctr"/>
          <a:lstStyle/>
          <a:p>
            <a:pPr indent="0" marL="0">
              <a:buNone/>
            </a:pPr>
            <a:r>
              <a:rPr lang="en-US" sz="900" dirty="0">
                <a:solidFill>
                  <a:srgbClr val="9AA1B4"/>
                </a:solidFill>
                <a:latin typeface="Calibri" pitchFamily="34" charset="0"/>
                <a:ea typeface="Calibri" pitchFamily="34" charset="-122"/>
                <a:cs typeface="Calibri" pitchFamily="34" charset="-120"/>
              </a:rPr>
              <a:t>Gaming Community Pulse v2 — prepared for Ruisheng Holdings</a:t>
            </a:r>
            <a:endParaRPr lang="en-US" sz="900" dirty="0"/>
          </a:p>
        </p:txBody>
      </p:sp>
      <p:sp>
        <p:nvSpPr>
          <p:cNvPr id="35" name="Text 33"/>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1B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6C8CFF"/>
                </a:solidFill>
                <a:latin typeface="Calibri" pitchFamily="34" charset="0"/>
                <a:ea typeface="Calibri" pitchFamily="34" charset="-122"/>
                <a:cs typeface="Calibri" pitchFamily="34" charset="-120"/>
              </a:rPr>
              <a:t>QUESTION 1 — SENTIMENT</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E8EAF0"/>
                </a:solidFill>
                <a:latin typeface="Cambria" pitchFamily="34" charset="0"/>
                <a:ea typeface="Cambria" pitchFamily="34" charset="-122"/>
                <a:cs typeface="Cambria" pitchFamily="34" charset="-120"/>
              </a:rPr>
              <a:t>Two layers, and one scale everywhere</a:t>
            </a:r>
            <a:endParaRPr lang="en-US" sz="2800" dirty="0"/>
          </a:p>
        </p:txBody>
      </p:sp>
      <p:sp>
        <p:nvSpPr>
          <p:cNvPr id="4" name="Shape 2"/>
          <p:cNvSpPr/>
          <p:nvPr/>
        </p:nvSpPr>
        <p:spPr>
          <a:xfrm>
            <a:off x="548640" y="1417320"/>
            <a:ext cx="5486400" cy="3200400"/>
          </a:xfrm>
          <a:prstGeom prst="roundRect">
            <a:avLst>
              <a:gd name="adj" fmla="val 2286"/>
            </a:avLst>
          </a:prstGeom>
          <a:solidFill>
            <a:srgbClr val="17231E"/>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868680" y="1600200"/>
            <a:ext cx="4846320" cy="274320"/>
          </a:xfrm>
          <a:prstGeom prst="rect">
            <a:avLst/>
          </a:prstGeom>
          <a:noFill/>
          <a:ln/>
        </p:spPr>
        <p:txBody>
          <a:bodyPr wrap="square" lIns="0" tIns="0" rIns="0" bIns="0" rtlCol="0" anchor="ctr"/>
          <a:lstStyle/>
          <a:p>
            <a:pPr indent="0" marL="0">
              <a:buNone/>
            </a:pPr>
            <a:r>
              <a:rPr lang="en-US" sz="1000" b="1" spc="100" kern="0" dirty="0">
                <a:solidFill>
                  <a:srgbClr val="3ECF8E"/>
                </a:solidFill>
                <a:latin typeface="Calibri" pitchFamily="34" charset="0"/>
                <a:ea typeface="Calibri" pitchFamily="34" charset="-122"/>
                <a:cs typeface="Calibri" pitchFamily="34" charset="-120"/>
              </a:rPr>
              <a:t>PRIMARY — SEMANTIC SCORING</a:t>
            </a:r>
            <a:endParaRPr lang="en-US" sz="1000" dirty="0"/>
          </a:p>
        </p:txBody>
      </p:sp>
      <p:sp>
        <p:nvSpPr>
          <p:cNvPr id="6" name="Text 4"/>
          <p:cNvSpPr/>
          <p:nvPr/>
        </p:nvSpPr>
        <p:spPr>
          <a:xfrm>
            <a:off x="868680" y="1920240"/>
            <a:ext cx="4846320" cy="640080"/>
          </a:xfrm>
          <a:prstGeom prst="rect">
            <a:avLst/>
          </a:prstGeom>
          <a:noFill/>
          <a:ln/>
        </p:spPr>
        <p:txBody>
          <a:bodyPr wrap="square" lIns="0" tIns="0" rIns="0" bIns="0" rtlCol="0" anchor="ctr"/>
          <a:lstStyle/>
          <a:p>
            <a:pPr indent="0" marL="0">
              <a:lnSpc>
                <a:spcPct val="110000"/>
              </a:lnSpc>
              <a:buNone/>
            </a:pPr>
            <a:r>
              <a:rPr lang="en-US" sz="1100" dirty="0">
                <a:solidFill>
                  <a:srgbClr val="9AA1B4"/>
                </a:solidFill>
                <a:latin typeface="Calibri" pitchFamily="34" charset="0"/>
                <a:ea typeface="Calibri" pitchFamily="34" charset="-122"/>
                <a:cs typeface="Calibri" pitchFamily="34" charset="-120"/>
              </a:rPr>
              <a:t>Every record is read by Claude with a schema-constrained response. It judges the author's attitude rather than matching words, and returns in one pass:</a:t>
            </a:r>
            <a:endParaRPr lang="en-US" sz="1100" dirty="0"/>
          </a:p>
        </p:txBody>
      </p:sp>
      <p:sp>
        <p:nvSpPr>
          <p:cNvPr id="7" name="Text 5"/>
          <p:cNvSpPr/>
          <p:nvPr/>
        </p:nvSpPr>
        <p:spPr>
          <a:xfrm>
            <a:off x="868680" y="2578608"/>
            <a:ext cx="4846320" cy="1828800"/>
          </a:xfrm>
          <a:prstGeom prst="rect">
            <a:avLst/>
          </a:prstGeom>
          <a:noFill/>
          <a:ln/>
        </p:spPr>
        <p:txBody>
          <a:bodyPr wrap="square" lIns="0" tIns="0" rIns="0" bIns="0" rtlCol="0" anchor="t"/>
          <a:lstStyle/>
          <a:p>
            <a:pPr marL="177800" indent="-177800">
              <a:lnSpc>
                <a:spcPct val="110000"/>
              </a:lnSpc>
              <a:spcAft>
                <a:spcPts val="400"/>
              </a:spcAft>
              <a:buSzPct val="100000"/>
              <a:buChar char="•"/>
            </a:pPr>
            <a:r>
              <a:rPr lang="en-US" sz="1150" dirty="0">
                <a:solidFill>
                  <a:srgbClr val="E8EAF0"/>
                </a:solidFill>
                <a:latin typeface="Calibri" pitchFamily="34" charset="0"/>
                <a:ea typeface="Calibri" pitchFamily="34" charset="-122"/>
                <a:cs typeface="Calibri" pitchFamily="34" charset="-120"/>
              </a:rPr>
              <a:t>sentiment, −100 to +100</a:t>
            </a:r>
            <a:endParaRPr lang="en-US" sz="1150" dirty="0"/>
          </a:p>
          <a:p>
            <a:pPr marL="177800" indent="-177800">
              <a:lnSpc>
                <a:spcPct val="110000"/>
              </a:lnSpc>
              <a:spcAft>
                <a:spcPts val="400"/>
              </a:spcAft>
              <a:buSzPct val="100000"/>
              <a:buChar char="•"/>
            </a:pPr>
            <a:r>
              <a:rPr lang="en-US" sz="1150" dirty="0">
                <a:solidFill>
                  <a:srgbClr val="E8EAF0"/>
                </a:solidFill>
                <a:latin typeface="Calibri" pitchFamily="34" charset="0"/>
                <a:ea typeface="Calibri" pitchFamily="34" charset="-122"/>
                <a:cs typeface="Calibri" pitchFamily="34" charset="-120"/>
              </a:rPr>
              <a:t>confidence, 0–1, lowered for short or ambiguous text</a:t>
            </a:r>
            <a:endParaRPr lang="en-US" sz="1150" dirty="0"/>
          </a:p>
          <a:p>
            <a:pPr marL="177800" indent="-177800">
              <a:lnSpc>
                <a:spcPct val="110000"/>
              </a:lnSpc>
              <a:spcAft>
                <a:spcPts val="400"/>
              </a:spcAft>
              <a:buSzPct val="100000"/>
              <a:buChar char="•"/>
            </a:pPr>
            <a:r>
              <a:rPr lang="en-US" sz="1150" dirty="0">
                <a:solidFill>
                  <a:srgbClr val="E8EAF0"/>
                </a:solidFill>
                <a:latin typeface="Calibri" pitchFamily="34" charset="0"/>
                <a:ea typeface="Calibri" pitchFamily="34" charset="-122"/>
                <a:cs typeface="Calibri" pitchFamily="34" charset="-120"/>
              </a:rPr>
              <a:t>sarcasm, when the wording differs from the meaning</a:t>
            </a:r>
            <a:endParaRPr lang="en-US" sz="1150" dirty="0"/>
          </a:p>
          <a:p>
            <a:pPr marL="177800" indent="-177800">
              <a:lnSpc>
                <a:spcPct val="110000"/>
              </a:lnSpc>
              <a:spcAft>
                <a:spcPts val="400"/>
              </a:spcAft>
              <a:buSzPct val="100000"/>
              <a:buChar char="•"/>
            </a:pPr>
            <a:r>
              <a:rPr lang="en-US" sz="1150" dirty="0">
                <a:solidFill>
                  <a:srgbClr val="E8EAF0"/>
                </a:solidFill>
                <a:latin typeface="Calibri" pitchFamily="34" charset="0"/>
                <a:ea typeface="Calibri" pitchFamily="34" charset="-122"/>
                <a:cs typeface="Calibri" pitchFamily="34" charset="-120"/>
              </a:rPr>
              <a:t>theme, from a 17-label controlled vocabulary</a:t>
            </a:r>
            <a:endParaRPr lang="en-US" sz="1150" dirty="0"/>
          </a:p>
          <a:p>
            <a:pPr marL="177800" indent="-177800">
              <a:lnSpc>
                <a:spcPct val="110000"/>
              </a:lnSpc>
              <a:spcAft>
                <a:spcPts val="400"/>
              </a:spcAft>
              <a:buSzPct val="100000"/>
              <a:buChar char="•"/>
            </a:pPr>
            <a:r>
              <a:rPr lang="en-US" sz="1150" dirty="0">
                <a:solidFill>
                  <a:srgbClr val="E8EAF0"/>
                </a:solidFill>
                <a:latin typeface="Calibri" pitchFamily="34" charset="0"/>
                <a:ea typeface="Calibri" pitchFamily="34" charset="-122"/>
                <a:cs typeface="Calibri" pitchFamily="34" charset="-120"/>
              </a:rPr>
              <a:t>is_question · is_risk · language</a:t>
            </a:r>
            <a:endParaRPr lang="en-US" sz="1150" dirty="0"/>
          </a:p>
        </p:txBody>
      </p:sp>
      <p:sp>
        <p:nvSpPr>
          <p:cNvPr id="8" name="Text 6"/>
          <p:cNvSpPr/>
          <p:nvPr/>
        </p:nvSpPr>
        <p:spPr>
          <a:xfrm>
            <a:off x="868680" y="4160520"/>
            <a:ext cx="4846320" cy="384048"/>
          </a:xfrm>
          <a:prstGeom prst="rect">
            <a:avLst/>
          </a:prstGeom>
          <a:noFill/>
          <a:ln/>
        </p:spPr>
        <p:txBody>
          <a:bodyPr wrap="square" lIns="0" tIns="0" rIns="0" bIns="0" rtlCol="0" anchor="ctr"/>
          <a:lstStyle/>
          <a:p>
            <a:pPr indent="0" marL="0">
              <a:lnSpc>
                <a:spcPct val="105000"/>
              </a:lnSpc>
              <a:buNone/>
            </a:pPr>
            <a:r>
              <a:rPr lang="en-US" sz="1000" i="1" dirty="0">
                <a:solidFill>
                  <a:srgbClr val="9AA1B4"/>
                </a:solidFill>
                <a:latin typeface="Calibri" pitchFamily="34" charset="0"/>
                <a:ea typeface="Calibri" pitchFamily="34" charset="-122"/>
                <a:cs typeface="Calibri" pitchFamily="34" charset="-120"/>
              </a:rPr>
              <a:t>Batched 40 records at a time, four batches in parallel, cached by content hash — a repeat refresh only pays for genuinely new text.</a:t>
            </a:r>
            <a:endParaRPr lang="en-US" sz="1000" dirty="0"/>
          </a:p>
        </p:txBody>
      </p:sp>
      <p:sp>
        <p:nvSpPr>
          <p:cNvPr id="9" name="Shape 7"/>
          <p:cNvSpPr/>
          <p:nvPr/>
        </p:nvSpPr>
        <p:spPr>
          <a:xfrm>
            <a:off x="6263640" y="1417320"/>
            <a:ext cx="5349240" cy="3200400"/>
          </a:xfrm>
          <a:prstGeom prst="roundRect">
            <a:avLst>
              <a:gd name="adj" fmla="val 2286"/>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0" name="Text 8"/>
          <p:cNvSpPr/>
          <p:nvPr/>
        </p:nvSpPr>
        <p:spPr>
          <a:xfrm>
            <a:off x="6583680" y="1600200"/>
            <a:ext cx="4709160" cy="274320"/>
          </a:xfrm>
          <a:prstGeom prst="rect">
            <a:avLst/>
          </a:prstGeom>
          <a:noFill/>
          <a:ln/>
        </p:spPr>
        <p:txBody>
          <a:bodyPr wrap="square" lIns="0" tIns="0" rIns="0" bIns="0" rtlCol="0" anchor="ctr"/>
          <a:lstStyle/>
          <a:p>
            <a:pPr indent="0" marL="0">
              <a:buNone/>
            </a:pPr>
            <a:r>
              <a:rPr lang="en-US" sz="1000" b="1" spc="100" kern="0" dirty="0">
                <a:solidFill>
                  <a:srgbClr val="F5C451"/>
                </a:solidFill>
                <a:latin typeface="Calibri" pitchFamily="34" charset="0"/>
                <a:ea typeface="Calibri" pitchFamily="34" charset="-122"/>
                <a:cs typeface="Calibri" pitchFamily="34" charset="-120"/>
              </a:rPr>
              <a:t>FALLBACK — GAMING-TUNED LEXICON</a:t>
            </a:r>
            <a:endParaRPr lang="en-US" sz="1000" dirty="0"/>
          </a:p>
        </p:txBody>
      </p:sp>
      <p:sp>
        <p:nvSpPr>
          <p:cNvPr id="11" name="Text 9"/>
          <p:cNvSpPr/>
          <p:nvPr/>
        </p:nvSpPr>
        <p:spPr>
          <a:xfrm>
            <a:off x="6583680" y="1920240"/>
            <a:ext cx="4709160" cy="411480"/>
          </a:xfrm>
          <a:prstGeom prst="rect">
            <a:avLst/>
          </a:prstGeom>
          <a:noFill/>
          <a:ln/>
        </p:spPr>
        <p:txBody>
          <a:bodyPr wrap="square" lIns="0" tIns="0" rIns="0" bIns="0" rtlCol="0" anchor="ctr"/>
          <a:lstStyle/>
          <a:p>
            <a:pPr indent="0" marL="0">
              <a:buNone/>
            </a:pPr>
            <a:r>
              <a:rPr lang="en-US" sz="1100" dirty="0">
                <a:solidFill>
                  <a:srgbClr val="9AA1B4"/>
                </a:solidFill>
                <a:latin typeface="Calibri" pitchFamily="34" charset="0"/>
                <a:ea typeface="Calibri" pitchFamily="34" charset="-122"/>
                <a:cs typeface="Calibri" pitchFamily="34" charset="-120"/>
              </a:rPr>
              <a:t>Runs when no API key is configured, or when a batch errors. It is not the old lexicon. It now handles:</a:t>
            </a:r>
            <a:endParaRPr lang="en-US" sz="1100" dirty="0"/>
          </a:p>
        </p:txBody>
      </p:sp>
      <p:sp>
        <p:nvSpPr>
          <p:cNvPr id="12" name="Text 10"/>
          <p:cNvSpPr/>
          <p:nvPr/>
        </p:nvSpPr>
        <p:spPr>
          <a:xfrm>
            <a:off x="6583680" y="2377440"/>
            <a:ext cx="4709160" cy="2011680"/>
          </a:xfrm>
          <a:prstGeom prst="rect">
            <a:avLst/>
          </a:prstGeom>
          <a:noFill/>
          <a:ln/>
        </p:spPr>
        <p:txBody>
          <a:bodyPr wrap="square" lIns="0" tIns="0" rIns="0" bIns="0" rtlCol="0" anchor="t"/>
          <a:lstStyle/>
          <a:p>
            <a:pPr marL="177800" indent="-177800">
              <a:lnSpc>
                <a:spcPct val="110000"/>
              </a:lnSpc>
              <a:spcAft>
                <a:spcPts val="300"/>
              </a:spcAft>
              <a:buSzPct val="100000"/>
              <a:buChar char="•"/>
            </a:pPr>
            <a:r>
              <a:rPr lang="en-US" sz="1150" dirty="0">
                <a:solidFill>
                  <a:srgbClr val="E8EAF0"/>
                </a:solidFill>
                <a:latin typeface="Calibri" pitchFamily="34" charset="0"/>
                <a:ea typeface="Calibri" pitchFamily="34" charset="-122"/>
                <a:cs typeface="Calibri" pitchFamily="34" charset="-120"/>
              </a:rPr>
              <a:t>negation in a three-token window, damped not mirrored</a:t>
            </a:r>
            <a:endParaRPr lang="en-US" sz="1150" dirty="0"/>
          </a:p>
          <a:p>
            <a:pPr marL="177800" indent="-177800">
              <a:lnSpc>
                <a:spcPct val="110000"/>
              </a:lnSpc>
              <a:spcAft>
                <a:spcPts val="300"/>
              </a:spcAft>
              <a:buSzPct val="100000"/>
              <a:buChar char="•"/>
            </a:pPr>
            <a:r>
              <a:rPr lang="en-US" sz="1150" dirty="0">
                <a:solidFill>
                  <a:srgbClr val="E8EAF0"/>
                </a:solidFill>
                <a:latin typeface="Calibri" pitchFamily="34" charset="0"/>
                <a:ea typeface="Calibri" pitchFamily="34" charset="-122"/>
                <a:cs typeface="Calibri" pitchFamily="34" charset="-120"/>
              </a:rPr>
              <a:t>intensifiers and diminishers</a:t>
            </a:r>
            <a:endParaRPr lang="en-US" sz="1150" dirty="0"/>
          </a:p>
          <a:p>
            <a:pPr marL="177800" indent="-177800">
              <a:lnSpc>
                <a:spcPct val="110000"/>
              </a:lnSpc>
              <a:spcAft>
                <a:spcPts val="300"/>
              </a:spcAft>
              <a:buSzPct val="100000"/>
              <a:buChar char="•"/>
            </a:pPr>
            <a:r>
              <a:rPr lang="en-US" sz="1150" dirty="0">
                <a:solidFill>
                  <a:srgbClr val="E8EAF0"/>
                </a:solidFill>
                <a:latin typeface="Calibri" pitchFamily="34" charset="0"/>
                <a:ea typeface="Calibri" pitchFamily="34" charset="-122"/>
                <a:cs typeface="Calibri" pitchFamily="34" charset="-120"/>
              </a:rPr>
              <a:t>gaming slang polarity, corrected</a:t>
            </a:r>
            <a:endParaRPr lang="en-US" sz="1150" dirty="0"/>
          </a:p>
          <a:p>
            <a:pPr marL="177800" indent="-177800">
              <a:lnSpc>
                <a:spcPct val="110000"/>
              </a:lnSpc>
              <a:spcAft>
                <a:spcPts val="300"/>
              </a:spcAft>
              <a:buSzPct val="100000"/>
              <a:buChar char="•"/>
            </a:pPr>
            <a:r>
              <a:rPr lang="en-US" sz="1150" dirty="0">
                <a:solidFill>
                  <a:srgbClr val="E8EAF0"/>
                </a:solidFill>
                <a:latin typeface="Calibri" pitchFamily="34" charset="0"/>
                <a:ea typeface="Calibri" pitchFamily="34" charset="-122"/>
                <a:cs typeface="Calibri" pitchFamily="34" charset="-120"/>
              </a:rPr>
              <a:t>emoji, which the old tokeniser discarded entirely</a:t>
            </a:r>
            <a:endParaRPr lang="en-US" sz="1150" dirty="0"/>
          </a:p>
          <a:p>
            <a:pPr marL="177800" indent="-177800">
              <a:lnSpc>
                <a:spcPct val="110000"/>
              </a:lnSpc>
              <a:spcAft>
                <a:spcPts val="300"/>
              </a:spcAft>
              <a:buSzPct val="100000"/>
              <a:buChar char="•"/>
            </a:pPr>
            <a:r>
              <a:rPr lang="en-US" sz="1150" dirty="0">
                <a:solidFill>
                  <a:srgbClr val="E8EAF0"/>
                </a:solidFill>
                <a:latin typeface="Calibri" pitchFamily="34" charset="0"/>
                <a:ea typeface="Calibri" pitchFamily="34" charset="-122"/>
                <a:cs typeface="Calibri" pitchFamily="34" charset="-120"/>
              </a:rPr>
              <a:t>emphasis — shouting amplifies whatever is there</a:t>
            </a:r>
            <a:endParaRPr lang="en-US" sz="1150" dirty="0"/>
          </a:p>
          <a:p>
            <a:pPr marL="177800" indent="-177800">
              <a:lnSpc>
                <a:spcPct val="110000"/>
              </a:lnSpc>
              <a:spcAft>
                <a:spcPts val="300"/>
              </a:spcAft>
              <a:buSzPct val="100000"/>
              <a:buChar char="•"/>
            </a:pPr>
            <a:r>
              <a:rPr lang="en-US" sz="1150" dirty="0">
                <a:solidFill>
                  <a:srgbClr val="E8EAF0"/>
                </a:solidFill>
                <a:latin typeface="Calibri" pitchFamily="34" charset="0"/>
                <a:ea typeface="Calibri" pitchFamily="34" charset="-122"/>
                <a:cs typeface="Calibri" pitchFamily="34" charset="-120"/>
              </a:rPr>
              <a:t>sarcasm markers, which damp rather than guess</a:t>
            </a:r>
            <a:endParaRPr lang="en-US" sz="1150" dirty="0"/>
          </a:p>
        </p:txBody>
      </p:sp>
      <p:sp>
        <p:nvSpPr>
          <p:cNvPr id="13" name="Shape 11"/>
          <p:cNvSpPr/>
          <p:nvPr/>
        </p:nvSpPr>
        <p:spPr>
          <a:xfrm>
            <a:off x="548640" y="4754880"/>
            <a:ext cx="11064240" cy="1207008"/>
          </a:xfrm>
          <a:prstGeom prst="roundRect">
            <a:avLst>
              <a:gd name="adj" fmla="val 6061"/>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4" name="Text 12"/>
          <p:cNvSpPr/>
          <p:nvPr/>
        </p:nvSpPr>
        <p:spPr>
          <a:xfrm>
            <a:off x="868680" y="4882896"/>
            <a:ext cx="2743200" cy="502920"/>
          </a:xfrm>
          <a:prstGeom prst="rect">
            <a:avLst/>
          </a:prstGeom>
          <a:noFill/>
          <a:ln/>
        </p:spPr>
        <p:txBody>
          <a:bodyPr wrap="square" lIns="0" tIns="0" rIns="0" bIns="0" rtlCol="0" anchor="ctr"/>
          <a:lstStyle/>
          <a:p>
            <a:pPr indent="0" marL="0">
              <a:buNone/>
            </a:pPr>
            <a:r>
              <a:rPr lang="en-US" sz="2400" b="1" dirty="0">
                <a:solidFill>
                  <a:srgbClr val="6C8CFF"/>
                </a:solidFill>
                <a:latin typeface="Cambria" pitchFamily="34" charset="0"/>
                <a:ea typeface="Cambria" pitchFamily="34" charset="-122"/>
                <a:cs typeface="Cambria" pitchFamily="34" charset="-120"/>
              </a:rPr>
              <a:t>−100  to  +100</a:t>
            </a:r>
            <a:endParaRPr lang="en-US" sz="2400" dirty="0"/>
          </a:p>
        </p:txBody>
      </p:sp>
      <p:sp>
        <p:nvSpPr>
          <p:cNvPr id="15" name="Text 13"/>
          <p:cNvSpPr/>
          <p:nvPr/>
        </p:nvSpPr>
        <p:spPr>
          <a:xfrm>
            <a:off x="3749040" y="4864608"/>
            <a:ext cx="7635240" cy="457200"/>
          </a:xfrm>
          <a:prstGeom prst="rect">
            <a:avLst/>
          </a:prstGeom>
          <a:noFill/>
          <a:ln/>
        </p:spPr>
        <p:txBody>
          <a:bodyPr wrap="square" lIns="0" tIns="0" rIns="0" bIns="0" rtlCol="0" anchor="ctr"/>
          <a:lstStyle/>
          <a:p>
            <a:pPr indent="0" marL="0">
              <a:lnSpc>
                <a:spcPct val="105000"/>
              </a:lnSpc>
              <a:buNone/>
            </a:pPr>
            <a:r>
              <a:rPr lang="en-US" sz="1200" dirty="0">
                <a:solidFill>
                  <a:srgbClr val="E8EAF0"/>
                </a:solidFill>
                <a:latin typeface="Calibri" pitchFamily="34" charset="0"/>
                <a:ea typeface="Calibri" pitchFamily="34" charset="-122"/>
                <a:cs typeface="Calibri" pitchFamily="34" charset="-120"/>
              </a:rPr>
              <a:t>The only scale now used. Record scores, game and channel averages, theme sentiment, the time-series overlay, deltas and the headline tile.</a:t>
            </a:r>
            <a:endParaRPr lang="en-US" sz="1200" dirty="0"/>
          </a:p>
        </p:txBody>
      </p:sp>
      <p:sp>
        <p:nvSpPr>
          <p:cNvPr id="16" name="Text 14"/>
          <p:cNvSpPr/>
          <p:nvPr/>
        </p:nvSpPr>
        <p:spPr>
          <a:xfrm>
            <a:off x="868680" y="5413248"/>
            <a:ext cx="10515600" cy="457200"/>
          </a:xfrm>
          <a:prstGeom prst="rect">
            <a:avLst/>
          </a:prstGeom>
          <a:noFill/>
          <a:ln/>
        </p:spPr>
        <p:txBody>
          <a:bodyPr wrap="square" lIns="0" tIns="0" rIns="0" bIns="0" rtlCol="0" anchor="ctr"/>
          <a:lstStyle/>
          <a:p>
            <a:pPr indent="0" marL="0">
              <a:lnSpc>
                <a:spcPct val="105000"/>
              </a:lnSpc>
              <a:buNone/>
            </a:pPr>
            <a:r>
              <a:rPr lang="en-US" sz="1050" dirty="0">
                <a:solidFill>
                  <a:srgbClr val="9AA1B4"/>
                </a:solidFill>
                <a:latin typeface="Calibri" pitchFamily="34" charset="0"/>
                <a:ea typeface="Calibri" pitchFamily="34" charset="-122"/>
                <a:cs typeface="Calibri" pitchFamily="34" charset="-120"/>
              </a:rPr>
              <a:t>Positive above +15, negative below −15, neutral between — the same proportional band as before, so directional comparisons still hold. The dashboard banner always states which engine actually ran, so fallback output is never mistaken for semantic scoring.</a:t>
            </a:r>
            <a:endParaRPr lang="en-US" sz="1050" dirty="0"/>
          </a:p>
        </p:txBody>
      </p:sp>
      <p:sp>
        <p:nvSpPr>
          <p:cNvPr id="17" name="Text 15"/>
          <p:cNvSpPr/>
          <p:nvPr/>
        </p:nvSpPr>
        <p:spPr>
          <a:xfrm>
            <a:off x="548640" y="6144768"/>
            <a:ext cx="1508760"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WHERE IT LIVES</a:t>
            </a:r>
            <a:endParaRPr lang="en-US" sz="950" dirty="0"/>
          </a:p>
        </p:txBody>
      </p:sp>
      <p:sp>
        <p:nvSpPr>
          <p:cNvPr id="18" name="Text 16"/>
          <p:cNvSpPr/>
          <p:nvPr/>
        </p:nvSpPr>
        <p:spPr>
          <a:xfrm>
            <a:off x="2057400" y="6144768"/>
            <a:ext cx="9555480" cy="292608"/>
          </a:xfrm>
          <a:prstGeom prst="rect">
            <a:avLst/>
          </a:prstGeom>
          <a:noFill/>
          <a:ln/>
        </p:spPr>
        <p:txBody>
          <a:bodyPr wrap="square" lIns="0" tIns="0" rIns="0" bIns="0" rtlCol="0" anchor="ctr"/>
          <a:lstStyle/>
          <a:p>
            <a:pPr indent="0" marL="0">
              <a:buNone/>
            </a:pPr>
            <a:r>
              <a:rPr lang="en-US" sz="1100" dirty="0">
                <a:solidFill>
                  <a:srgbClr val="6C8CFF"/>
                </a:solidFill>
                <a:latin typeface="Consolas" pitchFamily="34" charset="0"/>
                <a:ea typeface="Consolas" pitchFamily="34" charset="-122"/>
                <a:cs typeface="Consolas" pitchFamily="34" charset="-120"/>
              </a:rPr>
              <a:t>server/lib/nlp.js  ·  server/lib/sentiment.js</a:t>
            </a:r>
            <a:endParaRPr lang="en-US" sz="1100" dirty="0"/>
          </a:p>
        </p:txBody>
      </p:sp>
      <p:sp>
        <p:nvSpPr>
          <p:cNvPr id="19" name="Text 17"/>
          <p:cNvSpPr/>
          <p:nvPr/>
        </p:nvSpPr>
        <p:spPr>
          <a:xfrm>
            <a:off x="548640" y="6537960"/>
            <a:ext cx="6400800" cy="274320"/>
          </a:xfrm>
          <a:prstGeom prst="rect">
            <a:avLst/>
          </a:prstGeom>
          <a:noFill/>
          <a:ln/>
        </p:spPr>
        <p:txBody>
          <a:bodyPr wrap="square" lIns="0" tIns="0" rIns="0" bIns="0" rtlCol="0" anchor="ctr"/>
          <a:lstStyle/>
          <a:p>
            <a:pPr indent="0" marL="0">
              <a:buNone/>
            </a:pPr>
            <a:r>
              <a:rPr lang="en-US" sz="900" dirty="0">
                <a:solidFill>
                  <a:srgbClr val="9AA1B4"/>
                </a:solidFill>
                <a:latin typeface="Calibri" pitchFamily="34" charset="0"/>
                <a:ea typeface="Calibri" pitchFamily="34" charset="-122"/>
                <a:cs typeface="Calibri" pitchFamily="34" charset="-120"/>
              </a:rPr>
              <a:t>Gaming Community Pulse v2 — prepared for Ruisheng Holdings</a:t>
            </a:r>
            <a:endParaRPr lang="en-US" sz="900" dirty="0"/>
          </a:p>
        </p:txBody>
      </p:sp>
      <p:sp>
        <p:nvSpPr>
          <p:cNvPr id="20" name="Text 18"/>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1B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6C8CFF"/>
                </a:solidFill>
                <a:latin typeface="Calibri" pitchFamily="34" charset="0"/>
                <a:ea typeface="Calibri" pitchFamily="34" charset="-122"/>
                <a:cs typeface="Calibri" pitchFamily="34" charset="-120"/>
              </a:rPr>
              <a:t>QUESTION 2 — ENGAGEMENT</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E8EAF0"/>
                </a:solidFill>
                <a:latin typeface="Cambria" pitchFamily="34" charset="0"/>
                <a:ea typeface="Cambria" pitchFamily="34" charset="-122"/>
                <a:cs typeface="Cambria" pitchFamily="34" charset="-120"/>
              </a:rPr>
              <a:t>The old metric did not deserve an explanation. We replaced it.</a:t>
            </a:r>
            <a:endParaRPr lang="en-US" sz="2800" dirty="0"/>
          </a:p>
        </p:txBody>
      </p:sp>
      <p:sp>
        <p:nvSpPr>
          <p:cNvPr id="4" name="Shape 2"/>
          <p:cNvSpPr/>
          <p:nvPr/>
        </p:nvSpPr>
        <p:spPr>
          <a:xfrm>
            <a:off x="548640" y="1298448"/>
            <a:ext cx="11064240" cy="713232"/>
          </a:xfrm>
          <a:prstGeom prst="roundRect">
            <a:avLst>
              <a:gd name="adj" fmla="val 10256"/>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685800" y="1444752"/>
            <a:ext cx="91440" cy="420624"/>
          </a:xfrm>
          <a:prstGeom prst="roundRect">
            <a:avLst>
              <a:gd name="adj" fmla="val 50000"/>
            </a:avLst>
          </a:prstGeom>
          <a:solidFill>
            <a:srgbClr val="6C8CFF"/>
          </a:solidFill>
          <a:ln/>
        </p:spPr>
      </p:sp>
      <p:sp>
        <p:nvSpPr>
          <p:cNvPr id="6" name="Text 4"/>
          <p:cNvSpPr/>
          <p:nvPr/>
        </p:nvSpPr>
        <p:spPr>
          <a:xfrm>
            <a:off x="932688" y="1389888"/>
            <a:ext cx="10515600" cy="530352"/>
          </a:xfrm>
          <a:prstGeom prst="rect">
            <a:avLst/>
          </a:prstGeom>
          <a:noFill/>
          <a:ln/>
        </p:spPr>
        <p:txBody>
          <a:bodyPr wrap="square" lIns="0" tIns="0" rIns="0" bIns="0" rtlCol="0" anchor="ctr"/>
          <a:lstStyle/>
          <a:p>
            <a:pPr indent="0" marL="0">
              <a:lnSpc>
                <a:spcPct val="105000"/>
              </a:lnSpc>
              <a:buNone/>
            </a:pPr>
            <a:r>
              <a:rPr lang="en-US" sz="1250" i="1" dirty="0">
                <a:solidFill>
                  <a:srgbClr val="E8EAF0"/>
                </a:solidFill>
                <a:latin typeface="Cambria" pitchFamily="34" charset="0"/>
                <a:ea typeface="Cambria" pitchFamily="34" charset="-122"/>
                <a:cs typeface="Cambria" pitchFamily="34" charset="-120"/>
              </a:rPr>
              <a:t>“Could you provide a clear explanation of the formula and logic used to calculate the engagement score? … How is each metric weighted? … Is the score normalised in any way? What does a particular score represent in practical terms?”</a:t>
            </a:r>
            <a:endParaRPr lang="en-US" sz="1250" dirty="0"/>
          </a:p>
        </p:txBody>
      </p:sp>
      <p:sp>
        <p:nvSpPr>
          <p:cNvPr id="7" name="Shape 5"/>
          <p:cNvSpPr/>
          <p:nvPr/>
        </p:nvSpPr>
        <p:spPr>
          <a:xfrm>
            <a:off x="548640" y="2148840"/>
            <a:ext cx="11064240" cy="658368"/>
          </a:xfrm>
          <a:prstGeom prst="roundRect">
            <a:avLst>
              <a:gd name="adj" fmla="val 11111"/>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8" name="Text 6"/>
          <p:cNvSpPr/>
          <p:nvPr/>
        </p:nvSpPr>
        <p:spPr>
          <a:xfrm>
            <a:off x="731520" y="2240280"/>
            <a:ext cx="10698480" cy="475488"/>
          </a:xfrm>
          <a:prstGeom prst="rect">
            <a:avLst/>
          </a:prstGeom>
          <a:noFill/>
          <a:ln/>
        </p:spPr>
        <p:txBody>
          <a:bodyPr wrap="square" lIns="0" tIns="0" rIns="0" bIns="0" rtlCol="0" anchor="ctr"/>
          <a:lstStyle/>
          <a:p>
            <a:pPr algn="ctr" indent="0" marL="0">
              <a:buNone/>
            </a:pPr>
            <a:r>
              <a:rPr lang="en-US" sz="1500" b="1" dirty="0">
                <a:solidFill>
                  <a:srgbClr val="6C8CFF"/>
                </a:solidFill>
                <a:latin typeface="Consolas" pitchFamily="34" charset="0"/>
                <a:ea typeface="Consolas" pitchFamily="34" charset="-122"/>
                <a:cs typeface="Consolas" pitchFamily="34" charset="-120"/>
              </a:rPr>
              <a:t>index = 100 × clamp( ln(1 + Σ metric×weight) / ln(1 + ceiling_platform), 0, 1 )</a:t>
            </a:r>
            <a:endParaRPr lang="en-US" sz="1500" dirty="0"/>
          </a:p>
        </p:txBody>
      </p:sp>
      <p:sp>
        <p:nvSpPr>
          <p:cNvPr id="9" name="Text 7"/>
          <p:cNvSpPr/>
          <p:nvPr/>
        </p:nvSpPr>
        <p:spPr>
          <a:xfrm>
            <a:off x="548640" y="2889504"/>
            <a:ext cx="11064240" cy="292608"/>
          </a:xfrm>
          <a:prstGeom prst="rect">
            <a:avLst/>
          </a:prstGeom>
          <a:noFill/>
          <a:ln/>
        </p:spPr>
        <p:txBody>
          <a:bodyPr wrap="square" lIns="0" tIns="0" rIns="0" bIns="0" rtlCol="0" anchor="ctr"/>
          <a:lstStyle/>
          <a:p>
            <a:pPr algn="ctr" indent="0" marL="0">
              <a:buNone/>
            </a:pPr>
            <a:r>
              <a:rPr lang="en-US" sz="1100" dirty="0">
                <a:solidFill>
                  <a:srgbClr val="9AA1B4"/>
                </a:solidFill>
                <a:latin typeface="Calibri" pitchFamily="34" charset="0"/>
                <a:ea typeface="Calibri" pitchFamily="34" charset="-122"/>
                <a:cs typeface="Calibri" pitchFamily="34" charset="-120"/>
              </a:rPr>
              <a:t>1  Weight each native metric by the author effort it represents     2  Compress logarithmically so one viral post cannot dominate     3  Divide by that platform's own viral ceiling</a:t>
            </a:r>
            <a:endParaRPr lang="en-US" sz="1100" dirty="0"/>
          </a:p>
        </p:txBody>
      </p:sp>
      <p:sp>
        <p:nvSpPr>
          <p:cNvPr id="10" name="Shape 8"/>
          <p:cNvSpPr/>
          <p:nvPr/>
        </p:nvSpPr>
        <p:spPr>
          <a:xfrm>
            <a:off x="548640" y="3255264"/>
            <a:ext cx="7452360" cy="2267712"/>
          </a:xfrm>
          <a:prstGeom prst="roundRect">
            <a:avLst>
              <a:gd name="adj" fmla="val 3226"/>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1" name="Text 9"/>
          <p:cNvSpPr/>
          <p:nvPr/>
        </p:nvSpPr>
        <p:spPr>
          <a:xfrm>
            <a:off x="804672" y="3383280"/>
            <a:ext cx="1070122"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CHANNEL</a:t>
            </a:r>
            <a:endParaRPr lang="en-US" sz="950" dirty="0"/>
          </a:p>
        </p:txBody>
      </p:sp>
      <p:sp>
        <p:nvSpPr>
          <p:cNvPr id="12" name="Text 10"/>
          <p:cNvSpPr/>
          <p:nvPr/>
        </p:nvSpPr>
        <p:spPr>
          <a:xfrm>
            <a:off x="1984522" y="3383280"/>
            <a:ext cx="2388779"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INPUTS AND WEIGHTS</a:t>
            </a:r>
            <a:endParaRPr lang="en-US" sz="950" dirty="0"/>
          </a:p>
        </p:txBody>
      </p:sp>
      <p:sp>
        <p:nvSpPr>
          <p:cNvPr id="13" name="Text 11"/>
          <p:cNvSpPr/>
          <p:nvPr/>
        </p:nvSpPr>
        <p:spPr>
          <a:xfrm>
            <a:off x="4483029" y="3383280"/>
            <a:ext cx="1278331"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VIRAL CEILING</a:t>
            </a:r>
            <a:endParaRPr lang="en-US" sz="950" dirty="0"/>
          </a:p>
        </p:txBody>
      </p:sp>
      <p:sp>
        <p:nvSpPr>
          <p:cNvPr id="14" name="Text 12"/>
          <p:cNvSpPr/>
          <p:nvPr/>
        </p:nvSpPr>
        <p:spPr>
          <a:xfrm>
            <a:off x="5871088" y="3383280"/>
            <a:ext cx="1764152"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AGGREGATION</a:t>
            </a:r>
            <a:endParaRPr lang="en-US" sz="950" dirty="0"/>
          </a:p>
        </p:txBody>
      </p:sp>
      <p:sp>
        <p:nvSpPr>
          <p:cNvPr id="15" name="Shape 13"/>
          <p:cNvSpPr/>
          <p:nvPr/>
        </p:nvSpPr>
        <p:spPr>
          <a:xfrm>
            <a:off x="804672" y="3675888"/>
            <a:ext cx="6940296" cy="9144"/>
          </a:xfrm>
          <a:prstGeom prst="rect">
            <a:avLst/>
          </a:prstGeom>
          <a:solidFill>
            <a:srgbClr val="2A2F40"/>
          </a:solidFill>
          <a:ln/>
        </p:spPr>
      </p:sp>
      <p:sp>
        <p:nvSpPr>
          <p:cNvPr id="16" name="Text 14"/>
          <p:cNvSpPr/>
          <p:nvPr/>
        </p:nvSpPr>
        <p:spPr>
          <a:xfrm>
            <a:off x="804672" y="3694176"/>
            <a:ext cx="1070122" cy="420624"/>
          </a:xfrm>
          <a:prstGeom prst="rect">
            <a:avLst/>
          </a:prstGeom>
          <a:noFill/>
          <a:ln/>
        </p:spPr>
        <p:txBody>
          <a:bodyPr wrap="square" lIns="0" tIns="0" rIns="0" bIns="0" rtlCol="0" anchor="ctr"/>
          <a:lstStyle/>
          <a:p>
            <a:pPr indent="0" marL="0">
              <a:buNone/>
            </a:pPr>
            <a:r>
              <a:rPr lang="en-US" sz="1100" b="1" dirty="0">
                <a:solidFill>
                  <a:srgbClr val="E8EAF0"/>
                </a:solidFill>
                <a:latin typeface="Calibri" pitchFamily="34" charset="0"/>
                <a:ea typeface="Calibri" pitchFamily="34" charset="-122"/>
                <a:cs typeface="Calibri" pitchFamily="34" charset="-120"/>
              </a:rPr>
              <a:t>YouTube</a:t>
            </a:r>
            <a:endParaRPr lang="en-US" sz="1100" dirty="0"/>
          </a:p>
        </p:txBody>
      </p:sp>
      <p:sp>
        <p:nvSpPr>
          <p:cNvPr id="17" name="Text 15"/>
          <p:cNvSpPr/>
          <p:nvPr/>
        </p:nvSpPr>
        <p:spPr>
          <a:xfrm>
            <a:off x="1984522" y="3694176"/>
            <a:ext cx="2388779" cy="420624"/>
          </a:xfrm>
          <a:prstGeom prst="rect">
            <a:avLst/>
          </a:prstGeom>
          <a:noFill/>
          <a:ln/>
        </p:spPr>
        <p:txBody>
          <a:bodyPr wrap="square" lIns="0" tIns="0" rIns="0" bIns="0" rtlCol="0" anchor="ctr"/>
          <a:lstStyle/>
          <a:p>
            <a:pPr indent="0" marL="0">
              <a:buNone/>
            </a:pPr>
            <a:r>
              <a:rPr lang="en-US" sz="1100" dirty="0">
                <a:solidFill>
                  <a:srgbClr val="E8EAF0"/>
                </a:solidFill>
                <a:latin typeface="Consolas" pitchFamily="34" charset="0"/>
                <a:ea typeface="Consolas" pitchFamily="34" charset="-122"/>
                <a:cs typeface="Consolas" pitchFamily="34" charset="-120"/>
              </a:rPr>
              <a:t>likes ×1  +  replies ×3</a:t>
            </a:r>
            <a:endParaRPr lang="en-US" sz="1100" dirty="0"/>
          </a:p>
        </p:txBody>
      </p:sp>
      <p:sp>
        <p:nvSpPr>
          <p:cNvPr id="18" name="Text 16"/>
          <p:cNvSpPr/>
          <p:nvPr/>
        </p:nvSpPr>
        <p:spPr>
          <a:xfrm>
            <a:off x="4483029" y="3694176"/>
            <a:ext cx="1278331" cy="420624"/>
          </a:xfrm>
          <a:prstGeom prst="rect">
            <a:avLst/>
          </a:prstGeom>
          <a:noFill/>
          <a:ln/>
        </p:spPr>
        <p:txBody>
          <a:bodyPr wrap="square" lIns="0" tIns="0" rIns="0" bIns="0" rtlCol="0" anchor="ctr"/>
          <a:lstStyle/>
          <a:p>
            <a:pPr indent="0" marL="0">
              <a:buNone/>
            </a:pPr>
            <a:r>
              <a:rPr lang="en-US" sz="1100" dirty="0">
                <a:solidFill>
                  <a:srgbClr val="F5C451"/>
                </a:solidFill>
                <a:latin typeface="Calibri" pitchFamily="34" charset="0"/>
                <a:ea typeface="Calibri" pitchFamily="34" charset="-122"/>
                <a:cs typeface="Calibri" pitchFamily="34" charset="-120"/>
              </a:rPr>
              <a:t>5,000</a:t>
            </a:r>
            <a:endParaRPr lang="en-US" sz="1100" dirty="0"/>
          </a:p>
        </p:txBody>
      </p:sp>
      <p:sp>
        <p:nvSpPr>
          <p:cNvPr id="19" name="Text 17"/>
          <p:cNvSpPr/>
          <p:nvPr/>
        </p:nvSpPr>
        <p:spPr>
          <a:xfrm>
            <a:off x="5871088" y="3694176"/>
            <a:ext cx="1764152" cy="420624"/>
          </a:xfrm>
          <a:prstGeom prst="rect">
            <a:avLst/>
          </a:prstGeom>
          <a:noFill/>
          <a:ln/>
        </p:spPr>
        <p:txBody>
          <a:bodyPr wrap="square" lIns="0" tIns="0" rIns="0" bIns="0" rtlCol="0" anchor="ctr"/>
          <a:lstStyle/>
          <a:p>
            <a:pPr indent="0" marL="0">
              <a:buNone/>
            </a:pPr>
            <a:r>
              <a:rPr lang="en-US" sz="1100" dirty="0">
                <a:solidFill>
                  <a:srgbClr val="9AA1B4"/>
                </a:solidFill>
                <a:latin typeface="Calibri" pitchFamily="34" charset="0"/>
                <a:ea typeface="Calibri" pitchFamily="34" charset="-122"/>
                <a:cs typeface="Calibri" pitchFamily="34" charset="-120"/>
              </a:rPr>
              <a:t>mean, never sum</a:t>
            </a:r>
            <a:endParaRPr lang="en-US" sz="1100" dirty="0"/>
          </a:p>
        </p:txBody>
      </p:sp>
      <p:sp>
        <p:nvSpPr>
          <p:cNvPr id="20" name="Shape 18"/>
          <p:cNvSpPr/>
          <p:nvPr/>
        </p:nvSpPr>
        <p:spPr>
          <a:xfrm>
            <a:off x="804672" y="4096512"/>
            <a:ext cx="6940296" cy="9144"/>
          </a:xfrm>
          <a:prstGeom prst="rect">
            <a:avLst/>
          </a:prstGeom>
          <a:solidFill>
            <a:srgbClr val="2A2F40"/>
          </a:solidFill>
          <a:ln/>
        </p:spPr>
      </p:sp>
      <p:sp>
        <p:nvSpPr>
          <p:cNvPr id="21" name="Text 19"/>
          <p:cNvSpPr/>
          <p:nvPr/>
        </p:nvSpPr>
        <p:spPr>
          <a:xfrm>
            <a:off x="804672" y="4114800"/>
            <a:ext cx="1070122" cy="420624"/>
          </a:xfrm>
          <a:prstGeom prst="rect">
            <a:avLst/>
          </a:prstGeom>
          <a:noFill/>
          <a:ln/>
        </p:spPr>
        <p:txBody>
          <a:bodyPr wrap="square" lIns="0" tIns="0" rIns="0" bIns="0" rtlCol="0" anchor="ctr"/>
          <a:lstStyle/>
          <a:p>
            <a:pPr indent="0" marL="0">
              <a:buNone/>
            </a:pPr>
            <a:r>
              <a:rPr lang="en-US" sz="1100" b="1" dirty="0">
                <a:solidFill>
                  <a:srgbClr val="E8EAF0"/>
                </a:solidFill>
                <a:latin typeface="Calibri" pitchFamily="34" charset="0"/>
                <a:ea typeface="Calibri" pitchFamily="34" charset="-122"/>
                <a:cs typeface="Calibri" pitchFamily="34" charset="-120"/>
              </a:rPr>
              <a:t>Reddit</a:t>
            </a:r>
            <a:endParaRPr lang="en-US" sz="1100" dirty="0"/>
          </a:p>
        </p:txBody>
      </p:sp>
      <p:sp>
        <p:nvSpPr>
          <p:cNvPr id="22" name="Text 20"/>
          <p:cNvSpPr/>
          <p:nvPr/>
        </p:nvSpPr>
        <p:spPr>
          <a:xfrm>
            <a:off x="1984522" y="4114800"/>
            <a:ext cx="2388779" cy="420624"/>
          </a:xfrm>
          <a:prstGeom prst="rect">
            <a:avLst/>
          </a:prstGeom>
          <a:noFill/>
          <a:ln/>
        </p:spPr>
        <p:txBody>
          <a:bodyPr wrap="square" lIns="0" tIns="0" rIns="0" bIns="0" rtlCol="0" anchor="ctr"/>
          <a:lstStyle/>
          <a:p>
            <a:pPr indent="0" marL="0">
              <a:buNone/>
            </a:pPr>
            <a:r>
              <a:rPr lang="en-US" sz="1100" dirty="0">
                <a:solidFill>
                  <a:srgbClr val="E8EAF0"/>
                </a:solidFill>
                <a:latin typeface="Consolas" pitchFamily="34" charset="0"/>
                <a:ea typeface="Consolas" pitchFamily="34" charset="-122"/>
                <a:cs typeface="Consolas" pitchFamily="34" charset="-120"/>
              </a:rPr>
              <a:t>upvotes ×1  +  comments ×5</a:t>
            </a:r>
            <a:endParaRPr lang="en-US" sz="1100" dirty="0"/>
          </a:p>
        </p:txBody>
      </p:sp>
      <p:sp>
        <p:nvSpPr>
          <p:cNvPr id="23" name="Text 21"/>
          <p:cNvSpPr/>
          <p:nvPr/>
        </p:nvSpPr>
        <p:spPr>
          <a:xfrm>
            <a:off x="4483029" y="4114800"/>
            <a:ext cx="1278331" cy="420624"/>
          </a:xfrm>
          <a:prstGeom prst="rect">
            <a:avLst/>
          </a:prstGeom>
          <a:noFill/>
          <a:ln/>
        </p:spPr>
        <p:txBody>
          <a:bodyPr wrap="square" lIns="0" tIns="0" rIns="0" bIns="0" rtlCol="0" anchor="ctr"/>
          <a:lstStyle/>
          <a:p>
            <a:pPr indent="0" marL="0">
              <a:buNone/>
            </a:pPr>
            <a:r>
              <a:rPr lang="en-US" sz="1100" dirty="0">
                <a:solidFill>
                  <a:srgbClr val="F5C451"/>
                </a:solidFill>
                <a:latin typeface="Calibri" pitchFamily="34" charset="0"/>
                <a:ea typeface="Calibri" pitchFamily="34" charset="-122"/>
                <a:cs typeface="Calibri" pitchFamily="34" charset="-120"/>
              </a:rPr>
              <a:t>20,000</a:t>
            </a:r>
            <a:endParaRPr lang="en-US" sz="1100" dirty="0"/>
          </a:p>
        </p:txBody>
      </p:sp>
      <p:sp>
        <p:nvSpPr>
          <p:cNvPr id="24" name="Text 22"/>
          <p:cNvSpPr/>
          <p:nvPr/>
        </p:nvSpPr>
        <p:spPr>
          <a:xfrm>
            <a:off x="5871088" y="4114800"/>
            <a:ext cx="1764152" cy="420624"/>
          </a:xfrm>
          <a:prstGeom prst="rect">
            <a:avLst/>
          </a:prstGeom>
          <a:noFill/>
          <a:ln/>
        </p:spPr>
        <p:txBody>
          <a:bodyPr wrap="square" lIns="0" tIns="0" rIns="0" bIns="0" rtlCol="0" anchor="ctr"/>
          <a:lstStyle/>
          <a:p>
            <a:pPr indent="0" marL="0">
              <a:buNone/>
            </a:pPr>
            <a:r>
              <a:rPr lang="en-US" sz="1100" dirty="0">
                <a:solidFill>
                  <a:srgbClr val="9AA1B4"/>
                </a:solidFill>
                <a:latin typeface="Calibri" pitchFamily="34" charset="0"/>
                <a:ea typeface="Calibri" pitchFamily="34" charset="-122"/>
                <a:cs typeface="Calibri" pitchFamily="34" charset="-120"/>
              </a:rPr>
              <a:t>mean, never sum</a:t>
            </a:r>
            <a:endParaRPr lang="en-US" sz="1100" dirty="0"/>
          </a:p>
        </p:txBody>
      </p:sp>
      <p:sp>
        <p:nvSpPr>
          <p:cNvPr id="25" name="Shape 23"/>
          <p:cNvSpPr/>
          <p:nvPr/>
        </p:nvSpPr>
        <p:spPr>
          <a:xfrm>
            <a:off x="804672" y="4517136"/>
            <a:ext cx="6940296" cy="9144"/>
          </a:xfrm>
          <a:prstGeom prst="rect">
            <a:avLst/>
          </a:prstGeom>
          <a:solidFill>
            <a:srgbClr val="2A2F40"/>
          </a:solidFill>
          <a:ln/>
        </p:spPr>
      </p:sp>
      <p:sp>
        <p:nvSpPr>
          <p:cNvPr id="26" name="Text 24"/>
          <p:cNvSpPr/>
          <p:nvPr/>
        </p:nvSpPr>
        <p:spPr>
          <a:xfrm>
            <a:off x="804672" y="4535424"/>
            <a:ext cx="1070122" cy="420624"/>
          </a:xfrm>
          <a:prstGeom prst="rect">
            <a:avLst/>
          </a:prstGeom>
          <a:noFill/>
          <a:ln/>
        </p:spPr>
        <p:txBody>
          <a:bodyPr wrap="square" lIns="0" tIns="0" rIns="0" bIns="0" rtlCol="0" anchor="ctr"/>
          <a:lstStyle/>
          <a:p>
            <a:pPr indent="0" marL="0">
              <a:buNone/>
            </a:pPr>
            <a:r>
              <a:rPr lang="en-US" sz="1100" b="1" dirty="0">
                <a:solidFill>
                  <a:srgbClr val="E8EAF0"/>
                </a:solidFill>
                <a:latin typeface="Calibri" pitchFamily="34" charset="0"/>
                <a:ea typeface="Calibri" pitchFamily="34" charset="-122"/>
                <a:cs typeface="Calibri" pitchFamily="34" charset="-120"/>
              </a:rPr>
              <a:t>Discord</a:t>
            </a:r>
            <a:endParaRPr lang="en-US" sz="1100" dirty="0"/>
          </a:p>
        </p:txBody>
      </p:sp>
      <p:sp>
        <p:nvSpPr>
          <p:cNvPr id="27" name="Text 25"/>
          <p:cNvSpPr/>
          <p:nvPr/>
        </p:nvSpPr>
        <p:spPr>
          <a:xfrm>
            <a:off x="1984522" y="4535424"/>
            <a:ext cx="2388779" cy="420624"/>
          </a:xfrm>
          <a:prstGeom prst="rect">
            <a:avLst/>
          </a:prstGeom>
          <a:noFill/>
          <a:ln/>
        </p:spPr>
        <p:txBody>
          <a:bodyPr wrap="square" lIns="0" tIns="0" rIns="0" bIns="0" rtlCol="0" anchor="ctr"/>
          <a:lstStyle/>
          <a:p>
            <a:pPr indent="0" marL="0">
              <a:buNone/>
            </a:pPr>
            <a:r>
              <a:rPr lang="en-US" sz="1100" dirty="0">
                <a:solidFill>
                  <a:srgbClr val="E8EAF0"/>
                </a:solidFill>
                <a:latin typeface="Consolas" pitchFamily="34" charset="0"/>
                <a:ea typeface="Consolas" pitchFamily="34" charset="-122"/>
                <a:cs typeface="Consolas" pitchFamily="34" charset="-120"/>
              </a:rPr>
              <a:t>reactions ×10  +  replies ×5</a:t>
            </a:r>
            <a:endParaRPr lang="en-US" sz="1100" dirty="0"/>
          </a:p>
        </p:txBody>
      </p:sp>
      <p:sp>
        <p:nvSpPr>
          <p:cNvPr id="28" name="Text 26"/>
          <p:cNvSpPr/>
          <p:nvPr/>
        </p:nvSpPr>
        <p:spPr>
          <a:xfrm>
            <a:off x="4483029" y="4535424"/>
            <a:ext cx="1278331" cy="420624"/>
          </a:xfrm>
          <a:prstGeom prst="rect">
            <a:avLst/>
          </a:prstGeom>
          <a:noFill/>
          <a:ln/>
        </p:spPr>
        <p:txBody>
          <a:bodyPr wrap="square" lIns="0" tIns="0" rIns="0" bIns="0" rtlCol="0" anchor="ctr"/>
          <a:lstStyle/>
          <a:p>
            <a:pPr indent="0" marL="0">
              <a:buNone/>
            </a:pPr>
            <a:r>
              <a:rPr lang="en-US" sz="1100" dirty="0">
                <a:solidFill>
                  <a:srgbClr val="F5C451"/>
                </a:solidFill>
                <a:latin typeface="Calibri" pitchFamily="34" charset="0"/>
                <a:ea typeface="Calibri" pitchFamily="34" charset="-122"/>
                <a:cs typeface="Calibri" pitchFamily="34" charset="-120"/>
              </a:rPr>
              <a:t>400</a:t>
            </a:r>
            <a:endParaRPr lang="en-US" sz="1100" dirty="0"/>
          </a:p>
        </p:txBody>
      </p:sp>
      <p:sp>
        <p:nvSpPr>
          <p:cNvPr id="29" name="Text 27"/>
          <p:cNvSpPr/>
          <p:nvPr/>
        </p:nvSpPr>
        <p:spPr>
          <a:xfrm>
            <a:off x="5871088" y="4535424"/>
            <a:ext cx="1764152" cy="420624"/>
          </a:xfrm>
          <a:prstGeom prst="rect">
            <a:avLst/>
          </a:prstGeom>
          <a:noFill/>
          <a:ln/>
        </p:spPr>
        <p:txBody>
          <a:bodyPr wrap="square" lIns="0" tIns="0" rIns="0" bIns="0" rtlCol="0" anchor="ctr"/>
          <a:lstStyle/>
          <a:p>
            <a:pPr indent="0" marL="0">
              <a:buNone/>
            </a:pPr>
            <a:r>
              <a:rPr lang="en-US" sz="1100" dirty="0">
                <a:solidFill>
                  <a:srgbClr val="9AA1B4"/>
                </a:solidFill>
                <a:latin typeface="Calibri" pitchFamily="34" charset="0"/>
                <a:ea typeface="Calibri" pitchFamily="34" charset="-122"/>
                <a:cs typeface="Calibri" pitchFamily="34" charset="-120"/>
              </a:rPr>
              <a:t>mean, never sum</a:t>
            </a:r>
            <a:endParaRPr lang="en-US" sz="1100" dirty="0"/>
          </a:p>
        </p:txBody>
      </p:sp>
      <p:sp>
        <p:nvSpPr>
          <p:cNvPr id="30" name="Shape 28"/>
          <p:cNvSpPr/>
          <p:nvPr/>
        </p:nvSpPr>
        <p:spPr>
          <a:xfrm>
            <a:off x="804672" y="4937760"/>
            <a:ext cx="6940296" cy="9144"/>
          </a:xfrm>
          <a:prstGeom prst="rect">
            <a:avLst/>
          </a:prstGeom>
          <a:solidFill>
            <a:srgbClr val="2A2F40"/>
          </a:solidFill>
          <a:ln/>
        </p:spPr>
      </p:sp>
      <p:sp>
        <p:nvSpPr>
          <p:cNvPr id="31" name="Text 29"/>
          <p:cNvSpPr/>
          <p:nvPr/>
        </p:nvSpPr>
        <p:spPr>
          <a:xfrm>
            <a:off x="804672" y="4956048"/>
            <a:ext cx="1070122" cy="420624"/>
          </a:xfrm>
          <a:prstGeom prst="rect">
            <a:avLst/>
          </a:prstGeom>
          <a:noFill/>
          <a:ln/>
        </p:spPr>
        <p:txBody>
          <a:bodyPr wrap="square" lIns="0" tIns="0" rIns="0" bIns="0" rtlCol="0" anchor="ctr"/>
          <a:lstStyle/>
          <a:p>
            <a:pPr indent="0" marL="0">
              <a:buNone/>
            </a:pPr>
            <a:r>
              <a:rPr lang="en-US" sz="1100" b="1" dirty="0">
                <a:solidFill>
                  <a:srgbClr val="E8EAF0"/>
                </a:solidFill>
                <a:latin typeface="Calibri" pitchFamily="34" charset="0"/>
                <a:ea typeface="Calibri" pitchFamily="34" charset="-122"/>
                <a:cs typeface="Calibri" pitchFamily="34" charset="-120"/>
              </a:rPr>
              <a:t>Twitch</a:t>
            </a:r>
            <a:endParaRPr lang="en-US" sz="1100" dirty="0"/>
          </a:p>
        </p:txBody>
      </p:sp>
      <p:sp>
        <p:nvSpPr>
          <p:cNvPr id="32" name="Text 30"/>
          <p:cNvSpPr/>
          <p:nvPr/>
        </p:nvSpPr>
        <p:spPr>
          <a:xfrm>
            <a:off x="1984522" y="4956048"/>
            <a:ext cx="2388779" cy="420624"/>
          </a:xfrm>
          <a:prstGeom prst="rect">
            <a:avLst/>
          </a:prstGeom>
          <a:noFill/>
          <a:ln/>
        </p:spPr>
        <p:txBody>
          <a:bodyPr wrap="square" lIns="0" tIns="0" rIns="0" bIns="0" rtlCol="0" anchor="ctr"/>
          <a:lstStyle/>
          <a:p>
            <a:pPr indent="0" marL="0">
              <a:buNone/>
            </a:pPr>
            <a:r>
              <a:rPr lang="en-US" sz="1100" dirty="0">
                <a:solidFill>
                  <a:srgbClr val="E8EAF0"/>
                </a:solidFill>
                <a:latin typeface="Consolas" pitchFamily="34" charset="0"/>
                <a:ea typeface="Consolas" pitchFamily="34" charset="-122"/>
                <a:cs typeface="Consolas" pitchFamily="34" charset="-120"/>
              </a:rPr>
              <a:t>clip views ×1</a:t>
            </a:r>
            <a:endParaRPr lang="en-US" sz="1100" dirty="0"/>
          </a:p>
        </p:txBody>
      </p:sp>
      <p:sp>
        <p:nvSpPr>
          <p:cNvPr id="33" name="Text 31"/>
          <p:cNvSpPr/>
          <p:nvPr/>
        </p:nvSpPr>
        <p:spPr>
          <a:xfrm>
            <a:off x="4483029" y="4956048"/>
            <a:ext cx="1278331" cy="420624"/>
          </a:xfrm>
          <a:prstGeom prst="rect">
            <a:avLst/>
          </a:prstGeom>
          <a:noFill/>
          <a:ln/>
        </p:spPr>
        <p:txBody>
          <a:bodyPr wrap="square" lIns="0" tIns="0" rIns="0" bIns="0" rtlCol="0" anchor="ctr"/>
          <a:lstStyle/>
          <a:p>
            <a:pPr indent="0" marL="0">
              <a:buNone/>
            </a:pPr>
            <a:r>
              <a:rPr lang="en-US" sz="1100" dirty="0">
                <a:solidFill>
                  <a:srgbClr val="F5C451"/>
                </a:solidFill>
                <a:latin typeface="Calibri" pitchFamily="34" charset="0"/>
                <a:ea typeface="Calibri" pitchFamily="34" charset="-122"/>
                <a:cs typeface="Calibri" pitchFamily="34" charset="-120"/>
              </a:rPr>
              <a:t>500,000</a:t>
            </a:r>
            <a:endParaRPr lang="en-US" sz="1100" dirty="0"/>
          </a:p>
        </p:txBody>
      </p:sp>
      <p:sp>
        <p:nvSpPr>
          <p:cNvPr id="34" name="Text 32"/>
          <p:cNvSpPr/>
          <p:nvPr/>
        </p:nvSpPr>
        <p:spPr>
          <a:xfrm>
            <a:off x="5871088" y="4956048"/>
            <a:ext cx="1764152" cy="420624"/>
          </a:xfrm>
          <a:prstGeom prst="rect">
            <a:avLst/>
          </a:prstGeom>
          <a:noFill/>
          <a:ln/>
        </p:spPr>
        <p:txBody>
          <a:bodyPr wrap="square" lIns="0" tIns="0" rIns="0" bIns="0" rtlCol="0" anchor="ctr"/>
          <a:lstStyle/>
          <a:p>
            <a:pPr indent="0" marL="0">
              <a:buNone/>
            </a:pPr>
            <a:r>
              <a:rPr lang="en-US" sz="1100" dirty="0">
                <a:solidFill>
                  <a:srgbClr val="9AA1B4"/>
                </a:solidFill>
                <a:latin typeface="Calibri" pitchFamily="34" charset="0"/>
                <a:ea typeface="Calibri" pitchFamily="34" charset="-122"/>
                <a:cs typeface="Calibri" pitchFamily="34" charset="-120"/>
              </a:rPr>
              <a:t>mean, never sum</a:t>
            </a:r>
            <a:endParaRPr lang="en-US" sz="1100" dirty="0"/>
          </a:p>
        </p:txBody>
      </p:sp>
      <p:sp>
        <p:nvSpPr>
          <p:cNvPr id="35" name="Shape 33"/>
          <p:cNvSpPr/>
          <p:nvPr/>
        </p:nvSpPr>
        <p:spPr>
          <a:xfrm>
            <a:off x="8229600" y="3255264"/>
            <a:ext cx="3383280" cy="2212848"/>
          </a:xfrm>
          <a:prstGeom prst="roundRect">
            <a:avLst>
              <a:gd name="adj" fmla="val 3306"/>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36" name="Text 34"/>
          <p:cNvSpPr/>
          <p:nvPr/>
        </p:nvSpPr>
        <p:spPr>
          <a:xfrm>
            <a:off x="8503920" y="3419856"/>
            <a:ext cx="2834640" cy="274320"/>
          </a:xfrm>
          <a:prstGeom prst="rect">
            <a:avLst/>
          </a:prstGeom>
          <a:noFill/>
          <a:ln/>
        </p:spPr>
        <p:txBody>
          <a:bodyPr wrap="square" lIns="0" tIns="0" rIns="0" bIns="0" rtlCol="0" anchor="ctr"/>
          <a:lstStyle/>
          <a:p>
            <a:pPr indent="0" marL="0">
              <a:buNone/>
            </a:pPr>
            <a:r>
              <a:rPr lang="en-US" sz="1000" b="1" spc="100" kern="0" dirty="0">
                <a:solidFill>
                  <a:srgbClr val="9AA1B4"/>
                </a:solidFill>
                <a:latin typeface="Calibri" pitchFamily="34" charset="0"/>
                <a:ea typeface="Calibri" pitchFamily="34" charset="-122"/>
                <a:cs typeface="Calibri" pitchFamily="34" charset="-120"/>
              </a:rPr>
              <a:t>WHAT A SCORE MEANS</a:t>
            </a:r>
            <a:endParaRPr lang="en-US" sz="1000" dirty="0"/>
          </a:p>
        </p:txBody>
      </p:sp>
      <p:sp>
        <p:nvSpPr>
          <p:cNvPr id="37" name="Text 35"/>
          <p:cNvSpPr/>
          <p:nvPr/>
        </p:nvSpPr>
        <p:spPr>
          <a:xfrm>
            <a:off x="8503920" y="3730752"/>
            <a:ext cx="914400" cy="292608"/>
          </a:xfrm>
          <a:prstGeom prst="rect">
            <a:avLst/>
          </a:prstGeom>
          <a:noFill/>
          <a:ln/>
        </p:spPr>
        <p:txBody>
          <a:bodyPr wrap="square" lIns="0" tIns="0" rIns="0" bIns="0" rtlCol="0" anchor="ctr"/>
          <a:lstStyle/>
          <a:p>
            <a:pPr indent="0" marL="0">
              <a:buNone/>
            </a:pPr>
            <a:r>
              <a:rPr lang="en-US" sz="1100" dirty="0">
                <a:solidFill>
                  <a:srgbClr val="E8EAF0"/>
                </a:solidFill>
                <a:latin typeface="Consolas" pitchFamily="34" charset="0"/>
                <a:ea typeface="Consolas" pitchFamily="34" charset="-122"/>
                <a:cs typeface="Consolas" pitchFamily="34" charset="-120"/>
              </a:rPr>
              <a:t>0–20</a:t>
            </a:r>
            <a:endParaRPr lang="en-US" sz="1100" dirty="0"/>
          </a:p>
        </p:txBody>
      </p:sp>
      <p:sp>
        <p:nvSpPr>
          <p:cNvPr id="38" name="Text 36"/>
          <p:cNvSpPr/>
          <p:nvPr/>
        </p:nvSpPr>
        <p:spPr>
          <a:xfrm>
            <a:off x="9418320" y="3730752"/>
            <a:ext cx="1920240" cy="292608"/>
          </a:xfrm>
          <a:prstGeom prst="rect">
            <a:avLst/>
          </a:prstGeom>
          <a:noFill/>
          <a:ln/>
        </p:spPr>
        <p:txBody>
          <a:bodyPr wrap="square" lIns="0" tIns="0" rIns="0" bIns="0" rtlCol="0" anchor="ctr"/>
          <a:lstStyle/>
          <a:p>
            <a:pPr indent="0" marL="0">
              <a:buNone/>
            </a:pPr>
            <a:r>
              <a:rPr lang="en-US" sz="1100" dirty="0">
                <a:solidFill>
                  <a:srgbClr val="9AA1B4"/>
                </a:solidFill>
                <a:latin typeface="Calibri" pitchFamily="34" charset="0"/>
                <a:ea typeface="Calibri" pitchFamily="34" charset="-122"/>
                <a:cs typeface="Calibri" pitchFamily="34" charset="-120"/>
              </a:rPr>
              <a:t>background</a:t>
            </a:r>
            <a:endParaRPr lang="en-US" sz="1100" dirty="0"/>
          </a:p>
        </p:txBody>
      </p:sp>
      <p:sp>
        <p:nvSpPr>
          <p:cNvPr id="39" name="Text 37"/>
          <p:cNvSpPr/>
          <p:nvPr/>
        </p:nvSpPr>
        <p:spPr>
          <a:xfrm>
            <a:off x="8503920" y="4059936"/>
            <a:ext cx="914400" cy="292608"/>
          </a:xfrm>
          <a:prstGeom prst="rect">
            <a:avLst/>
          </a:prstGeom>
          <a:noFill/>
          <a:ln/>
        </p:spPr>
        <p:txBody>
          <a:bodyPr wrap="square" lIns="0" tIns="0" rIns="0" bIns="0" rtlCol="0" anchor="ctr"/>
          <a:lstStyle/>
          <a:p>
            <a:pPr indent="0" marL="0">
              <a:buNone/>
            </a:pPr>
            <a:r>
              <a:rPr lang="en-US" sz="1100" dirty="0">
                <a:solidFill>
                  <a:srgbClr val="E8EAF0"/>
                </a:solidFill>
                <a:latin typeface="Consolas" pitchFamily="34" charset="0"/>
                <a:ea typeface="Consolas" pitchFamily="34" charset="-122"/>
                <a:cs typeface="Consolas" pitchFamily="34" charset="-120"/>
              </a:rPr>
              <a:t>20–40</a:t>
            </a:r>
            <a:endParaRPr lang="en-US" sz="1100" dirty="0"/>
          </a:p>
        </p:txBody>
      </p:sp>
      <p:sp>
        <p:nvSpPr>
          <p:cNvPr id="40" name="Text 38"/>
          <p:cNvSpPr/>
          <p:nvPr/>
        </p:nvSpPr>
        <p:spPr>
          <a:xfrm>
            <a:off x="9418320" y="4059936"/>
            <a:ext cx="1920240" cy="292608"/>
          </a:xfrm>
          <a:prstGeom prst="rect">
            <a:avLst/>
          </a:prstGeom>
          <a:noFill/>
          <a:ln/>
        </p:spPr>
        <p:txBody>
          <a:bodyPr wrap="square" lIns="0" tIns="0" rIns="0" bIns="0" rtlCol="0" anchor="ctr"/>
          <a:lstStyle/>
          <a:p>
            <a:pPr indent="0" marL="0">
              <a:buNone/>
            </a:pPr>
            <a:r>
              <a:rPr lang="en-US" sz="1100" dirty="0">
                <a:solidFill>
                  <a:srgbClr val="9AA1B4"/>
                </a:solidFill>
                <a:latin typeface="Calibri" pitchFamily="34" charset="0"/>
                <a:ea typeface="Calibri" pitchFamily="34" charset="-122"/>
                <a:cs typeface="Calibri" pitchFamily="34" charset="-120"/>
              </a:rPr>
              <a:t>modest</a:t>
            </a:r>
            <a:endParaRPr lang="en-US" sz="1100" dirty="0"/>
          </a:p>
        </p:txBody>
      </p:sp>
      <p:sp>
        <p:nvSpPr>
          <p:cNvPr id="41" name="Text 39"/>
          <p:cNvSpPr/>
          <p:nvPr/>
        </p:nvSpPr>
        <p:spPr>
          <a:xfrm>
            <a:off x="8503920" y="4389120"/>
            <a:ext cx="914400" cy="292608"/>
          </a:xfrm>
          <a:prstGeom prst="rect">
            <a:avLst/>
          </a:prstGeom>
          <a:noFill/>
          <a:ln/>
        </p:spPr>
        <p:txBody>
          <a:bodyPr wrap="square" lIns="0" tIns="0" rIns="0" bIns="0" rtlCol="0" anchor="ctr"/>
          <a:lstStyle/>
          <a:p>
            <a:pPr indent="0" marL="0">
              <a:buNone/>
            </a:pPr>
            <a:r>
              <a:rPr lang="en-US" sz="1100" dirty="0">
                <a:solidFill>
                  <a:srgbClr val="E8EAF0"/>
                </a:solidFill>
                <a:latin typeface="Consolas" pitchFamily="34" charset="0"/>
                <a:ea typeface="Consolas" pitchFamily="34" charset="-122"/>
                <a:cs typeface="Consolas" pitchFamily="34" charset="-120"/>
              </a:rPr>
              <a:t>40–60</a:t>
            </a:r>
            <a:endParaRPr lang="en-US" sz="1100" dirty="0"/>
          </a:p>
        </p:txBody>
      </p:sp>
      <p:sp>
        <p:nvSpPr>
          <p:cNvPr id="42" name="Text 40"/>
          <p:cNvSpPr/>
          <p:nvPr/>
        </p:nvSpPr>
        <p:spPr>
          <a:xfrm>
            <a:off x="9418320" y="4389120"/>
            <a:ext cx="1920240" cy="292608"/>
          </a:xfrm>
          <a:prstGeom prst="rect">
            <a:avLst/>
          </a:prstGeom>
          <a:noFill/>
          <a:ln/>
        </p:spPr>
        <p:txBody>
          <a:bodyPr wrap="square" lIns="0" tIns="0" rIns="0" bIns="0" rtlCol="0" anchor="ctr"/>
          <a:lstStyle/>
          <a:p>
            <a:pPr indent="0" marL="0">
              <a:buNone/>
            </a:pPr>
            <a:r>
              <a:rPr lang="en-US" sz="1100" dirty="0">
                <a:solidFill>
                  <a:srgbClr val="F5C451"/>
                </a:solidFill>
                <a:latin typeface="Calibri" pitchFamily="34" charset="0"/>
                <a:ea typeface="Calibri" pitchFamily="34" charset="-122"/>
                <a:cs typeface="Calibri" pitchFamily="34" charset="-120"/>
              </a:rPr>
              <a:t>solid</a:t>
            </a:r>
            <a:endParaRPr lang="en-US" sz="1100" dirty="0"/>
          </a:p>
        </p:txBody>
      </p:sp>
      <p:sp>
        <p:nvSpPr>
          <p:cNvPr id="43" name="Text 41"/>
          <p:cNvSpPr/>
          <p:nvPr/>
        </p:nvSpPr>
        <p:spPr>
          <a:xfrm>
            <a:off x="8503920" y="4718304"/>
            <a:ext cx="914400" cy="292608"/>
          </a:xfrm>
          <a:prstGeom prst="rect">
            <a:avLst/>
          </a:prstGeom>
          <a:noFill/>
          <a:ln/>
        </p:spPr>
        <p:txBody>
          <a:bodyPr wrap="square" lIns="0" tIns="0" rIns="0" bIns="0" rtlCol="0" anchor="ctr"/>
          <a:lstStyle/>
          <a:p>
            <a:pPr indent="0" marL="0">
              <a:buNone/>
            </a:pPr>
            <a:r>
              <a:rPr lang="en-US" sz="1100" dirty="0">
                <a:solidFill>
                  <a:srgbClr val="E8EAF0"/>
                </a:solidFill>
                <a:latin typeface="Consolas" pitchFamily="34" charset="0"/>
                <a:ea typeface="Consolas" pitchFamily="34" charset="-122"/>
                <a:cs typeface="Consolas" pitchFamily="34" charset="-120"/>
              </a:rPr>
              <a:t>60–80</a:t>
            </a:r>
            <a:endParaRPr lang="en-US" sz="1100" dirty="0"/>
          </a:p>
        </p:txBody>
      </p:sp>
      <p:sp>
        <p:nvSpPr>
          <p:cNvPr id="44" name="Text 42"/>
          <p:cNvSpPr/>
          <p:nvPr/>
        </p:nvSpPr>
        <p:spPr>
          <a:xfrm>
            <a:off x="9418320" y="4718304"/>
            <a:ext cx="1920240" cy="292608"/>
          </a:xfrm>
          <a:prstGeom prst="rect">
            <a:avLst/>
          </a:prstGeom>
          <a:noFill/>
          <a:ln/>
        </p:spPr>
        <p:txBody>
          <a:bodyPr wrap="square" lIns="0" tIns="0" rIns="0" bIns="0" rtlCol="0" anchor="ctr"/>
          <a:lstStyle/>
          <a:p>
            <a:pPr indent="0" marL="0">
              <a:buNone/>
            </a:pPr>
            <a:r>
              <a:rPr lang="en-US" sz="1100" dirty="0">
                <a:solidFill>
                  <a:srgbClr val="3ECF8E"/>
                </a:solidFill>
                <a:latin typeface="Calibri" pitchFamily="34" charset="0"/>
                <a:ea typeface="Calibri" pitchFamily="34" charset="-122"/>
                <a:cs typeface="Calibri" pitchFamily="34" charset="-120"/>
              </a:rPr>
              <a:t>high</a:t>
            </a:r>
            <a:endParaRPr lang="en-US" sz="1100" dirty="0"/>
          </a:p>
        </p:txBody>
      </p:sp>
      <p:sp>
        <p:nvSpPr>
          <p:cNvPr id="45" name="Text 43"/>
          <p:cNvSpPr/>
          <p:nvPr/>
        </p:nvSpPr>
        <p:spPr>
          <a:xfrm>
            <a:off x="8503920" y="5047488"/>
            <a:ext cx="914400" cy="292608"/>
          </a:xfrm>
          <a:prstGeom prst="rect">
            <a:avLst/>
          </a:prstGeom>
          <a:noFill/>
          <a:ln/>
        </p:spPr>
        <p:txBody>
          <a:bodyPr wrap="square" lIns="0" tIns="0" rIns="0" bIns="0" rtlCol="0" anchor="ctr"/>
          <a:lstStyle/>
          <a:p>
            <a:pPr indent="0" marL="0">
              <a:buNone/>
            </a:pPr>
            <a:r>
              <a:rPr lang="en-US" sz="1100" dirty="0">
                <a:solidFill>
                  <a:srgbClr val="E8EAF0"/>
                </a:solidFill>
                <a:latin typeface="Consolas" pitchFamily="34" charset="0"/>
                <a:ea typeface="Consolas" pitchFamily="34" charset="-122"/>
                <a:cs typeface="Consolas" pitchFamily="34" charset="-120"/>
              </a:rPr>
              <a:t>80–100</a:t>
            </a:r>
            <a:endParaRPr lang="en-US" sz="1100" dirty="0"/>
          </a:p>
        </p:txBody>
      </p:sp>
      <p:sp>
        <p:nvSpPr>
          <p:cNvPr id="46" name="Text 44"/>
          <p:cNvSpPr/>
          <p:nvPr/>
        </p:nvSpPr>
        <p:spPr>
          <a:xfrm>
            <a:off x="9418320" y="5047488"/>
            <a:ext cx="1920240" cy="292608"/>
          </a:xfrm>
          <a:prstGeom prst="rect">
            <a:avLst/>
          </a:prstGeom>
          <a:noFill/>
          <a:ln/>
        </p:spPr>
        <p:txBody>
          <a:bodyPr wrap="square" lIns="0" tIns="0" rIns="0" bIns="0" rtlCol="0" anchor="ctr"/>
          <a:lstStyle/>
          <a:p>
            <a:pPr indent="0" marL="0">
              <a:buNone/>
            </a:pPr>
            <a:r>
              <a:rPr lang="en-US" sz="1100" dirty="0">
                <a:solidFill>
                  <a:srgbClr val="3ECF8E"/>
                </a:solidFill>
                <a:latin typeface="Calibri" pitchFamily="34" charset="0"/>
                <a:ea typeface="Calibri" pitchFamily="34" charset="-122"/>
                <a:cs typeface="Calibri" pitchFamily="34" charset="-120"/>
              </a:rPr>
              <a:t>exceptional</a:t>
            </a:r>
            <a:endParaRPr lang="en-US" sz="1100" dirty="0"/>
          </a:p>
        </p:txBody>
      </p:sp>
      <p:sp>
        <p:nvSpPr>
          <p:cNvPr id="47" name="Text 45"/>
          <p:cNvSpPr/>
          <p:nvPr/>
        </p:nvSpPr>
        <p:spPr>
          <a:xfrm>
            <a:off x="548640" y="5541264"/>
            <a:ext cx="11064240" cy="502920"/>
          </a:xfrm>
          <a:prstGeom prst="rect">
            <a:avLst/>
          </a:prstGeom>
          <a:noFill/>
          <a:ln/>
        </p:spPr>
        <p:txBody>
          <a:bodyPr wrap="square" lIns="0" tIns="0" rIns="0" bIns="0" rtlCol="0" anchor="ctr"/>
          <a:lstStyle/>
          <a:p>
            <a:pPr indent="0" marL="0">
              <a:lnSpc>
                <a:spcPct val="105000"/>
              </a:lnSpc>
              <a:buNone/>
            </a:pPr>
            <a:r>
              <a:rPr lang="en-US" sz="1100" dirty="0">
                <a:solidFill>
                  <a:srgbClr val="9AA1B4"/>
                </a:solidFill>
                <a:latin typeface="Calibri" pitchFamily="34" charset="0"/>
                <a:ea typeface="Calibri" pitchFamily="34" charset="-122"/>
                <a:cs typeface="Calibri" pitchFamily="34" charset="-120"/>
              </a:rPr>
              <a:t>Normalised per platform — which is the normalisation that matters. Without it the figure is a proxy for platform mix rather than community reaction. Volume is reported separately as a record count, because “how much is being said” and “how hard it lands” are different questions.</a:t>
            </a:r>
            <a:endParaRPr lang="en-US" sz="1100" dirty="0"/>
          </a:p>
        </p:txBody>
      </p:sp>
      <p:sp>
        <p:nvSpPr>
          <p:cNvPr id="48" name="Text 46"/>
          <p:cNvSpPr/>
          <p:nvPr/>
        </p:nvSpPr>
        <p:spPr>
          <a:xfrm>
            <a:off x="548640" y="6108192"/>
            <a:ext cx="1508760"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WHERE IT LIVES</a:t>
            </a:r>
            <a:endParaRPr lang="en-US" sz="950" dirty="0"/>
          </a:p>
        </p:txBody>
      </p:sp>
      <p:sp>
        <p:nvSpPr>
          <p:cNvPr id="49" name="Text 47"/>
          <p:cNvSpPr/>
          <p:nvPr/>
        </p:nvSpPr>
        <p:spPr>
          <a:xfrm>
            <a:off x="2057400" y="6108192"/>
            <a:ext cx="9555480" cy="292608"/>
          </a:xfrm>
          <a:prstGeom prst="rect">
            <a:avLst/>
          </a:prstGeom>
          <a:noFill/>
          <a:ln/>
        </p:spPr>
        <p:txBody>
          <a:bodyPr wrap="square" lIns="0" tIns="0" rIns="0" bIns="0" rtlCol="0" anchor="ctr"/>
          <a:lstStyle/>
          <a:p>
            <a:pPr indent="0" marL="0">
              <a:buNone/>
            </a:pPr>
            <a:r>
              <a:rPr lang="en-US" sz="1100" dirty="0">
                <a:solidFill>
                  <a:srgbClr val="6C8CFF"/>
                </a:solidFill>
                <a:latin typeface="Consolas" pitchFamily="34" charset="0"/>
                <a:ea typeface="Consolas" pitchFamily="34" charset="-122"/>
                <a:cs typeface="Consolas" pitchFamily="34" charset="-120"/>
              </a:rPr>
              <a:t>server/lib/engagement.js  ·  GET /api/methodology</a:t>
            </a:r>
            <a:endParaRPr lang="en-US" sz="1100" dirty="0"/>
          </a:p>
        </p:txBody>
      </p:sp>
      <p:sp>
        <p:nvSpPr>
          <p:cNvPr id="50" name="Text 48"/>
          <p:cNvSpPr/>
          <p:nvPr/>
        </p:nvSpPr>
        <p:spPr>
          <a:xfrm>
            <a:off x="548640" y="6537960"/>
            <a:ext cx="6400800" cy="274320"/>
          </a:xfrm>
          <a:prstGeom prst="rect">
            <a:avLst/>
          </a:prstGeom>
          <a:noFill/>
          <a:ln/>
        </p:spPr>
        <p:txBody>
          <a:bodyPr wrap="square" lIns="0" tIns="0" rIns="0" bIns="0" rtlCol="0" anchor="ctr"/>
          <a:lstStyle/>
          <a:p>
            <a:pPr indent="0" marL="0">
              <a:buNone/>
            </a:pPr>
            <a:r>
              <a:rPr lang="en-US" sz="900" dirty="0">
                <a:solidFill>
                  <a:srgbClr val="9AA1B4"/>
                </a:solidFill>
                <a:latin typeface="Calibri" pitchFamily="34" charset="0"/>
                <a:ea typeface="Calibri" pitchFamily="34" charset="-122"/>
                <a:cs typeface="Calibri" pitchFamily="34" charset="-120"/>
              </a:rPr>
              <a:t>Gaming Community Pulse v2 — prepared for Ruisheng Holdings</a:t>
            </a:r>
            <a:endParaRPr lang="en-US" sz="900" dirty="0"/>
          </a:p>
        </p:txBody>
      </p:sp>
      <p:sp>
        <p:nvSpPr>
          <p:cNvPr id="51" name="Text 49"/>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1B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6C8CFF"/>
                </a:solidFill>
                <a:latin typeface="Calibri" pitchFamily="34" charset="0"/>
                <a:ea typeface="Calibri" pitchFamily="34" charset="-122"/>
                <a:cs typeface="Calibri" pitchFamily="34" charset="-120"/>
              </a:rPr>
              <a:t>QUESTION 3 — REGION</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E8EAF0"/>
                </a:solidFill>
                <a:latin typeface="Cambria" pitchFamily="34" charset="0"/>
                <a:ea typeface="Cambria" pitchFamily="34" charset="-122"/>
                <a:cs typeface="Cambria" pitchFamily="34" charset="-120"/>
              </a:rPr>
              <a:t>Where the content was published. Never where the commenter is.</a:t>
            </a:r>
            <a:endParaRPr lang="en-US" sz="2800" dirty="0"/>
          </a:p>
        </p:txBody>
      </p:sp>
      <p:sp>
        <p:nvSpPr>
          <p:cNvPr id="4" name="Shape 2"/>
          <p:cNvSpPr/>
          <p:nvPr/>
        </p:nvSpPr>
        <p:spPr>
          <a:xfrm>
            <a:off x="548640" y="1298448"/>
            <a:ext cx="11064240" cy="658368"/>
          </a:xfrm>
          <a:prstGeom prst="roundRect">
            <a:avLst>
              <a:gd name="adj" fmla="val 11111"/>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685800" y="1444752"/>
            <a:ext cx="91440" cy="365760"/>
          </a:xfrm>
          <a:prstGeom prst="roundRect">
            <a:avLst>
              <a:gd name="adj" fmla="val 50000"/>
            </a:avLst>
          </a:prstGeom>
          <a:solidFill>
            <a:srgbClr val="6C8CFF"/>
          </a:solidFill>
          <a:ln/>
        </p:spPr>
      </p:sp>
      <p:sp>
        <p:nvSpPr>
          <p:cNvPr id="6" name="Text 4"/>
          <p:cNvSpPr/>
          <p:nvPr/>
        </p:nvSpPr>
        <p:spPr>
          <a:xfrm>
            <a:off x="932688" y="1389888"/>
            <a:ext cx="10515600" cy="475488"/>
          </a:xfrm>
          <a:prstGeom prst="rect">
            <a:avLst/>
          </a:prstGeom>
          <a:noFill/>
          <a:ln/>
        </p:spPr>
        <p:txBody>
          <a:bodyPr wrap="square" lIns="0" tIns="0" rIns="0" bIns="0" rtlCol="0" anchor="ctr"/>
          <a:lstStyle/>
          <a:p>
            <a:pPr indent="0" marL="0">
              <a:lnSpc>
                <a:spcPct val="105000"/>
              </a:lnSpc>
              <a:buNone/>
            </a:pPr>
            <a:r>
              <a:rPr lang="en-US" sz="1250" i="1" dirty="0">
                <a:solidFill>
                  <a:srgbClr val="E8EAF0"/>
                </a:solidFill>
                <a:latin typeface="Cambria" pitchFamily="34" charset="0"/>
                <a:ea typeface="Cambria" pitchFamily="34" charset="-122"/>
                <a:cs typeface="Cambria" pitchFamily="34" charset="-120"/>
              </a:rPr>
              <a:t>“Could posts/video content be classified according to the region in which the video was published? … rather than attempting to determine the geographic region of individual commenters.”</a:t>
            </a:r>
            <a:endParaRPr lang="en-US" sz="1250" dirty="0"/>
          </a:p>
        </p:txBody>
      </p:sp>
      <p:sp>
        <p:nvSpPr>
          <p:cNvPr id="7" name="Shape 5"/>
          <p:cNvSpPr/>
          <p:nvPr/>
        </p:nvSpPr>
        <p:spPr>
          <a:xfrm>
            <a:off x="548640" y="2103120"/>
            <a:ext cx="7863840" cy="2596896"/>
          </a:xfrm>
          <a:prstGeom prst="roundRect">
            <a:avLst>
              <a:gd name="adj" fmla="val 2817"/>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8" name="Text 6"/>
          <p:cNvSpPr/>
          <p:nvPr/>
        </p:nvSpPr>
        <p:spPr>
          <a:xfrm>
            <a:off x="804672" y="2231136"/>
            <a:ext cx="551932"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a:t>
            </a:r>
            <a:endParaRPr lang="en-US" sz="950" dirty="0"/>
          </a:p>
        </p:txBody>
      </p:sp>
      <p:sp>
        <p:nvSpPr>
          <p:cNvPr id="9" name="Text 7"/>
          <p:cNvSpPr/>
          <p:nvPr/>
        </p:nvSpPr>
        <p:spPr>
          <a:xfrm>
            <a:off x="1466332" y="2231136"/>
            <a:ext cx="1801734"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SIGNAL</a:t>
            </a:r>
            <a:endParaRPr lang="en-US" sz="950" dirty="0"/>
          </a:p>
        </p:txBody>
      </p:sp>
      <p:sp>
        <p:nvSpPr>
          <p:cNvPr id="10" name="Text 8"/>
          <p:cNvSpPr/>
          <p:nvPr/>
        </p:nvSpPr>
        <p:spPr>
          <a:xfrm>
            <a:off x="3377794" y="2231136"/>
            <a:ext cx="3198571"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THE FIELD IT COMES FROM</a:t>
            </a:r>
            <a:endParaRPr lang="en-US" sz="950" dirty="0"/>
          </a:p>
        </p:txBody>
      </p:sp>
      <p:sp>
        <p:nvSpPr>
          <p:cNvPr id="11" name="Text 9"/>
          <p:cNvSpPr/>
          <p:nvPr/>
        </p:nvSpPr>
        <p:spPr>
          <a:xfrm>
            <a:off x="6686093" y="2231136"/>
            <a:ext cx="1360627"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CONFIDENCE</a:t>
            </a:r>
            <a:endParaRPr lang="en-US" sz="950" dirty="0"/>
          </a:p>
        </p:txBody>
      </p:sp>
      <p:sp>
        <p:nvSpPr>
          <p:cNvPr id="12" name="Shape 10"/>
          <p:cNvSpPr/>
          <p:nvPr/>
        </p:nvSpPr>
        <p:spPr>
          <a:xfrm>
            <a:off x="804672" y="2523744"/>
            <a:ext cx="7351776" cy="9144"/>
          </a:xfrm>
          <a:prstGeom prst="rect">
            <a:avLst/>
          </a:prstGeom>
          <a:solidFill>
            <a:srgbClr val="2A2F40"/>
          </a:solidFill>
          <a:ln/>
        </p:spPr>
      </p:sp>
      <p:sp>
        <p:nvSpPr>
          <p:cNvPr id="13" name="Text 11"/>
          <p:cNvSpPr/>
          <p:nvPr/>
        </p:nvSpPr>
        <p:spPr>
          <a:xfrm>
            <a:off x="804672" y="2542032"/>
            <a:ext cx="551932" cy="402336"/>
          </a:xfrm>
          <a:prstGeom prst="rect">
            <a:avLst/>
          </a:prstGeom>
          <a:noFill/>
          <a:ln/>
        </p:spPr>
        <p:txBody>
          <a:bodyPr wrap="square" lIns="0" tIns="0" rIns="0" bIns="0" rtlCol="0" anchor="ctr"/>
          <a:lstStyle/>
          <a:p>
            <a:pPr indent="0" marL="0">
              <a:buNone/>
            </a:pPr>
            <a:r>
              <a:rPr lang="en-US" sz="1050" b="1" dirty="0">
                <a:solidFill>
                  <a:srgbClr val="E8EAF0"/>
                </a:solidFill>
                <a:latin typeface="Calibri" pitchFamily="34" charset="0"/>
                <a:ea typeface="Calibri" pitchFamily="34" charset="-122"/>
                <a:cs typeface="Calibri" pitchFamily="34" charset="-120"/>
              </a:rPr>
              <a:t>1</a:t>
            </a:r>
            <a:endParaRPr lang="en-US" sz="1050" dirty="0"/>
          </a:p>
        </p:txBody>
      </p:sp>
      <p:sp>
        <p:nvSpPr>
          <p:cNvPr id="14" name="Text 12"/>
          <p:cNvSpPr/>
          <p:nvPr/>
        </p:nvSpPr>
        <p:spPr>
          <a:xfrm>
            <a:off x="1466332" y="2542032"/>
            <a:ext cx="1801734" cy="402336"/>
          </a:xfrm>
          <a:prstGeom prst="rect">
            <a:avLst/>
          </a:prstGeom>
          <a:noFill/>
          <a:ln/>
        </p:spPr>
        <p:txBody>
          <a:bodyPr wrap="square" lIns="0" tIns="0" rIns="0" bIns="0" rtlCol="0" anchor="ctr"/>
          <a:lstStyle/>
          <a:p>
            <a:pPr indent="0" marL="0">
              <a:buNone/>
            </a:pPr>
            <a:r>
              <a:rPr lang="en-US" sz="1050" dirty="0">
                <a:solidFill>
                  <a:srgbClr val="E8EAF0"/>
                </a:solidFill>
                <a:latin typeface="Consolas" pitchFamily="34" charset="0"/>
                <a:ea typeface="Consolas" pitchFamily="34" charset="-122"/>
                <a:cs typeface="Consolas" pitchFamily="34" charset="-120"/>
              </a:rPr>
              <a:t>channel_country</a:t>
            </a:r>
            <a:endParaRPr lang="en-US" sz="1050" dirty="0"/>
          </a:p>
        </p:txBody>
      </p:sp>
      <p:sp>
        <p:nvSpPr>
          <p:cNvPr id="15" name="Text 13"/>
          <p:cNvSpPr/>
          <p:nvPr/>
        </p:nvSpPr>
        <p:spPr>
          <a:xfrm>
            <a:off x="3377794" y="2542032"/>
            <a:ext cx="3198571" cy="402336"/>
          </a:xfrm>
          <a:prstGeom prst="rect">
            <a:avLst/>
          </a:prstGeom>
          <a:noFill/>
          <a:ln/>
        </p:spPr>
        <p:txBody>
          <a:bodyPr wrap="square" lIns="0" tIns="0" rIns="0" bIns="0" rtlCol="0" anchor="ctr"/>
          <a:lstStyle/>
          <a:p>
            <a:pPr indent="0" marL="0">
              <a:buNone/>
            </a:pPr>
            <a:r>
              <a:rPr lang="en-US" sz="1050" dirty="0">
                <a:solidFill>
                  <a:srgbClr val="9AA1B4"/>
                </a:solidFill>
                <a:latin typeface="Calibri" pitchFamily="34" charset="0"/>
                <a:ea typeface="Calibri" pitchFamily="34" charset="-122"/>
                <a:cs typeface="Calibri" pitchFamily="34" charset="-120"/>
              </a:rPr>
              <a:t>YouTube channels.list → snippet.country</a:t>
            </a:r>
            <a:endParaRPr lang="en-US" sz="1050" dirty="0"/>
          </a:p>
        </p:txBody>
      </p:sp>
      <p:sp>
        <p:nvSpPr>
          <p:cNvPr id="16" name="Text 14"/>
          <p:cNvSpPr/>
          <p:nvPr/>
        </p:nvSpPr>
        <p:spPr>
          <a:xfrm>
            <a:off x="6686093" y="2542032"/>
            <a:ext cx="1360627" cy="402336"/>
          </a:xfrm>
          <a:prstGeom prst="rect">
            <a:avLst/>
          </a:prstGeom>
          <a:noFill/>
          <a:ln/>
        </p:spPr>
        <p:txBody>
          <a:bodyPr wrap="square" lIns="0" tIns="0" rIns="0" bIns="0" rtlCol="0" anchor="ctr"/>
          <a:lstStyle/>
          <a:p>
            <a:pPr indent="0" marL="0">
              <a:buNone/>
            </a:pPr>
            <a:r>
              <a:rPr lang="en-US" sz="1050" dirty="0">
                <a:solidFill>
                  <a:srgbClr val="3ECF8E"/>
                </a:solidFill>
                <a:latin typeface="Calibri" pitchFamily="34" charset="0"/>
                <a:ea typeface="Calibri" pitchFamily="34" charset="-122"/>
                <a:cs typeface="Calibri" pitchFamily="34" charset="-120"/>
              </a:rPr>
              <a:t>0.95</a:t>
            </a:r>
            <a:endParaRPr lang="en-US" sz="1050" dirty="0"/>
          </a:p>
        </p:txBody>
      </p:sp>
      <p:sp>
        <p:nvSpPr>
          <p:cNvPr id="17" name="Shape 15"/>
          <p:cNvSpPr/>
          <p:nvPr/>
        </p:nvSpPr>
        <p:spPr>
          <a:xfrm>
            <a:off x="804672" y="2926080"/>
            <a:ext cx="7351776" cy="9144"/>
          </a:xfrm>
          <a:prstGeom prst="rect">
            <a:avLst/>
          </a:prstGeom>
          <a:solidFill>
            <a:srgbClr val="2A2F40"/>
          </a:solidFill>
          <a:ln/>
        </p:spPr>
      </p:sp>
      <p:sp>
        <p:nvSpPr>
          <p:cNvPr id="18" name="Text 16"/>
          <p:cNvSpPr/>
          <p:nvPr/>
        </p:nvSpPr>
        <p:spPr>
          <a:xfrm>
            <a:off x="804672" y="2944368"/>
            <a:ext cx="551932" cy="402336"/>
          </a:xfrm>
          <a:prstGeom prst="rect">
            <a:avLst/>
          </a:prstGeom>
          <a:noFill/>
          <a:ln/>
        </p:spPr>
        <p:txBody>
          <a:bodyPr wrap="square" lIns="0" tIns="0" rIns="0" bIns="0" rtlCol="0" anchor="ctr"/>
          <a:lstStyle/>
          <a:p>
            <a:pPr indent="0" marL="0">
              <a:buNone/>
            </a:pPr>
            <a:r>
              <a:rPr lang="en-US" sz="1050" b="1" dirty="0">
                <a:solidFill>
                  <a:srgbClr val="E8EAF0"/>
                </a:solidFill>
                <a:latin typeface="Calibri" pitchFamily="34" charset="0"/>
                <a:ea typeface="Calibri" pitchFamily="34" charset="-122"/>
                <a:cs typeface="Calibri" pitchFamily="34" charset="-120"/>
              </a:rPr>
              <a:t>2</a:t>
            </a:r>
            <a:endParaRPr lang="en-US" sz="1050" dirty="0"/>
          </a:p>
        </p:txBody>
      </p:sp>
      <p:sp>
        <p:nvSpPr>
          <p:cNvPr id="19" name="Text 17"/>
          <p:cNvSpPr/>
          <p:nvPr/>
        </p:nvSpPr>
        <p:spPr>
          <a:xfrm>
            <a:off x="1466332" y="2944368"/>
            <a:ext cx="1801734" cy="402336"/>
          </a:xfrm>
          <a:prstGeom prst="rect">
            <a:avLst/>
          </a:prstGeom>
          <a:noFill/>
          <a:ln/>
        </p:spPr>
        <p:txBody>
          <a:bodyPr wrap="square" lIns="0" tIns="0" rIns="0" bIns="0" rtlCol="0" anchor="ctr"/>
          <a:lstStyle/>
          <a:p>
            <a:pPr indent="0" marL="0">
              <a:buNone/>
            </a:pPr>
            <a:r>
              <a:rPr lang="en-US" sz="1050" dirty="0">
                <a:solidFill>
                  <a:srgbClr val="E8EAF0"/>
                </a:solidFill>
                <a:latin typeface="Consolas" pitchFamily="34" charset="0"/>
                <a:ea typeface="Consolas" pitchFamily="34" charset="-122"/>
                <a:cs typeface="Consolas" pitchFamily="34" charset="-120"/>
              </a:rPr>
              <a:t>source_config</a:t>
            </a:r>
            <a:endParaRPr lang="en-US" sz="1050" dirty="0"/>
          </a:p>
        </p:txBody>
      </p:sp>
      <p:sp>
        <p:nvSpPr>
          <p:cNvPr id="20" name="Text 18"/>
          <p:cNvSpPr/>
          <p:nvPr/>
        </p:nvSpPr>
        <p:spPr>
          <a:xfrm>
            <a:off x="3377794" y="2944368"/>
            <a:ext cx="3198571" cy="402336"/>
          </a:xfrm>
          <a:prstGeom prst="rect">
            <a:avLst/>
          </a:prstGeom>
          <a:noFill/>
          <a:ln/>
        </p:spPr>
        <p:txBody>
          <a:bodyPr wrap="square" lIns="0" tIns="0" rIns="0" bIns="0" rtlCol="0" anchor="ctr"/>
          <a:lstStyle/>
          <a:p>
            <a:pPr indent="0" marL="0">
              <a:buNone/>
            </a:pPr>
            <a:r>
              <a:rPr lang="en-US" sz="1050" dirty="0">
                <a:solidFill>
                  <a:srgbClr val="9AA1B4"/>
                </a:solidFill>
                <a:latin typeface="Calibri" pitchFamily="34" charset="0"/>
                <a:ea typeface="Calibri" pitchFamily="34" charset="-122"/>
                <a:cs typeface="Calibri" pitchFamily="34" charset="-120"/>
              </a:rPr>
              <a:t>A region we declare in server/config/*.json</a:t>
            </a:r>
            <a:endParaRPr lang="en-US" sz="1050" dirty="0"/>
          </a:p>
        </p:txBody>
      </p:sp>
      <p:sp>
        <p:nvSpPr>
          <p:cNvPr id="21" name="Text 19"/>
          <p:cNvSpPr/>
          <p:nvPr/>
        </p:nvSpPr>
        <p:spPr>
          <a:xfrm>
            <a:off x="6686093" y="2944368"/>
            <a:ext cx="1360627" cy="402336"/>
          </a:xfrm>
          <a:prstGeom prst="rect">
            <a:avLst/>
          </a:prstGeom>
          <a:noFill/>
          <a:ln/>
        </p:spPr>
        <p:txBody>
          <a:bodyPr wrap="square" lIns="0" tIns="0" rIns="0" bIns="0" rtlCol="0" anchor="ctr"/>
          <a:lstStyle/>
          <a:p>
            <a:pPr indent="0" marL="0">
              <a:buNone/>
            </a:pPr>
            <a:r>
              <a:rPr lang="en-US" sz="1050" dirty="0">
                <a:solidFill>
                  <a:srgbClr val="3ECF8E"/>
                </a:solidFill>
                <a:latin typeface="Calibri" pitchFamily="34" charset="0"/>
                <a:ea typeface="Calibri" pitchFamily="34" charset="-122"/>
                <a:cs typeface="Calibri" pitchFamily="34" charset="-120"/>
              </a:rPr>
              <a:t>0.90</a:t>
            </a:r>
            <a:endParaRPr lang="en-US" sz="1050" dirty="0"/>
          </a:p>
        </p:txBody>
      </p:sp>
      <p:sp>
        <p:nvSpPr>
          <p:cNvPr id="22" name="Shape 20"/>
          <p:cNvSpPr/>
          <p:nvPr/>
        </p:nvSpPr>
        <p:spPr>
          <a:xfrm>
            <a:off x="804672" y="3328416"/>
            <a:ext cx="7351776" cy="9144"/>
          </a:xfrm>
          <a:prstGeom prst="rect">
            <a:avLst/>
          </a:prstGeom>
          <a:solidFill>
            <a:srgbClr val="2A2F40"/>
          </a:solidFill>
          <a:ln/>
        </p:spPr>
      </p:sp>
      <p:sp>
        <p:nvSpPr>
          <p:cNvPr id="23" name="Text 21"/>
          <p:cNvSpPr/>
          <p:nvPr/>
        </p:nvSpPr>
        <p:spPr>
          <a:xfrm>
            <a:off x="804672" y="3346704"/>
            <a:ext cx="551932" cy="402336"/>
          </a:xfrm>
          <a:prstGeom prst="rect">
            <a:avLst/>
          </a:prstGeom>
          <a:noFill/>
          <a:ln/>
        </p:spPr>
        <p:txBody>
          <a:bodyPr wrap="square" lIns="0" tIns="0" rIns="0" bIns="0" rtlCol="0" anchor="ctr"/>
          <a:lstStyle/>
          <a:p>
            <a:pPr indent="0" marL="0">
              <a:buNone/>
            </a:pPr>
            <a:r>
              <a:rPr lang="en-US" sz="1050" b="1" dirty="0">
                <a:solidFill>
                  <a:srgbClr val="E8EAF0"/>
                </a:solidFill>
                <a:latin typeface="Calibri" pitchFamily="34" charset="0"/>
                <a:ea typeface="Calibri" pitchFamily="34" charset="-122"/>
                <a:cs typeface="Calibri" pitchFamily="34" charset="-120"/>
              </a:rPr>
              <a:t>3</a:t>
            </a:r>
            <a:endParaRPr lang="en-US" sz="1050" dirty="0"/>
          </a:p>
        </p:txBody>
      </p:sp>
      <p:sp>
        <p:nvSpPr>
          <p:cNvPr id="24" name="Text 22"/>
          <p:cNvSpPr/>
          <p:nvPr/>
        </p:nvSpPr>
        <p:spPr>
          <a:xfrm>
            <a:off x="1466332" y="3346704"/>
            <a:ext cx="1801734" cy="402336"/>
          </a:xfrm>
          <a:prstGeom prst="rect">
            <a:avLst/>
          </a:prstGeom>
          <a:noFill/>
          <a:ln/>
        </p:spPr>
        <p:txBody>
          <a:bodyPr wrap="square" lIns="0" tIns="0" rIns="0" bIns="0" rtlCol="0" anchor="ctr"/>
          <a:lstStyle/>
          <a:p>
            <a:pPr indent="0" marL="0">
              <a:buNone/>
            </a:pPr>
            <a:r>
              <a:rPr lang="en-US" sz="1050" dirty="0">
                <a:solidFill>
                  <a:srgbClr val="E8EAF0"/>
                </a:solidFill>
                <a:latin typeface="Consolas" pitchFamily="34" charset="0"/>
                <a:ea typeface="Consolas" pitchFamily="34" charset="-122"/>
                <a:cs typeface="Consolas" pitchFamily="34" charset="-120"/>
              </a:rPr>
              <a:t>guild_locale</a:t>
            </a:r>
            <a:endParaRPr lang="en-US" sz="1050" dirty="0"/>
          </a:p>
        </p:txBody>
      </p:sp>
      <p:sp>
        <p:nvSpPr>
          <p:cNvPr id="25" name="Text 23"/>
          <p:cNvSpPr/>
          <p:nvPr/>
        </p:nvSpPr>
        <p:spPr>
          <a:xfrm>
            <a:off x="3377794" y="3346704"/>
            <a:ext cx="3198571" cy="402336"/>
          </a:xfrm>
          <a:prstGeom prst="rect">
            <a:avLst/>
          </a:prstGeom>
          <a:noFill/>
          <a:ln/>
        </p:spPr>
        <p:txBody>
          <a:bodyPr wrap="square" lIns="0" tIns="0" rIns="0" bIns="0" rtlCol="0" anchor="ctr"/>
          <a:lstStyle/>
          <a:p>
            <a:pPr indent="0" marL="0">
              <a:buNone/>
            </a:pPr>
            <a:r>
              <a:rPr lang="en-US" sz="1050" dirty="0">
                <a:solidFill>
                  <a:srgbClr val="9AA1B4"/>
                </a:solidFill>
                <a:latin typeface="Calibri" pitchFamily="34" charset="0"/>
                <a:ea typeface="Calibri" pitchFamily="34" charset="-122"/>
                <a:cs typeface="Calibri" pitchFamily="34" charset="-120"/>
              </a:rPr>
              <a:t>Discord guilds → preferred_locale</a:t>
            </a:r>
            <a:endParaRPr lang="en-US" sz="1050" dirty="0"/>
          </a:p>
        </p:txBody>
      </p:sp>
      <p:sp>
        <p:nvSpPr>
          <p:cNvPr id="26" name="Text 24"/>
          <p:cNvSpPr/>
          <p:nvPr/>
        </p:nvSpPr>
        <p:spPr>
          <a:xfrm>
            <a:off x="6686093" y="3346704"/>
            <a:ext cx="1360627" cy="402336"/>
          </a:xfrm>
          <a:prstGeom prst="rect">
            <a:avLst/>
          </a:prstGeom>
          <a:noFill/>
          <a:ln/>
        </p:spPr>
        <p:txBody>
          <a:bodyPr wrap="square" lIns="0" tIns="0" rIns="0" bIns="0" rtlCol="0" anchor="ctr"/>
          <a:lstStyle/>
          <a:p>
            <a:pPr indent="0" marL="0">
              <a:buNone/>
            </a:pPr>
            <a:r>
              <a:rPr lang="en-US" sz="1050" dirty="0">
                <a:solidFill>
                  <a:srgbClr val="F5C451"/>
                </a:solidFill>
                <a:latin typeface="Calibri" pitchFamily="34" charset="0"/>
                <a:ea typeface="Calibri" pitchFamily="34" charset="-122"/>
                <a:cs typeface="Calibri" pitchFamily="34" charset="-120"/>
              </a:rPr>
              <a:t>0.80</a:t>
            </a:r>
            <a:endParaRPr lang="en-US" sz="1050" dirty="0"/>
          </a:p>
        </p:txBody>
      </p:sp>
      <p:sp>
        <p:nvSpPr>
          <p:cNvPr id="27" name="Shape 25"/>
          <p:cNvSpPr/>
          <p:nvPr/>
        </p:nvSpPr>
        <p:spPr>
          <a:xfrm>
            <a:off x="804672" y="3730752"/>
            <a:ext cx="7351776" cy="9144"/>
          </a:xfrm>
          <a:prstGeom prst="rect">
            <a:avLst/>
          </a:prstGeom>
          <a:solidFill>
            <a:srgbClr val="2A2F40"/>
          </a:solidFill>
          <a:ln/>
        </p:spPr>
      </p:sp>
      <p:sp>
        <p:nvSpPr>
          <p:cNvPr id="28" name="Text 26"/>
          <p:cNvSpPr/>
          <p:nvPr/>
        </p:nvSpPr>
        <p:spPr>
          <a:xfrm>
            <a:off x="804672" y="3749040"/>
            <a:ext cx="551932" cy="402336"/>
          </a:xfrm>
          <a:prstGeom prst="rect">
            <a:avLst/>
          </a:prstGeom>
          <a:noFill/>
          <a:ln/>
        </p:spPr>
        <p:txBody>
          <a:bodyPr wrap="square" lIns="0" tIns="0" rIns="0" bIns="0" rtlCol="0" anchor="ctr"/>
          <a:lstStyle/>
          <a:p>
            <a:pPr indent="0" marL="0">
              <a:buNone/>
            </a:pPr>
            <a:r>
              <a:rPr lang="en-US" sz="1050" b="1" dirty="0">
                <a:solidFill>
                  <a:srgbClr val="E8EAF0"/>
                </a:solidFill>
                <a:latin typeface="Calibri" pitchFamily="34" charset="0"/>
                <a:ea typeface="Calibri" pitchFamily="34" charset="-122"/>
                <a:cs typeface="Calibri" pitchFamily="34" charset="-120"/>
              </a:rPr>
              <a:t>4</a:t>
            </a:r>
            <a:endParaRPr lang="en-US" sz="1050" dirty="0"/>
          </a:p>
        </p:txBody>
      </p:sp>
      <p:sp>
        <p:nvSpPr>
          <p:cNvPr id="29" name="Text 27"/>
          <p:cNvSpPr/>
          <p:nvPr/>
        </p:nvSpPr>
        <p:spPr>
          <a:xfrm>
            <a:off x="1466332" y="3749040"/>
            <a:ext cx="1801734" cy="402336"/>
          </a:xfrm>
          <a:prstGeom prst="rect">
            <a:avLst/>
          </a:prstGeom>
          <a:noFill/>
          <a:ln/>
        </p:spPr>
        <p:txBody>
          <a:bodyPr wrap="square" lIns="0" tIns="0" rIns="0" bIns="0" rtlCol="0" anchor="ctr"/>
          <a:lstStyle/>
          <a:p>
            <a:pPr indent="0" marL="0">
              <a:buNone/>
            </a:pPr>
            <a:r>
              <a:rPr lang="en-US" sz="1050" dirty="0">
                <a:solidFill>
                  <a:srgbClr val="E8EAF0"/>
                </a:solidFill>
                <a:latin typeface="Consolas" pitchFamily="34" charset="0"/>
                <a:ea typeface="Consolas" pitchFamily="34" charset="-122"/>
                <a:cs typeface="Consolas" pitchFamily="34" charset="-120"/>
              </a:rPr>
              <a:t>content_language</a:t>
            </a:r>
            <a:endParaRPr lang="en-US" sz="1050" dirty="0"/>
          </a:p>
        </p:txBody>
      </p:sp>
      <p:sp>
        <p:nvSpPr>
          <p:cNvPr id="30" name="Text 28"/>
          <p:cNvSpPr/>
          <p:nvPr/>
        </p:nvSpPr>
        <p:spPr>
          <a:xfrm>
            <a:off x="3377794" y="3749040"/>
            <a:ext cx="3198571" cy="402336"/>
          </a:xfrm>
          <a:prstGeom prst="rect">
            <a:avLst/>
          </a:prstGeom>
          <a:noFill/>
          <a:ln/>
        </p:spPr>
        <p:txBody>
          <a:bodyPr wrap="square" lIns="0" tIns="0" rIns="0" bIns="0" rtlCol="0" anchor="ctr"/>
          <a:lstStyle/>
          <a:p>
            <a:pPr indent="0" marL="0">
              <a:buNone/>
            </a:pPr>
            <a:r>
              <a:rPr lang="en-US" sz="1050" dirty="0">
                <a:solidFill>
                  <a:srgbClr val="9AA1B4"/>
                </a:solidFill>
                <a:latin typeface="Calibri" pitchFamily="34" charset="0"/>
                <a:ea typeface="Calibri" pitchFamily="34" charset="-122"/>
                <a:cs typeface="Calibri" pitchFamily="34" charset="-120"/>
              </a:rPr>
              <a:t>YouTube defaultAudioLanguage; Twitch language</a:t>
            </a:r>
            <a:endParaRPr lang="en-US" sz="1050" dirty="0"/>
          </a:p>
        </p:txBody>
      </p:sp>
      <p:sp>
        <p:nvSpPr>
          <p:cNvPr id="31" name="Text 29"/>
          <p:cNvSpPr/>
          <p:nvPr/>
        </p:nvSpPr>
        <p:spPr>
          <a:xfrm>
            <a:off x="6686093" y="3749040"/>
            <a:ext cx="1360627" cy="402336"/>
          </a:xfrm>
          <a:prstGeom prst="rect">
            <a:avLst/>
          </a:prstGeom>
          <a:noFill/>
          <a:ln/>
        </p:spPr>
        <p:txBody>
          <a:bodyPr wrap="square" lIns="0" tIns="0" rIns="0" bIns="0" rtlCol="0" anchor="ctr"/>
          <a:lstStyle/>
          <a:p>
            <a:pPr indent="0" marL="0">
              <a:buNone/>
            </a:pPr>
            <a:r>
              <a:rPr lang="en-US" sz="1050" dirty="0">
                <a:solidFill>
                  <a:srgbClr val="F5C451"/>
                </a:solidFill>
                <a:latin typeface="Calibri" pitchFamily="34" charset="0"/>
                <a:ea typeface="Calibri" pitchFamily="34" charset="-122"/>
                <a:cs typeface="Calibri" pitchFamily="34" charset="-120"/>
              </a:rPr>
              <a:t>0.70</a:t>
            </a:r>
            <a:endParaRPr lang="en-US" sz="1050" dirty="0"/>
          </a:p>
        </p:txBody>
      </p:sp>
      <p:sp>
        <p:nvSpPr>
          <p:cNvPr id="32" name="Shape 30"/>
          <p:cNvSpPr/>
          <p:nvPr/>
        </p:nvSpPr>
        <p:spPr>
          <a:xfrm>
            <a:off x="804672" y="4133088"/>
            <a:ext cx="7351776" cy="9144"/>
          </a:xfrm>
          <a:prstGeom prst="rect">
            <a:avLst/>
          </a:prstGeom>
          <a:solidFill>
            <a:srgbClr val="2A2F40"/>
          </a:solidFill>
          <a:ln/>
        </p:spPr>
      </p:sp>
      <p:sp>
        <p:nvSpPr>
          <p:cNvPr id="33" name="Text 31"/>
          <p:cNvSpPr/>
          <p:nvPr/>
        </p:nvSpPr>
        <p:spPr>
          <a:xfrm>
            <a:off x="804672" y="4151376"/>
            <a:ext cx="551932" cy="402336"/>
          </a:xfrm>
          <a:prstGeom prst="rect">
            <a:avLst/>
          </a:prstGeom>
          <a:noFill/>
          <a:ln/>
        </p:spPr>
        <p:txBody>
          <a:bodyPr wrap="square" lIns="0" tIns="0" rIns="0" bIns="0" rtlCol="0" anchor="ctr"/>
          <a:lstStyle/>
          <a:p>
            <a:pPr indent="0" marL="0">
              <a:buNone/>
            </a:pPr>
            <a:r>
              <a:rPr lang="en-US" sz="1050" b="1" dirty="0">
                <a:solidFill>
                  <a:srgbClr val="E8EAF0"/>
                </a:solidFill>
                <a:latin typeface="Calibri" pitchFamily="34" charset="0"/>
                <a:ea typeface="Calibri" pitchFamily="34" charset="-122"/>
                <a:cs typeface="Calibri" pitchFamily="34" charset="-120"/>
              </a:rPr>
              <a:t>5</a:t>
            </a:r>
            <a:endParaRPr lang="en-US" sz="1050" dirty="0"/>
          </a:p>
        </p:txBody>
      </p:sp>
      <p:sp>
        <p:nvSpPr>
          <p:cNvPr id="34" name="Text 32"/>
          <p:cNvSpPr/>
          <p:nvPr/>
        </p:nvSpPr>
        <p:spPr>
          <a:xfrm>
            <a:off x="1466332" y="4151376"/>
            <a:ext cx="1801734" cy="402336"/>
          </a:xfrm>
          <a:prstGeom prst="rect">
            <a:avLst/>
          </a:prstGeom>
          <a:noFill/>
          <a:ln/>
        </p:spPr>
        <p:txBody>
          <a:bodyPr wrap="square" lIns="0" tIns="0" rIns="0" bIns="0" rtlCol="0" anchor="ctr"/>
          <a:lstStyle/>
          <a:p>
            <a:pPr indent="0" marL="0">
              <a:buNone/>
            </a:pPr>
            <a:r>
              <a:rPr lang="en-US" sz="1050" dirty="0">
                <a:solidFill>
                  <a:srgbClr val="E8EAF0"/>
                </a:solidFill>
                <a:latin typeface="Consolas" pitchFamily="34" charset="0"/>
                <a:ea typeface="Consolas" pitchFamily="34" charset="-122"/>
                <a:cs typeface="Consolas" pitchFamily="34" charset="-120"/>
              </a:rPr>
              <a:t>text_language</a:t>
            </a:r>
            <a:endParaRPr lang="en-US" sz="1050" dirty="0"/>
          </a:p>
        </p:txBody>
      </p:sp>
      <p:sp>
        <p:nvSpPr>
          <p:cNvPr id="35" name="Text 33"/>
          <p:cNvSpPr/>
          <p:nvPr/>
        </p:nvSpPr>
        <p:spPr>
          <a:xfrm>
            <a:off x="3377794" y="4151376"/>
            <a:ext cx="3198571" cy="402336"/>
          </a:xfrm>
          <a:prstGeom prst="rect">
            <a:avLst/>
          </a:prstGeom>
          <a:noFill/>
          <a:ln/>
        </p:spPr>
        <p:txBody>
          <a:bodyPr wrap="square" lIns="0" tIns="0" rIns="0" bIns="0" rtlCol="0" anchor="ctr"/>
          <a:lstStyle/>
          <a:p>
            <a:pPr indent="0" marL="0">
              <a:buNone/>
            </a:pPr>
            <a:r>
              <a:rPr lang="en-US" sz="1050" dirty="0">
                <a:solidFill>
                  <a:srgbClr val="9AA1B4"/>
                </a:solidFill>
                <a:latin typeface="Calibri" pitchFamily="34" charset="0"/>
                <a:ea typeface="Calibri" pitchFamily="34" charset="-122"/>
                <a:cs typeface="Calibri" pitchFamily="34" charset="-120"/>
              </a:rPr>
              <a:t>Detected by the semantic layer — weakest</a:t>
            </a:r>
            <a:endParaRPr lang="en-US" sz="1050" dirty="0"/>
          </a:p>
        </p:txBody>
      </p:sp>
      <p:sp>
        <p:nvSpPr>
          <p:cNvPr id="36" name="Text 34"/>
          <p:cNvSpPr/>
          <p:nvPr/>
        </p:nvSpPr>
        <p:spPr>
          <a:xfrm>
            <a:off x="6686093" y="4151376"/>
            <a:ext cx="1360627" cy="402336"/>
          </a:xfrm>
          <a:prstGeom prst="rect">
            <a:avLst/>
          </a:prstGeom>
          <a:noFill/>
          <a:ln/>
        </p:spPr>
        <p:txBody>
          <a:bodyPr wrap="square" lIns="0" tIns="0" rIns="0" bIns="0" rtlCol="0" anchor="ctr"/>
          <a:lstStyle/>
          <a:p>
            <a:pPr indent="0" marL="0">
              <a:buNone/>
            </a:pPr>
            <a:r>
              <a:rPr lang="en-US" sz="1050" dirty="0">
                <a:solidFill>
                  <a:srgbClr val="FF6B6B"/>
                </a:solidFill>
                <a:latin typeface="Calibri" pitchFamily="34" charset="0"/>
                <a:ea typeface="Calibri" pitchFamily="34" charset="-122"/>
                <a:cs typeface="Calibri" pitchFamily="34" charset="-120"/>
              </a:rPr>
              <a:t>0.40</a:t>
            </a:r>
            <a:endParaRPr lang="en-US" sz="1050" dirty="0"/>
          </a:p>
        </p:txBody>
      </p:sp>
      <p:sp>
        <p:nvSpPr>
          <p:cNvPr id="37" name="Shape 35"/>
          <p:cNvSpPr/>
          <p:nvPr/>
        </p:nvSpPr>
        <p:spPr>
          <a:xfrm>
            <a:off x="8641080" y="2103120"/>
            <a:ext cx="2971800" cy="2651760"/>
          </a:xfrm>
          <a:prstGeom prst="roundRect">
            <a:avLst>
              <a:gd name="adj" fmla="val 2759"/>
            </a:avLst>
          </a:prstGeom>
          <a:solidFill>
            <a:srgbClr val="17231E"/>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38" name="Text 36"/>
          <p:cNvSpPr/>
          <p:nvPr/>
        </p:nvSpPr>
        <p:spPr>
          <a:xfrm>
            <a:off x="8915400" y="2267712"/>
            <a:ext cx="2468880" cy="274320"/>
          </a:xfrm>
          <a:prstGeom prst="rect">
            <a:avLst/>
          </a:prstGeom>
          <a:noFill/>
          <a:ln/>
        </p:spPr>
        <p:txBody>
          <a:bodyPr wrap="square" lIns="0" tIns="0" rIns="0" bIns="0" rtlCol="0" anchor="ctr"/>
          <a:lstStyle/>
          <a:p>
            <a:pPr indent="0" marL="0">
              <a:buNone/>
            </a:pPr>
            <a:r>
              <a:rPr lang="en-US" sz="1000" b="1" spc="100" kern="0" dirty="0">
                <a:solidFill>
                  <a:srgbClr val="3ECF8E"/>
                </a:solidFill>
                <a:latin typeface="Calibri" pitchFamily="34" charset="0"/>
                <a:ea typeface="Calibri" pitchFamily="34" charset="-122"/>
                <a:cs typeface="Calibri" pitchFamily="34" charset="-120"/>
              </a:rPr>
              <a:t>BUCKETS</a:t>
            </a:r>
            <a:endParaRPr lang="en-US" sz="1000" dirty="0"/>
          </a:p>
        </p:txBody>
      </p:sp>
      <p:sp>
        <p:nvSpPr>
          <p:cNvPr id="39" name="Text 37"/>
          <p:cNvSpPr/>
          <p:nvPr/>
        </p:nvSpPr>
        <p:spPr>
          <a:xfrm>
            <a:off x="8915400" y="2578608"/>
            <a:ext cx="2468880" cy="329184"/>
          </a:xfrm>
          <a:prstGeom prst="rect">
            <a:avLst/>
          </a:prstGeom>
          <a:noFill/>
          <a:ln/>
        </p:spPr>
        <p:txBody>
          <a:bodyPr wrap="square" lIns="0" tIns="0" rIns="0" bIns="0" rtlCol="0" anchor="ctr"/>
          <a:lstStyle/>
          <a:p>
            <a:pPr indent="0" marL="0">
              <a:buNone/>
            </a:pPr>
            <a:r>
              <a:rPr lang="en-US" sz="1300" b="1" dirty="0">
                <a:solidFill>
                  <a:srgbClr val="E8EAF0"/>
                </a:solidFill>
                <a:latin typeface="Calibri" pitchFamily="34" charset="0"/>
                <a:ea typeface="Calibri" pitchFamily="34" charset="-122"/>
                <a:cs typeface="Calibri" pitchFamily="34" charset="-120"/>
              </a:rPr>
              <a:t>Americas</a:t>
            </a:r>
            <a:endParaRPr lang="en-US" sz="1300" dirty="0"/>
          </a:p>
        </p:txBody>
      </p:sp>
      <p:sp>
        <p:nvSpPr>
          <p:cNvPr id="40" name="Text 38"/>
          <p:cNvSpPr/>
          <p:nvPr/>
        </p:nvSpPr>
        <p:spPr>
          <a:xfrm>
            <a:off x="8915400" y="2962656"/>
            <a:ext cx="2468880" cy="329184"/>
          </a:xfrm>
          <a:prstGeom prst="rect">
            <a:avLst/>
          </a:prstGeom>
          <a:noFill/>
          <a:ln/>
        </p:spPr>
        <p:txBody>
          <a:bodyPr wrap="square" lIns="0" tIns="0" rIns="0" bIns="0" rtlCol="0" anchor="ctr"/>
          <a:lstStyle/>
          <a:p>
            <a:pPr indent="0" marL="0">
              <a:buNone/>
            </a:pPr>
            <a:r>
              <a:rPr lang="en-US" sz="1300" b="1" dirty="0">
                <a:solidFill>
                  <a:srgbClr val="E8EAF0"/>
                </a:solidFill>
                <a:latin typeface="Calibri" pitchFamily="34" charset="0"/>
                <a:ea typeface="Calibri" pitchFamily="34" charset="-122"/>
                <a:cs typeface="Calibri" pitchFamily="34" charset="-120"/>
              </a:rPr>
              <a:t>EMEA</a:t>
            </a:r>
            <a:endParaRPr lang="en-US" sz="1300" dirty="0"/>
          </a:p>
        </p:txBody>
      </p:sp>
      <p:sp>
        <p:nvSpPr>
          <p:cNvPr id="41" name="Text 39"/>
          <p:cNvSpPr/>
          <p:nvPr/>
        </p:nvSpPr>
        <p:spPr>
          <a:xfrm>
            <a:off x="8915400" y="3346704"/>
            <a:ext cx="2468880" cy="329184"/>
          </a:xfrm>
          <a:prstGeom prst="rect">
            <a:avLst/>
          </a:prstGeom>
          <a:noFill/>
          <a:ln/>
        </p:spPr>
        <p:txBody>
          <a:bodyPr wrap="square" lIns="0" tIns="0" rIns="0" bIns="0" rtlCol="0" anchor="ctr"/>
          <a:lstStyle/>
          <a:p>
            <a:pPr indent="0" marL="0">
              <a:buNone/>
            </a:pPr>
            <a:r>
              <a:rPr lang="en-US" sz="1300" b="1" dirty="0">
                <a:solidFill>
                  <a:srgbClr val="E8EAF0"/>
                </a:solidFill>
                <a:latin typeface="Calibri" pitchFamily="34" charset="0"/>
                <a:ea typeface="Calibri" pitchFamily="34" charset="-122"/>
                <a:cs typeface="Calibri" pitchFamily="34" charset="-120"/>
              </a:rPr>
              <a:t>APAC</a:t>
            </a:r>
            <a:endParaRPr lang="en-US" sz="1300" dirty="0"/>
          </a:p>
        </p:txBody>
      </p:sp>
      <p:sp>
        <p:nvSpPr>
          <p:cNvPr id="42" name="Text 40"/>
          <p:cNvSpPr/>
          <p:nvPr/>
        </p:nvSpPr>
        <p:spPr>
          <a:xfrm>
            <a:off x="8915400" y="3730752"/>
            <a:ext cx="2468880" cy="329184"/>
          </a:xfrm>
          <a:prstGeom prst="rect">
            <a:avLst/>
          </a:prstGeom>
          <a:noFill/>
          <a:ln/>
        </p:spPr>
        <p:txBody>
          <a:bodyPr wrap="square" lIns="0" tIns="0" rIns="0" bIns="0" rtlCol="0" anchor="ctr"/>
          <a:lstStyle/>
          <a:p>
            <a:pPr indent="0" marL="0">
              <a:buNone/>
            </a:pPr>
            <a:r>
              <a:rPr lang="en-US" sz="1300" dirty="0">
                <a:solidFill>
                  <a:srgbClr val="9AA1B4"/>
                </a:solidFill>
                <a:latin typeface="Calibri" pitchFamily="34" charset="0"/>
                <a:ea typeface="Calibri" pitchFamily="34" charset="-122"/>
                <a:cs typeface="Calibri" pitchFamily="34" charset="-120"/>
              </a:rPr>
              <a:t>Undetermined</a:t>
            </a:r>
            <a:endParaRPr lang="en-US" sz="1300" dirty="0"/>
          </a:p>
        </p:txBody>
      </p:sp>
      <p:sp>
        <p:nvSpPr>
          <p:cNvPr id="43" name="Text 41"/>
          <p:cNvSpPr/>
          <p:nvPr/>
        </p:nvSpPr>
        <p:spPr>
          <a:xfrm>
            <a:off x="8915400" y="4160520"/>
            <a:ext cx="2468880" cy="548640"/>
          </a:xfrm>
          <a:prstGeom prst="rect">
            <a:avLst/>
          </a:prstGeom>
          <a:noFill/>
          <a:ln/>
        </p:spPr>
        <p:txBody>
          <a:bodyPr wrap="square" lIns="0" tIns="0" rIns="0" bIns="0" rtlCol="0" anchor="ctr"/>
          <a:lstStyle/>
          <a:p>
            <a:pPr indent="0" marL="0">
              <a:lnSpc>
                <a:spcPct val="110000"/>
              </a:lnSpc>
              <a:buNone/>
            </a:pPr>
            <a:r>
              <a:rPr lang="en-US" sz="1000" dirty="0">
                <a:solidFill>
                  <a:srgbClr val="9AA1B4"/>
                </a:solidFill>
                <a:latin typeface="Calibri" pitchFamily="34" charset="0"/>
                <a:ea typeface="Calibri" pitchFamily="34" charset="-122"/>
                <a:cs typeface="Calibri" pitchFamily="34" charset="-120"/>
              </a:rPr>
              <a:t>Records with no usable signal show as Undetermined rather than being quietly defaulted into a region.</a:t>
            </a:r>
            <a:endParaRPr lang="en-US" sz="1000" dirty="0"/>
          </a:p>
        </p:txBody>
      </p:sp>
      <p:sp>
        <p:nvSpPr>
          <p:cNvPr id="44" name="Shape 42"/>
          <p:cNvSpPr/>
          <p:nvPr/>
        </p:nvSpPr>
        <p:spPr>
          <a:xfrm>
            <a:off x="548640" y="4864608"/>
            <a:ext cx="5486400" cy="1115568"/>
          </a:xfrm>
          <a:prstGeom prst="roundRect">
            <a:avLst>
              <a:gd name="adj" fmla="val 6557"/>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45" name="Text 43"/>
          <p:cNvSpPr/>
          <p:nvPr/>
        </p:nvSpPr>
        <p:spPr>
          <a:xfrm>
            <a:off x="822960" y="4983480"/>
            <a:ext cx="4983480" cy="868680"/>
          </a:xfrm>
          <a:prstGeom prst="rect">
            <a:avLst/>
          </a:prstGeom>
          <a:noFill/>
          <a:ln/>
        </p:spPr>
        <p:txBody>
          <a:bodyPr wrap="square" lIns="0" tIns="0" rIns="0" bIns="0" rtlCol="0" anchor="ctr"/>
          <a:lstStyle/>
          <a:p>
            <a:pPr indent="0" marL="0">
              <a:lnSpc>
                <a:spcPct val="110000"/>
              </a:lnSpc>
              <a:buNone/>
            </a:pPr>
            <a:r>
              <a:rPr lang="en-US" sz="1100" dirty="0">
                <a:solidFill>
                  <a:srgbClr val="E8EAF0"/>
                </a:solidFill>
                <a:latin typeface="Calibri" pitchFamily="34" charset="0"/>
                <a:ea typeface="Calibri" pitchFamily="34" charset="-122"/>
                <a:cs typeface="Calibri" pitchFamily="34" charset="-120"/>
              </a:rPr>
              <a:t>Every record stores the region, which signal decided it, and a confidence — so any regional figure is auditable back to a specific API field. Region is a global filter with its own panel.</a:t>
            </a:r>
            <a:endParaRPr lang="en-US" sz="1100" dirty="0"/>
          </a:p>
        </p:txBody>
      </p:sp>
      <p:sp>
        <p:nvSpPr>
          <p:cNvPr id="46" name="Shape 44"/>
          <p:cNvSpPr/>
          <p:nvPr/>
        </p:nvSpPr>
        <p:spPr>
          <a:xfrm>
            <a:off x="6263640" y="4864608"/>
            <a:ext cx="5349240" cy="1115568"/>
          </a:xfrm>
          <a:prstGeom prst="roundRect">
            <a:avLst>
              <a:gd name="adj" fmla="val 6557"/>
            </a:avLst>
          </a:prstGeom>
          <a:solidFill>
            <a:srgbClr val="231819"/>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47" name="Text 45"/>
          <p:cNvSpPr/>
          <p:nvPr/>
        </p:nvSpPr>
        <p:spPr>
          <a:xfrm>
            <a:off x="6537960" y="4956048"/>
            <a:ext cx="4754880" cy="274320"/>
          </a:xfrm>
          <a:prstGeom prst="rect">
            <a:avLst/>
          </a:prstGeom>
          <a:noFill/>
          <a:ln/>
        </p:spPr>
        <p:txBody>
          <a:bodyPr wrap="square" lIns="0" tIns="0" rIns="0" bIns="0" rtlCol="0" anchor="ctr"/>
          <a:lstStyle/>
          <a:p>
            <a:pPr indent="0" marL="0">
              <a:buNone/>
            </a:pPr>
            <a:r>
              <a:rPr lang="en-US" sz="1000" b="1" spc="100" kern="0" dirty="0">
                <a:solidFill>
                  <a:srgbClr val="FF6B6B"/>
                </a:solidFill>
                <a:latin typeface="Calibri" pitchFamily="34" charset="0"/>
                <a:ea typeface="Calibri" pitchFamily="34" charset="-122"/>
                <a:cs typeface="Calibri" pitchFamily="34" charset="-120"/>
              </a:rPr>
              <a:t>THE HONEST LIMITATION</a:t>
            </a:r>
            <a:endParaRPr lang="en-US" sz="1000" dirty="0"/>
          </a:p>
        </p:txBody>
      </p:sp>
      <p:sp>
        <p:nvSpPr>
          <p:cNvPr id="48" name="Text 46"/>
          <p:cNvSpPr/>
          <p:nvPr/>
        </p:nvSpPr>
        <p:spPr>
          <a:xfrm>
            <a:off x="6537960" y="5230368"/>
            <a:ext cx="4800600" cy="658368"/>
          </a:xfrm>
          <a:prstGeom prst="rect">
            <a:avLst/>
          </a:prstGeom>
          <a:noFill/>
          <a:ln/>
        </p:spPr>
        <p:txBody>
          <a:bodyPr wrap="square" lIns="0" tIns="0" rIns="0" bIns="0" rtlCol="0" anchor="ctr"/>
          <a:lstStyle/>
          <a:p>
            <a:pPr indent="0" marL="0">
              <a:lnSpc>
                <a:spcPct val="108000"/>
              </a:lnSpc>
              <a:buNone/>
            </a:pPr>
            <a:r>
              <a:rPr lang="en-US" sz="1000" dirty="0">
                <a:solidFill>
                  <a:srgbClr val="9AA1B4"/>
                </a:solidFill>
                <a:latin typeface="Calibri" pitchFamily="34" charset="0"/>
                <a:ea typeface="Calibri" pitchFamily="34" charset="-122"/>
                <a:cs typeface="Calibri" pitchFamily="34" charset="-120"/>
              </a:rPr>
              <a:t>The tracked channels are global publisher channels. Each declares one country, so a whole catalogue lands in one bucket. Regional sources are config entries, not code — and given your China/West position, that is the highest-value change available.</a:t>
            </a:r>
            <a:endParaRPr lang="en-US" sz="1000" dirty="0"/>
          </a:p>
        </p:txBody>
      </p:sp>
      <p:sp>
        <p:nvSpPr>
          <p:cNvPr id="49" name="Text 47"/>
          <p:cNvSpPr/>
          <p:nvPr/>
        </p:nvSpPr>
        <p:spPr>
          <a:xfrm>
            <a:off x="548640" y="6080760"/>
            <a:ext cx="1508760"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WHERE IT LIVES</a:t>
            </a:r>
            <a:endParaRPr lang="en-US" sz="950" dirty="0"/>
          </a:p>
        </p:txBody>
      </p:sp>
      <p:sp>
        <p:nvSpPr>
          <p:cNvPr id="50" name="Text 48"/>
          <p:cNvSpPr/>
          <p:nvPr/>
        </p:nvSpPr>
        <p:spPr>
          <a:xfrm>
            <a:off x="2057400" y="6080760"/>
            <a:ext cx="9555480" cy="292608"/>
          </a:xfrm>
          <a:prstGeom prst="rect">
            <a:avLst/>
          </a:prstGeom>
          <a:noFill/>
          <a:ln/>
        </p:spPr>
        <p:txBody>
          <a:bodyPr wrap="square" lIns="0" tIns="0" rIns="0" bIns="0" rtlCol="0" anchor="ctr"/>
          <a:lstStyle/>
          <a:p>
            <a:pPr indent="0" marL="0">
              <a:buNone/>
            </a:pPr>
            <a:r>
              <a:rPr lang="en-US" sz="1100" dirty="0">
                <a:solidFill>
                  <a:srgbClr val="6C8CFF"/>
                </a:solidFill>
                <a:latin typeface="Consolas" pitchFamily="34" charset="0"/>
                <a:ea typeface="Consolas" pitchFamily="34" charset="-122"/>
                <a:cs typeface="Consolas" pitchFamily="34" charset="-120"/>
              </a:rPr>
              <a:t>server/lib/region.js  ·  server/config/*.json</a:t>
            </a:r>
            <a:endParaRPr lang="en-US" sz="1100" dirty="0"/>
          </a:p>
        </p:txBody>
      </p:sp>
      <p:sp>
        <p:nvSpPr>
          <p:cNvPr id="51" name="Text 49"/>
          <p:cNvSpPr/>
          <p:nvPr/>
        </p:nvSpPr>
        <p:spPr>
          <a:xfrm>
            <a:off x="548640" y="6537960"/>
            <a:ext cx="6400800" cy="274320"/>
          </a:xfrm>
          <a:prstGeom prst="rect">
            <a:avLst/>
          </a:prstGeom>
          <a:noFill/>
          <a:ln/>
        </p:spPr>
        <p:txBody>
          <a:bodyPr wrap="square" lIns="0" tIns="0" rIns="0" bIns="0" rtlCol="0" anchor="ctr"/>
          <a:lstStyle/>
          <a:p>
            <a:pPr indent="0" marL="0">
              <a:buNone/>
            </a:pPr>
            <a:r>
              <a:rPr lang="en-US" sz="900" dirty="0">
                <a:solidFill>
                  <a:srgbClr val="9AA1B4"/>
                </a:solidFill>
                <a:latin typeface="Calibri" pitchFamily="34" charset="0"/>
                <a:ea typeface="Calibri" pitchFamily="34" charset="-122"/>
                <a:cs typeface="Calibri" pitchFamily="34" charset="-120"/>
              </a:rPr>
              <a:t>Gaming Community Pulse v2 — prepared for Ruisheng Holdings</a:t>
            </a:r>
            <a:endParaRPr lang="en-US" sz="900" dirty="0"/>
          </a:p>
        </p:txBody>
      </p:sp>
      <p:sp>
        <p:nvSpPr>
          <p:cNvPr id="52" name="Text 50"/>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1B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6C8CFF"/>
                </a:solidFill>
                <a:latin typeface="Calibri" pitchFamily="34" charset="0"/>
                <a:ea typeface="Calibri" pitchFamily="34" charset="-122"/>
                <a:cs typeface="Calibri" pitchFamily="34" charset="-120"/>
              </a:rPr>
              <a:t>QUESTION 4 — SOURCES &amp; PROCESSING</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E8EAF0"/>
                </a:solidFill>
                <a:latin typeface="Cambria" pitchFamily="34" charset="0"/>
                <a:ea typeface="Cambria" pitchFamily="34" charset="-122"/>
                <a:cs typeface="Cambria" pitchFamily="34" charset="-120"/>
              </a:rPr>
              <a:t>Four official APIs in, one shared schema out</a:t>
            </a:r>
            <a:endParaRPr lang="en-US" sz="2800" dirty="0"/>
          </a:p>
        </p:txBody>
      </p:sp>
      <p:sp>
        <p:nvSpPr>
          <p:cNvPr id="4" name="Shape 2"/>
          <p:cNvSpPr/>
          <p:nvPr/>
        </p:nvSpPr>
        <p:spPr>
          <a:xfrm>
            <a:off x="548640" y="1298448"/>
            <a:ext cx="11064240" cy="658368"/>
          </a:xfrm>
          <a:prstGeom prst="roundRect">
            <a:avLst>
              <a:gd name="adj" fmla="val 11111"/>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685800" y="1444752"/>
            <a:ext cx="91440" cy="365760"/>
          </a:xfrm>
          <a:prstGeom prst="roundRect">
            <a:avLst>
              <a:gd name="adj" fmla="val 50000"/>
            </a:avLst>
          </a:prstGeom>
          <a:solidFill>
            <a:srgbClr val="6C8CFF"/>
          </a:solidFill>
          <a:ln/>
        </p:spPr>
      </p:sp>
      <p:sp>
        <p:nvSpPr>
          <p:cNvPr id="6" name="Text 4"/>
          <p:cNvSpPr/>
          <p:nvPr/>
        </p:nvSpPr>
        <p:spPr>
          <a:xfrm>
            <a:off x="932688" y="1389888"/>
            <a:ext cx="10515600" cy="475488"/>
          </a:xfrm>
          <a:prstGeom prst="rect">
            <a:avLst/>
          </a:prstGeom>
          <a:noFill/>
          <a:ln/>
        </p:spPr>
        <p:txBody>
          <a:bodyPr wrap="square" lIns="0" tIns="0" rIns="0" bIns="0" rtlCol="0" anchor="ctr"/>
          <a:lstStyle/>
          <a:p>
            <a:pPr indent="0" marL="0">
              <a:lnSpc>
                <a:spcPct val="105000"/>
              </a:lnSpc>
              <a:buNone/>
            </a:pPr>
            <a:r>
              <a:rPr lang="en-US" sz="1250" i="1" dirty="0">
                <a:solidFill>
                  <a:srgbClr val="E8EAF0"/>
                </a:solidFill>
                <a:latin typeface="Cambria" pitchFamily="34" charset="0"/>
                <a:ea typeface="Cambria" pitchFamily="34" charset="-122"/>
                <a:cs typeface="Cambria" pitchFamily="34" charset="-120"/>
              </a:rPr>
              <a:t>“What data sources are currently being used? … How is the data processed and structured? How does the data flow from the original source through to the dashboard?”</a:t>
            </a:r>
            <a:endParaRPr lang="en-US" sz="1250" dirty="0"/>
          </a:p>
        </p:txBody>
      </p:sp>
      <p:sp>
        <p:nvSpPr>
          <p:cNvPr id="7" name="Shape 5"/>
          <p:cNvSpPr/>
          <p:nvPr/>
        </p:nvSpPr>
        <p:spPr>
          <a:xfrm>
            <a:off x="548640" y="2084832"/>
            <a:ext cx="6903720" cy="2633472"/>
          </a:xfrm>
          <a:prstGeom prst="roundRect">
            <a:avLst>
              <a:gd name="adj" fmla="val 2778"/>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8" name="Text 6"/>
          <p:cNvSpPr/>
          <p:nvPr/>
        </p:nvSpPr>
        <p:spPr>
          <a:xfrm>
            <a:off x="804672" y="2212848"/>
            <a:ext cx="849020"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CHANNEL</a:t>
            </a:r>
            <a:endParaRPr lang="en-US" sz="950" dirty="0"/>
          </a:p>
        </p:txBody>
      </p:sp>
      <p:sp>
        <p:nvSpPr>
          <p:cNvPr id="9" name="Text 7"/>
          <p:cNvSpPr/>
          <p:nvPr/>
        </p:nvSpPr>
        <p:spPr>
          <a:xfrm>
            <a:off x="1763420" y="2212848"/>
            <a:ext cx="3086100"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METHOD</a:t>
            </a:r>
            <a:endParaRPr lang="en-US" sz="950" dirty="0"/>
          </a:p>
        </p:txBody>
      </p:sp>
      <p:sp>
        <p:nvSpPr>
          <p:cNvPr id="10" name="Text 8"/>
          <p:cNvSpPr/>
          <p:nvPr/>
        </p:nvSpPr>
        <p:spPr>
          <a:xfrm>
            <a:off x="4959248" y="2212848"/>
            <a:ext cx="2127352"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COMPLIANCE POSITION</a:t>
            </a:r>
            <a:endParaRPr lang="en-US" sz="950" dirty="0"/>
          </a:p>
        </p:txBody>
      </p:sp>
      <p:sp>
        <p:nvSpPr>
          <p:cNvPr id="11" name="Shape 9"/>
          <p:cNvSpPr/>
          <p:nvPr/>
        </p:nvSpPr>
        <p:spPr>
          <a:xfrm>
            <a:off x="804672" y="2505456"/>
            <a:ext cx="6391656" cy="9144"/>
          </a:xfrm>
          <a:prstGeom prst="rect">
            <a:avLst/>
          </a:prstGeom>
          <a:solidFill>
            <a:srgbClr val="2A2F40"/>
          </a:solidFill>
          <a:ln/>
        </p:spPr>
      </p:sp>
      <p:sp>
        <p:nvSpPr>
          <p:cNvPr id="12" name="Text 10"/>
          <p:cNvSpPr/>
          <p:nvPr/>
        </p:nvSpPr>
        <p:spPr>
          <a:xfrm>
            <a:off x="804672" y="2523744"/>
            <a:ext cx="849020" cy="512064"/>
          </a:xfrm>
          <a:prstGeom prst="rect">
            <a:avLst/>
          </a:prstGeom>
          <a:noFill/>
          <a:ln/>
        </p:spPr>
        <p:txBody>
          <a:bodyPr wrap="square" lIns="0" tIns="0" rIns="0" bIns="0" rtlCol="0" anchor="ctr"/>
          <a:lstStyle/>
          <a:p>
            <a:pPr indent="0" marL="0">
              <a:buNone/>
            </a:pPr>
            <a:r>
              <a:rPr lang="en-US" sz="1000" b="1" dirty="0">
                <a:solidFill>
                  <a:srgbClr val="E8EAF0"/>
                </a:solidFill>
                <a:latin typeface="Calibri" pitchFamily="34" charset="0"/>
                <a:ea typeface="Calibri" pitchFamily="34" charset="-122"/>
                <a:cs typeface="Calibri" pitchFamily="34" charset="-120"/>
              </a:rPr>
              <a:t>YouTube</a:t>
            </a:r>
            <a:endParaRPr lang="en-US" sz="1000" dirty="0"/>
          </a:p>
        </p:txBody>
      </p:sp>
      <p:sp>
        <p:nvSpPr>
          <p:cNvPr id="13" name="Text 11"/>
          <p:cNvSpPr/>
          <p:nvPr/>
        </p:nvSpPr>
        <p:spPr>
          <a:xfrm>
            <a:off x="1763420" y="2523744"/>
            <a:ext cx="3086100" cy="512064"/>
          </a:xfrm>
          <a:prstGeom prst="rect">
            <a:avLst/>
          </a:prstGeom>
          <a:noFill/>
          <a:ln/>
        </p:spPr>
        <p:txBody>
          <a:bodyPr wrap="square" lIns="0" tIns="0" rIns="0" bIns="0" rtlCol="0" anchor="ctr"/>
          <a:lstStyle/>
          <a:p>
            <a:pPr indent="0" marL="0">
              <a:buNone/>
            </a:pPr>
            <a:r>
              <a:rPr lang="en-US" sz="1000" dirty="0">
                <a:solidFill>
                  <a:srgbClr val="9AA1B4"/>
                </a:solidFill>
                <a:latin typeface="Calibri" pitchFamily="34" charset="0"/>
                <a:ea typeface="Calibri" pitchFamily="34" charset="-122"/>
                <a:cs typeface="Calibri" pitchFamily="34" charset="-120"/>
              </a:rPr>
              <a:t>Data API v3 — uploads, then comment threads</a:t>
            </a:r>
            <a:endParaRPr lang="en-US" sz="1000" dirty="0"/>
          </a:p>
        </p:txBody>
      </p:sp>
      <p:sp>
        <p:nvSpPr>
          <p:cNvPr id="14" name="Text 12"/>
          <p:cNvSpPr/>
          <p:nvPr/>
        </p:nvSpPr>
        <p:spPr>
          <a:xfrm>
            <a:off x="4959248" y="2523744"/>
            <a:ext cx="2127352" cy="512064"/>
          </a:xfrm>
          <a:prstGeom prst="rect">
            <a:avLst/>
          </a:prstGeom>
          <a:noFill/>
          <a:ln/>
        </p:spPr>
        <p:txBody>
          <a:bodyPr wrap="square" lIns="0" tIns="0" rIns="0" bIns="0" rtlCol="0" anchor="ctr"/>
          <a:lstStyle/>
          <a:p>
            <a:pPr indent="0" marL="0">
              <a:buNone/>
            </a:pPr>
            <a:r>
              <a:rPr lang="en-US" sz="1000" dirty="0">
                <a:solidFill>
                  <a:srgbClr val="9AA1B4"/>
                </a:solidFill>
                <a:latin typeface="Calibri" pitchFamily="34" charset="0"/>
                <a:ea typeface="Calibri" pitchFamily="34" charset="-122"/>
                <a:cs typeface="Calibri" pitchFamily="34" charset="-120"/>
              </a:rPr>
              <a:t>API key. A full refresh costs ~95 of the 10,000 daily units</a:t>
            </a:r>
            <a:endParaRPr lang="en-US" sz="1000" dirty="0"/>
          </a:p>
        </p:txBody>
      </p:sp>
      <p:sp>
        <p:nvSpPr>
          <p:cNvPr id="15" name="Shape 13"/>
          <p:cNvSpPr/>
          <p:nvPr/>
        </p:nvSpPr>
        <p:spPr>
          <a:xfrm>
            <a:off x="804672" y="3017520"/>
            <a:ext cx="6391656" cy="9144"/>
          </a:xfrm>
          <a:prstGeom prst="rect">
            <a:avLst/>
          </a:prstGeom>
          <a:solidFill>
            <a:srgbClr val="2A2F40"/>
          </a:solidFill>
          <a:ln/>
        </p:spPr>
      </p:sp>
      <p:sp>
        <p:nvSpPr>
          <p:cNvPr id="16" name="Text 14"/>
          <p:cNvSpPr/>
          <p:nvPr/>
        </p:nvSpPr>
        <p:spPr>
          <a:xfrm>
            <a:off x="804672" y="3035808"/>
            <a:ext cx="849020" cy="512064"/>
          </a:xfrm>
          <a:prstGeom prst="rect">
            <a:avLst/>
          </a:prstGeom>
          <a:noFill/>
          <a:ln/>
        </p:spPr>
        <p:txBody>
          <a:bodyPr wrap="square" lIns="0" tIns="0" rIns="0" bIns="0" rtlCol="0" anchor="ctr"/>
          <a:lstStyle/>
          <a:p>
            <a:pPr indent="0" marL="0">
              <a:buNone/>
            </a:pPr>
            <a:r>
              <a:rPr lang="en-US" sz="1000" b="1" dirty="0">
                <a:solidFill>
                  <a:srgbClr val="E8EAF0"/>
                </a:solidFill>
                <a:latin typeface="Calibri" pitchFamily="34" charset="0"/>
                <a:ea typeface="Calibri" pitchFamily="34" charset="-122"/>
                <a:cs typeface="Calibri" pitchFamily="34" charset="-120"/>
              </a:rPr>
              <a:t>Reddit</a:t>
            </a:r>
            <a:endParaRPr lang="en-US" sz="1000" dirty="0"/>
          </a:p>
        </p:txBody>
      </p:sp>
      <p:sp>
        <p:nvSpPr>
          <p:cNvPr id="17" name="Text 15"/>
          <p:cNvSpPr/>
          <p:nvPr/>
        </p:nvSpPr>
        <p:spPr>
          <a:xfrm>
            <a:off x="1763420" y="3035808"/>
            <a:ext cx="3086100" cy="512064"/>
          </a:xfrm>
          <a:prstGeom prst="rect">
            <a:avLst/>
          </a:prstGeom>
          <a:noFill/>
          <a:ln/>
        </p:spPr>
        <p:txBody>
          <a:bodyPr wrap="square" lIns="0" tIns="0" rIns="0" bIns="0" rtlCol="0" anchor="ctr"/>
          <a:lstStyle/>
          <a:p>
            <a:pPr indent="0" marL="0">
              <a:buNone/>
            </a:pPr>
            <a:r>
              <a:rPr lang="en-US" sz="1000" dirty="0">
                <a:solidFill>
                  <a:srgbClr val="9AA1B4"/>
                </a:solidFill>
                <a:latin typeface="Calibri" pitchFamily="34" charset="0"/>
                <a:ea typeface="Calibri" pitchFamily="34" charset="-122"/>
                <a:cs typeface="Calibri" pitchFamily="34" charset="-120"/>
              </a:rPr>
              <a:t>Official OAuth API — top posts and recent comments</a:t>
            </a:r>
            <a:endParaRPr lang="en-US" sz="1000" dirty="0"/>
          </a:p>
        </p:txBody>
      </p:sp>
      <p:sp>
        <p:nvSpPr>
          <p:cNvPr id="18" name="Text 16"/>
          <p:cNvSpPr/>
          <p:nvPr/>
        </p:nvSpPr>
        <p:spPr>
          <a:xfrm>
            <a:off x="4959248" y="3035808"/>
            <a:ext cx="2127352" cy="512064"/>
          </a:xfrm>
          <a:prstGeom prst="rect">
            <a:avLst/>
          </a:prstGeom>
          <a:noFill/>
          <a:ln/>
        </p:spPr>
        <p:txBody>
          <a:bodyPr wrap="square" lIns="0" tIns="0" rIns="0" bIns="0" rtlCol="0" anchor="ctr"/>
          <a:lstStyle/>
          <a:p>
            <a:pPr indent="0" marL="0">
              <a:buNone/>
            </a:pPr>
            <a:r>
              <a:rPr lang="en-US" sz="1000" dirty="0">
                <a:solidFill>
                  <a:srgbClr val="9AA1B4"/>
                </a:solidFill>
                <a:latin typeface="Calibri" pitchFamily="34" charset="0"/>
                <a:ea typeface="Calibri" pitchFamily="34" charset="-122"/>
                <a:cs typeface="Calibri" pitchFamily="34" charset="-120"/>
              </a:rPr>
              <a:t>Application-only, read-only, identifying User-Agent. No scraping</a:t>
            </a:r>
            <a:endParaRPr lang="en-US" sz="1000" dirty="0"/>
          </a:p>
        </p:txBody>
      </p:sp>
      <p:sp>
        <p:nvSpPr>
          <p:cNvPr id="19" name="Shape 17"/>
          <p:cNvSpPr/>
          <p:nvPr/>
        </p:nvSpPr>
        <p:spPr>
          <a:xfrm>
            <a:off x="804672" y="3529584"/>
            <a:ext cx="6391656" cy="9144"/>
          </a:xfrm>
          <a:prstGeom prst="rect">
            <a:avLst/>
          </a:prstGeom>
          <a:solidFill>
            <a:srgbClr val="2A2F40"/>
          </a:solidFill>
          <a:ln/>
        </p:spPr>
      </p:sp>
      <p:sp>
        <p:nvSpPr>
          <p:cNvPr id="20" name="Text 18"/>
          <p:cNvSpPr/>
          <p:nvPr/>
        </p:nvSpPr>
        <p:spPr>
          <a:xfrm>
            <a:off x="804672" y="3547872"/>
            <a:ext cx="849020" cy="512064"/>
          </a:xfrm>
          <a:prstGeom prst="rect">
            <a:avLst/>
          </a:prstGeom>
          <a:noFill/>
          <a:ln/>
        </p:spPr>
        <p:txBody>
          <a:bodyPr wrap="square" lIns="0" tIns="0" rIns="0" bIns="0" rtlCol="0" anchor="ctr"/>
          <a:lstStyle/>
          <a:p>
            <a:pPr indent="0" marL="0">
              <a:buNone/>
            </a:pPr>
            <a:r>
              <a:rPr lang="en-US" sz="1000" b="1" dirty="0">
                <a:solidFill>
                  <a:srgbClr val="E8EAF0"/>
                </a:solidFill>
                <a:latin typeface="Calibri" pitchFamily="34" charset="0"/>
                <a:ea typeface="Calibri" pitchFamily="34" charset="-122"/>
                <a:cs typeface="Calibri" pitchFamily="34" charset="-120"/>
              </a:rPr>
              <a:t>Discord</a:t>
            </a:r>
            <a:endParaRPr lang="en-US" sz="1000" dirty="0"/>
          </a:p>
        </p:txBody>
      </p:sp>
      <p:sp>
        <p:nvSpPr>
          <p:cNvPr id="21" name="Text 19"/>
          <p:cNvSpPr/>
          <p:nvPr/>
        </p:nvSpPr>
        <p:spPr>
          <a:xfrm>
            <a:off x="1763420" y="3547872"/>
            <a:ext cx="3086100" cy="512064"/>
          </a:xfrm>
          <a:prstGeom prst="rect">
            <a:avLst/>
          </a:prstGeom>
          <a:noFill/>
          <a:ln/>
        </p:spPr>
        <p:txBody>
          <a:bodyPr wrap="square" lIns="0" tIns="0" rIns="0" bIns="0" rtlCol="0" anchor="ctr"/>
          <a:lstStyle/>
          <a:p>
            <a:pPr indent="0" marL="0">
              <a:buNone/>
            </a:pPr>
            <a:r>
              <a:rPr lang="en-US" sz="1000" dirty="0">
                <a:solidFill>
                  <a:srgbClr val="9AA1B4"/>
                </a:solidFill>
                <a:latin typeface="Calibri" pitchFamily="34" charset="0"/>
                <a:ea typeface="Calibri" pitchFamily="34" charset="-122"/>
                <a:cs typeface="Calibri" pitchFamily="34" charset="-120"/>
              </a:rPr>
              <a:t>Bot REST API, where permissioned</a:t>
            </a:r>
            <a:endParaRPr lang="en-US" sz="1000" dirty="0"/>
          </a:p>
        </p:txBody>
      </p:sp>
      <p:sp>
        <p:nvSpPr>
          <p:cNvPr id="22" name="Text 20"/>
          <p:cNvSpPr/>
          <p:nvPr/>
        </p:nvSpPr>
        <p:spPr>
          <a:xfrm>
            <a:off x="4959248" y="3547872"/>
            <a:ext cx="2127352" cy="512064"/>
          </a:xfrm>
          <a:prstGeom prst="rect">
            <a:avLst/>
          </a:prstGeom>
          <a:noFill/>
          <a:ln/>
        </p:spPr>
        <p:txBody>
          <a:bodyPr wrap="square" lIns="0" tIns="0" rIns="0" bIns="0" rtlCol="0" anchor="ctr"/>
          <a:lstStyle/>
          <a:p>
            <a:pPr indent="0" marL="0">
              <a:buNone/>
            </a:pPr>
            <a:r>
              <a:rPr lang="en-US" sz="1000" dirty="0">
                <a:solidFill>
                  <a:srgbClr val="9AA1B4"/>
                </a:solidFill>
                <a:latin typeface="Calibri" pitchFamily="34" charset="0"/>
                <a:ea typeface="Calibri" pitchFamily="34" charset="-122"/>
                <a:cs typeface="Calibri" pitchFamily="34" charset="-120"/>
              </a:rPr>
              <a:t>The bot must be invited by a server owner. Nothing read without permission</a:t>
            </a:r>
            <a:endParaRPr lang="en-US" sz="1000" dirty="0"/>
          </a:p>
        </p:txBody>
      </p:sp>
      <p:sp>
        <p:nvSpPr>
          <p:cNvPr id="23" name="Shape 21"/>
          <p:cNvSpPr/>
          <p:nvPr/>
        </p:nvSpPr>
        <p:spPr>
          <a:xfrm>
            <a:off x="804672" y="4041648"/>
            <a:ext cx="6391656" cy="9144"/>
          </a:xfrm>
          <a:prstGeom prst="rect">
            <a:avLst/>
          </a:prstGeom>
          <a:solidFill>
            <a:srgbClr val="2A2F40"/>
          </a:solidFill>
          <a:ln/>
        </p:spPr>
      </p:sp>
      <p:sp>
        <p:nvSpPr>
          <p:cNvPr id="24" name="Text 22"/>
          <p:cNvSpPr/>
          <p:nvPr/>
        </p:nvSpPr>
        <p:spPr>
          <a:xfrm>
            <a:off x="804672" y="4059936"/>
            <a:ext cx="849020" cy="512064"/>
          </a:xfrm>
          <a:prstGeom prst="rect">
            <a:avLst/>
          </a:prstGeom>
          <a:noFill/>
          <a:ln/>
        </p:spPr>
        <p:txBody>
          <a:bodyPr wrap="square" lIns="0" tIns="0" rIns="0" bIns="0" rtlCol="0" anchor="ctr"/>
          <a:lstStyle/>
          <a:p>
            <a:pPr indent="0" marL="0">
              <a:buNone/>
            </a:pPr>
            <a:r>
              <a:rPr lang="en-US" sz="1000" b="1" dirty="0">
                <a:solidFill>
                  <a:srgbClr val="E8EAF0"/>
                </a:solidFill>
                <a:latin typeface="Calibri" pitchFamily="34" charset="0"/>
                <a:ea typeface="Calibri" pitchFamily="34" charset="-122"/>
                <a:cs typeface="Calibri" pitchFamily="34" charset="-120"/>
              </a:rPr>
              <a:t>Twitch</a:t>
            </a:r>
            <a:endParaRPr lang="en-US" sz="1000" dirty="0"/>
          </a:p>
        </p:txBody>
      </p:sp>
      <p:sp>
        <p:nvSpPr>
          <p:cNvPr id="25" name="Text 23"/>
          <p:cNvSpPr/>
          <p:nvPr/>
        </p:nvSpPr>
        <p:spPr>
          <a:xfrm>
            <a:off x="1763420" y="4059936"/>
            <a:ext cx="3086100" cy="512064"/>
          </a:xfrm>
          <a:prstGeom prst="rect">
            <a:avLst/>
          </a:prstGeom>
          <a:noFill/>
          <a:ln/>
        </p:spPr>
        <p:txBody>
          <a:bodyPr wrap="square" lIns="0" tIns="0" rIns="0" bIns="0" rtlCol="0" anchor="ctr"/>
          <a:lstStyle/>
          <a:p>
            <a:pPr indent="0" marL="0">
              <a:buNone/>
            </a:pPr>
            <a:r>
              <a:rPr lang="en-US" sz="1000" dirty="0">
                <a:solidFill>
                  <a:srgbClr val="9AA1B4"/>
                </a:solidFill>
                <a:latin typeface="Calibri" pitchFamily="34" charset="0"/>
                <a:ea typeface="Calibri" pitchFamily="34" charset="-122"/>
                <a:cs typeface="Calibri" pitchFamily="34" charset="-120"/>
              </a:rPr>
              <a:t>Helix — top clips plus a live snapshot per category</a:t>
            </a:r>
            <a:endParaRPr lang="en-US" sz="1000" dirty="0"/>
          </a:p>
        </p:txBody>
      </p:sp>
      <p:sp>
        <p:nvSpPr>
          <p:cNvPr id="26" name="Text 24"/>
          <p:cNvSpPr/>
          <p:nvPr/>
        </p:nvSpPr>
        <p:spPr>
          <a:xfrm>
            <a:off x="4959248" y="4059936"/>
            <a:ext cx="2127352" cy="512064"/>
          </a:xfrm>
          <a:prstGeom prst="rect">
            <a:avLst/>
          </a:prstGeom>
          <a:noFill/>
          <a:ln/>
        </p:spPr>
        <p:txBody>
          <a:bodyPr wrap="square" lIns="0" tIns="0" rIns="0" bIns="0" rtlCol="0" anchor="ctr"/>
          <a:lstStyle/>
          <a:p>
            <a:pPr indent="0" marL="0">
              <a:buNone/>
            </a:pPr>
            <a:r>
              <a:rPr lang="en-US" sz="1000" dirty="0">
                <a:solidFill>
                  <a:srgbClr val="9AA1B4"/>
                </a:solidFill>
                <a:latin typeface="Calibri" pitchFamily="34" charset="0"/>
                <a:ea typeface="Calibri" pitchFamily="34" charset="-122"/>
                <a:cs typeface="Calibri" pitchFamily="34" charset="-120"/>
              </a:rPr>
              <a:t>Client credentials, no per-user login. Category level by design</a:t>
            </a:r>
            <a:endParaRPr lang="en-US" sz="1000" dirty="0"/>
          </a:p>
        </p:txBody>
      </p:sp>
      <p:sp>
        <p:nvSpPr>
          <p:cNvPr id="27" name="Shape 25"/>
          <p:cNvSpPr/>
          <p:nvPr/>
        </p:nvSpPr>
        <p:spPr>
          <a:xfrm>
            <a:off x="7680960" y="2084832"/>
            <a:ext cx="3931920" cy="2633472"/>
          </a:xfrm>
          <a:prstGeom prst="roundRect">
            <a:avLst>
              <a:gd name="adj" fmla="val 2778"/>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28" name="Text 26"/>
          <p:cNvSpPr/>
          <p:nvPr/>
        </p:nvSpPr>
        <p:spPr>
          <a:xfrm>
            <a:off x="7955280" y="2212848"/>
            <a:ext cx="3383280" cy="274320"/>
          </a:xfrm>
          <a:prstGeom prst="rect">
            <a:avLst/>
          </a:prstGeom>
          <a:noFill/>
          <a:ln/>
        </p:spPr>
        <p:txBody>
          <a:bodyPr wrap="square" lIns="0" tIns="0" rIns="0" bIns="0" rtlCol="0" anchor="ctr"/>
          <a:lstStyle/>
          <a:p>
            <a:pPr indent="0" marL="0">
              <a:buNone/>
            </a:pPr>
            <a:r>
              <a:rPr lang="en-US" sz="1000" b="1" spc="100" kern="0" dirty="0">
                <a:solidFill>
                  <a:srgbClr val="6C8CFF"/>
                </a:solidFill>
                <a:latin typeface="Calibri" pitchFamily="34" charset="0"/>
                <a:ea typeface="Calibri" pitchFamily="34" charset="-122"/>
                <a:cs typeface="Calibri" pitchFamily="34" charset="-120"/>
              </a:rPr>
              <a:t>THE FLOW, END TO END</a:t>
            </a:r>
            <a:endParaRPr lang="en-US" sz="1000" dirty="0"/>
          </a:p>
        </p:txBody>
      </p:sp>
      <p:sp>
        <p:nvSpPr>
          <p:cNvPr id="29" name="Text 27"/>
          <p:cNvSpPr/>
          <p:nvPr/>
        </p:nvSpPr>
        <p:spPr>
          <a:xfrm>
            <a:off x="7955280" y="2505456"/>
            <a:ext cx="274320" cy="274320"/>
          </a:xfrm>
          <a:prstGeom prst="rect">
            <a:avLst/>
          </a:prstGeom>
          <a:noFill/>
          <a:ln/>
        </p:spPr>
        <p:txBody>
          <a:bodyPr wrap="square" lIns="0" tIns="0" rIns="0" bIns="0" rtlCol="0" anchor="ctr"/>
          <a:lstStyle/>
          <a:p>
            <a:pPr indent="0" marL="0">
              <a:buNone/>
            </a:pPr>
            <a:r>
              <a:rPr lang="en-US" sz="1100" b="1" dirty="0">
                <a:solidFill>
                  <a:srgbClr val="6C8CFF"/>
                </a:solidFill>
                <a:latin typeface="Consolas" pitchFamily="34" charset="0"/>
                <a:ea typeface="Consolas" pitchFamily="34" charset="-122"/>
                <a:cs typeface="Consolas" pitchFamily="34" charset="-120"/>
              </a:rPr>
              <a:t>1</a:t>
            </a:r>
            <a:endParaRPr lang="en-US" sz="1100" dirty="0"/>
          </a:p>
        </p:txBody>
      </p:sp>
      <p:sp>
        <p:nvSpPr>
          <p:cNvPr id="30" name="Text 28"/>
          <p:cNvSpPr/>
          <p:nvPr/>
        </p:nvSpPr>
        <p:spPr>
          <a:xfrm>
            <a:off x="8275320" y="2505456"/>
            <a:ext cx="960120" cy="274320"/>
          </a:xfrm>
          <a:prstGeom prst="rect">
            <a:avLst/>
          </a:prstGeom>
          <a:noFill/>
          <a:ln/>
        </p:spPr>
        <p:txBody>
          <a:bodyPr wrap="square" lIns="0" tIns="0" rIns="0" bIns="0" rtlCol="0" anchor="ctr"/>
          <a:lstStyle/>
          <a:p>
            <a:pPr indent="0" marL="0">
              <a:buNone/>
            </a:pPr>
            <a:r>
              <a:rPr lang="en-US" sz="1150" b="1" dirty="0">
                <a:solidFill>
                  <a:srgbClr val="E8EAF0"/>
                </a:solidFill>
                <a:latin typeface="Calibri" pitchFamily="34" charset="0"/>
                <a:ea typeface="Calibri" pitchFamily="34" charset="-122"/>
                <a:cs typeface="Calibri" pitchFamily="34" charset="-120"/>
              </a:rPr>
              <a:t>Collect</a:t>
            </a:r>
            <a:endParaRPr lang="en-US" sz="1150" dirty="0"/>
          </a:p>
        </p:txBody>
      </p:sp>
      <p:sp>
        <p:nvSpPr>
          <p:cNvPr id="31" name="Text 29"/>
          <p:cNvSpPr/>
          <p:nvPr/>
        </p:nvSpPr>
        <p:spPr>
          <a:xfrm>
            <a:off x="9189720" y="2496312"/>
            <a:ext cx="2194560" cy="365760"/>
          </a:xfrm>
          <a:prstGeom prst="rect">
            <a:avLst/>
          </a:prstGeom>
          <a:noFill/>
          <a:ln/>
        </p:spPr>
        <p:txBody>
          <a:bodyPr wrap="square" lIns="0" tIns="0" rIns="0" bIns="0" rtlCol="0" anchor="ctr"/>
          <a:lstStyle/>
          <a:p>
            <a:pPr indent="0" marL="0">
              <a:lnSpc>
                <a:spcPct val="100000"/>
              </a:lnSpc>
              <a:buNone/>
            </a:pPr>
            <a:r>
              <a:rPr lang="en-US" sz="900" dirty="0">
                <a:solidFill>
                  <a:srgbClr val="9AA1B4"/>
                </a:solidFill>
                <a:latin typeface="Calibri" pitchFamily="34" charset="0"/>
                <a:ea typeface="Calibri" pitchFamily="34" charset="-122"/>
                <a:cs typeface="Calibri" pitchFamily="34" charset="-120"/>
              </a:rPr>
              <a:t>four wrappers in parallel, one schema</a:t>
            </a:r>
            <a:endParaRPr lang="en-US" sz="900" dirty="0"/>
          </a:p>
        </p:txBody>
      </p:sp>
      <p:sp>
        <p:nvSpPr>
          <p:cNvPr id="32" name="Text 30"/>
          <p:cNvSpPr/>
          <p:nvPr/>
        </p:nvSpPr>
        <p:spPr>
          <a:xfrm>
            <a:off x="7955280" y="2871216"/>
            <a:ext cx="274320" cy="274320"/>
          </a:xfrm>
          <a:prstGeom prst="rect">
            <a:avLst/>
          </a:prstGeom>
          <a:noFill/>
          <a:ln/>
        </p:spPr>
        <p:txBody>
          <a:bodyPr wrap="square" lIns="0" tIns="0" rIns="0" bIns="0" rtlCol="0" anchor="ctr"/>
          <a:lstStyle/>
          <a:p>
            <a:pPr indent="0" marL="0">
              <a:buNone/>
            </a:pPr>
            <a:r>
              <a:rPr lang="en-US" sz="1100" b="1" dirty="0">
                <a:solidFill>
                  <a:srgbClr val="6C8CFF"/>
                </a:solidFill>
                <a:latin typeface="Consolas" pitchFamily="34" charset="0"/>
                <a:ea typeface="Consolas" pitchFamily="34" charset="-122"/>
                <a:cs typeface="Consolas" pitchFamily="34" charset="-120"/>
              </a:rPr>
              <a:t>2</a:t>
            </a:r>
            <a:endParaRPr lang="en-US" sz="1100" dirty="0"/>
          </a:p>
        </p:txBody>
      </p:sp>
      <p:sp>
        <p:nvSpPr>
          <p:cNvPr id="33" name="Text 31"/>
          <p:cNvSpPr/>
          <p:nvPr/>
        </p:nvSpPr>
        <p:spPr>
          <a:xfrm>
            <a:off x="8275320" y="2871216"/>
            <a:ext cx="960120" cy="274320"/>
          </a:xfrm>
          <a:prstGeom prst="rect">
            <a:avLst/>
          </a:prstGeom>
          <a:noFill/>
          <a:ln/>
        </p:spPr>
        <p:txBody>
          <a:bodyPr wrap="square" lIns="0" tIns="0" rIns="0" bIns="0" rtlCol="0" anchor="ctr"/>
          <a:lstStyle/>
          <a:p>
            <a:pPr indent="0" marL="0">
              <a:buNone/>
            </a:pPr>
            <a:r>
              <a:rPr lang="en-US" sz="1150" b="1" dirty="0">
                <a:solidFill>
                  <a:srgbClr val="E8EAF0"/>
                </a:solidFill>
                <a:latin typeface="Calibri" pitchFamily="34" charset="0"/>
                <a:ea typeface="Calibri" pitchFamily="34" charset="-122"/>
                <a:cs typeface="Calibri" pitchFamily="34" charset="-120"/>
              </a:rPr>
              <a:t>Enrich</a:t>
            </a:r>
            <a:endParaRPr lang="en-US" sz="1150" dirty="0"/>
          </a:p>
        </p:txBody>
      </p:sp>
      <p:sp>
        <p:nvSpPr>
          <p:cNvPr id="34" name="Text 32"/>
          <p:cNvSpPr/>
          <p:nvPr/>
        </p:nvSpPr>
        <p:spPr>
          <a:xfrm>
            <a:off x="9189720" y="2862072"/>
            <a:ext cx="2194560" cy="365760"/>
          </a:xfrm>
          <a:prstGeom prst="rect">
            <a:avLst/>
          </a:prstGeom>
          <a:noFill/>
          <a:ln/>
        </p:spPr>
        <p:txBody>
          <a:bodyPr wrap="square" lIns="0" tIns="0" rIns="0" bIns="0" rtlCol="0" anchor="ctr"/>
          <a:lstStyle/>
          <a:p>
            <a:pPr indent="0" marL="0">
              <a:lnSpc>
                <a:spcPct val="100000"/>
              </a:lnSpc>
              <a:buNone/>
            </a:pPr>
            <a:r>
              <a:rPr lang="en-US" sz="900" dirty="0">
                <a:solidFill>
                  <a:srgbClr val="9AA1B4"/>
                </a:solidFill>
                <a:latin typeface="Calibri" pitchFamily="34" charset="0"/>
                <a:ea typeface="Calibri" pitchFamily="34" charset="-122"/>
                <a:cs typeface="Calibri" pitchFamily="34" charset="-120"/>
              </a:rPr>
              <a:t>scored once: sentiment, index, region</a:t>
            </a:r>
            <a:endParaRPr lang="en-US" sz="900" dirty="0"/>
          </a:p>
        </p:txBody>
      </p:sp>
      <p:sp>
        <p:nvSpPr>
          <p:cNvPr id="35" name="Text 33"/>
          <p:cNvSpPr/>
          <p:nvPr/>
        </p:nvSpPr>
        <p:spPr>
          <a:xfrm>
            <a:off x="7955280" y="3236976"/>
            <a:ext cx="274320" cy="274320"/>
          </a:xfrm>
          <a:prstGeom prst="rect">
            <a:avLst/>
          </a:prstGeom>
          <a:noFill/>
          <a:ln/>
        </p:spPr>
        <p:txBody>
          <a:bodyPr wrap="square" lIns="0" tIns="0" rIns="0" bIns="0" rtlCol="0" anchor="ctr"/>
          <a:lstStyle/>
          <a:p>
            <a:pPr indent="0" marL="0">
              <a:buNone/>
            </a:pPr>
            <a:r>
              <a:rPr lang="en-US" sz="1100" b="1" dirty="0">
                <a:solidFill>
                  <a:srgbClr val="6C8CFF"/>
                </a:solidFill>
                <a:latin typeface="Consolas" pitchFamily="34" charset="0"/>
                <a:ea typeface="Consolas" pitchFamily="34" charset="-122"/>
                <a:cs typeface="Consolas" pitchFamily="34" charset="-120"/>
              </a:rPr>
              <a:t>3</a:t>
            </a:r>
            <a:endParaRPr lang="en-US" sz="1100" dirty="0"/>
          </a:p>
        </p:txBody>
      </p:sp>
      <p:sp>
        <p:nvSpPr>
          <p:cNvPr id="36" name="Text 34"/>
          <p:cNvSpPr/>
          <p:nvPr/>
        </p:nvSpPr>
        <p:spPr>
          <a:xfrm>
            <a:off x="8275320" y="3236976"/>
            <a:ext cx="960120" cy="274320"/>
          </a:xfrm>
          <a:prstGeom prst="rect">
            <a:avLst/>
          </a:prstGeom>
          <a:noFill/>
          <a:ln/>
        </p:spPr>
        <p:txBody>
          <a:bodyPr wrap="square" lIns="0" tIns="0" rIns="0" bIns="0" rtlCol="0" anchor="ctr"/>
          <a:lstStyle/>
          <a:p>
            <a:pPr indent="0" marL="0">
              <a:buNone/>
            </a:pPr>
            <a:r>
              <a:rPr lang="en-US" sz="1150" b="1" dirty="0">
                <a:solidFill>
                  <a:srgbClr val="E8EAF0"/>
                </a:solidFill>
                <a:latin typeface="Calibri" pitchFamily="34" charset="0"/>
                <a:ea typeface="Calibri" pitchFamily="34" charset="-122"/>
                <a:cs typeface="Calibri" pitchFamily="34" charset="-120"/>
              </a:rPr>
              <a:t>Aggregate</a:t>
            </a:r>
            <a:endParaRPr lang="en-US" sz="1150" dirty="0"/>
          </a:p>
        </p:txBody>
      </p:sp>
      <p:sp>
        <p:nvSpPr>
          <p:cNvPr id="37" name="Text 35"/>
          <p:cNvSpPr/>
          <p:nvPr/>
        </p:nvSpPr>
        <p:spPr>
          <a:xfrm>
            <a:off x="9189720" y="3227832"/>
            <a:ext cx="2194560" cy="365760"/>
          </a:xfrm>
          <a:prstGeom prst="rect">
            <a:avLst/>
          </a:prstGeom>
          <a:noFill/>
          <a:ln/>
        </p:spPr>
        <p:txBody>
          <a:bodyPr wrap="square" lIns="0" tIns="0" rIns="0" bIns="0" rtlCol="0" anchor="ctr"/>
          <a:lstStyle/>
          <a:p>
            <a:pPr indent="0" marL="0">
              <a:lnSpc>
                <a:spcPct val="100000"/>
              </a:lnSpc>
              <a:buNone/>
            </a:pPr>
            <a:r>
              <a:rPr lang="en-US" sz="900" dirty="0">
                <a:solidFill>
                  <a:srgbClr val="9AA1B4"/>
                </a:solidFill>
                <a:latin typeface="Calibri" pitchFamily="34" charset="0"/>
                <a:ea typeface="Calibri" pitchFamily="34" charset="-122"/>
                <a:cs typeface="Calibri" pitchFamily="34" charset="-120"/>
              </a:rPr>
              <a:t>series, spikes, themes, risks, questions</a:t>
            </a:r>
            <a:endParaRPr lang="en-US" sz="900" dirty="0"/>
          </a:p>
        </p:txBody>
      </p:sp>
      <p:sp>
        <p:nvSpPr>
          <p:cNvPr id="38" name="Text 36"/>
          <p:cNvSpPr/>
          <p:nvPr/>
        </p:nvSpPr>
        <p:spPr>
          <a:xfrm>
            <a:off x="7955280" y="3602736"/>
            <a:ext cx="274320" cy="274320"/>
          </a:xfrm>
          <a:prstGeom prst="rect">
            <a:avLst/>
          </a:prstGeom>
          <a:noFill/>
          <a:ln/>
        </p:spPr>
        <p:txBody>
          <a:bodyPr wrap="square" lIns="0" tIns="0" rIns="0" bIns="0" rtlCol="0" anchor="ctr"/>
          <a:lstStyle/>
          <a:p>
            <a:pPr indent="0" marL="0">
              <a:buNone/>
            </a:pPr>
            <a:r>
              <a:rPr lang="en-US" sz="1100" b="1" dirty="0">
                <a:solidFill>
                  <a:srgbClr val="6C8CFF"/>
                </a:solidFill>
                <a:latin typeface="Consolas" pitchFamily="34" charset="0"/>
                <a:ea typeface="Consolas" pitchFamily="34" charset="-122"/>
                <a:cs typeface="Consolas" pitchFamily="34" charset="-120"/>
              </a:rPr>
              <a:t>4</a:t>
            </a:r>
            <a:endParaRPr lang="en-US" sz="1100" dirty="0"/>
          </a:p>
        </p:txBody>
      </p:sp>
      <p:sp>
        <p:nvSpPr>
          <p:cNvPr id="39" name="Text 37"/>
          <p:cNvSpPr/>
          <p:nvPr/>
        </p:nvSpPr>
        <p:spPr>
          <a:xfrm>
            <a:off x="8275320" y="3602736"/>
            <a:ext cx="960120" cy="274320"/>
          </a:xfrm>
          <a:prstGeom prst="rect">
            <a:avLst/>
          </a:prstGeom>
          <a:noFill/>
          <a:ln/>
        </p:spPr>
        <p:txBody>
          <a:bodyPr wrap="square" lIns="0" tIns="0" rIns="0" bIns="0" rtlCol="0" anchor="ctr"/>
          <a:lstStyle/>
          <a:p>
            <a:pPr indent="0" marL="0">
              <a:buNone/>
            </a:pPr>
            <a:r>
              <a:rPr lang="en-US" sz="1150" b="1" dirty="0">
                <a:solidFill>
                  <a:srgbClr val="E8EAF0"/>
                </a:solidFill>
                <a:latin typeface="Calibri" pitchFamily="34" charset="0"/>
                <a:ea typeface="Calibri" pitchFamily="34" charset="-122"/>
                <a:cs typeface="Calibri" pitchFamily="34" charset="-120"/>
              </a:rPr>
              <a:t>Compare</a:t>
            </a:r>
            <a:endParaRPr lang="en-US" sz="1150" dirty="0"/>
          </a:p>
        </p:txBody>
      </p:sp>
      <p:sp>
        <p:nvSpPr>
          <p:cNvPr id="40" name="Text 38"/>
          <p:cNvSpPr/>
          <p:nvPr/>
        </p:nvSpPr>
        <p:spPr>
          <a:xfrm>
            <a:off x="9189720" y="3593592"/>
            <a:ext cx="2194560" cy="365760"/>
          </a:xfrm>
          <a:prstGeom prst="rect">
            <a:avLst/>
          </a:prstGeom>
          <a:noFill/>
          <a:ln/>
        </p:spPr>
        <p:txBody>
          <a:bodyPr wrap="square" lIns="0" tIns="0" rIns="0" bIns="0" rtlCol="0" anchor="ctr"/>
          <a:lstStyle/>
          <a:p>
            <a:pPr indent="0" marL="0">
              <a:lnSpc>
                <a:spcPct val="100000"/>
              </a:lnSpc>
              <a:buNone/>
            </a:pPr>
            <a:r>
              <a:rPr lang="en-US" sz="900" dirty="0">
                <a:solidFill>
                  <a:srgbClr val="9AA1B4"/>
                </a:solidFill>
                <a:latin typeface="Calibri" pitchFamily="34" charset="0"/>
                <a:ea typeface="Calibri" pitchFamily="34" charset="-122"/>
                <a:cs typeface="Calibri" pitchFamily="34" charset="-120"/>
              </a:rPr>
              <a:t>today against the last stored snapshot</a:t>
            </a:r>
            <a:endParaRPr lang="en-US" sz="900" dirty="0"/>
          </a:p>
        </p:txBody>
      </p:sp>
      <p:sp>
        <p:nvSpPr>
          <p:cNvPr id="41" name="Text 39"/>
          <p:cNvSpPr/>
          <p:nvPr/>
        </p:nvSpPr>
        <p:spPr>
          <a:xfrm>
            <a:off x="7955280" y="3968496"/>
            <a:ext cx="274320" cy="274320"/>
          </a:xfrm>
          <a:prstGeom prst="rect">
            <a:avLst/>
          </a:prstGeom>
          <a:noFill/>
          <a:ln/>
        </p:spPr>
        <p:txBody>
          <a:bodyPr wrap="square" lIns="0" tIns="0" rIns="0" bIns="0" rtlCol="0" anchor="ctr"/>
          <a:lstStyle/>
          <a:p>
            <a:pPr indent="0" marL="0">
              <a:buNone/>
            </a:pPr>
            <a:r>
              <a:rPr lang="en-US" sz="1100" b="1" dirty="0">
                <a:solidFill>
                  <a:srgbClr val="6C8CFF"/>
                </a:solidFill>
                <a:latin typeface="Consolas" pitchFamily="34" charset="0"/>
                <a:ea typeface="Consolas" pitchFamily="34" charset="-122"/>
                <a:cs typeface="Consolas" pitchFamily="34" charset="-120"/>
              </a:rPr>
              <a:t>5</a:t>
            </a:r>
            <a:endParaRPr lang="en-US" sz="1100" dirty="0"/>
          </a:p>
        </p:txBody>
      </p:sp>
      <p:sp>
        <p:nvSpPr>
          <p:cNvPr id="42" name="Text 40"/>
          <p:cNvSpPr/>
          <p:nvPr/>
        </p:nvSpPr>
        <p:spPr>
          <a:xfrm>
            <a:off x="8275320" y="3968496"/>
            <a:ext cx="960120" cy="274320"/>
          </a:xfrm>
          <a:prstGeom prst="rect">
            <a:avLst/>
          </a:prstGeom>
          <a:noFill/>
          <a:ln/>
        </p:spPr>
        <p:txBody>
          <a:bodyPr wrap="square" lIns="0" tIns="0" rIns="0" bIns="0" rtlCol="0" anchor="ctr"/>
          <a:lstStyle/>
          <a:p>
            <a:pPr indent="0" marL="0">
              <a:buNone/>
            </a:pPr>
            <a:r>
              <a:rPr lang="en-US" sz="1150" b="1" dirty="0">
                <a:solidFill>
                  <a:srgbClr val="E8EAF0"/>
                </a:solidFill>
                <a:latin typeface="Calibri" pitchFamily="34" charset="0"/>
                <a:ea typeface="Calibri" pitchFamily="34" charset="-122"/>
                <a:cs typeface="Calibri" pitchFamily="34" charset="-120"/>
              </a:rPr>
              <a:t>Brief</a:t>
            </a:r>
            <a:endParaRPr lang="en-US" sz="1150" dirty="0"/>
          </a:p>
        </p:txBody>
      </p:sp>
      <p:sp>
        <p:nvSpPr>
          <p:cNvPr id="43" name="Text 41"/>
          <p:cNvSpPr/>
          <p:nvPr/>
        </p:nvSpPr>
        <p:spPr>
          <a:xfrm>
            <a:off x="9189720" y="3959352"/>
            <a:ext cx="2194560" cy="365760"/>
          </a:xfrm>
          <a:prstGeom prst="rect">
            <a:avLst/>
          </a:prstGeom>
          <a:noFill/>
          <a:ln/>
        </p:spPr>
        <p:txBody>
          <a:bodyPr wrap="square" lIns="0" tIns="0" rIns="0" bIns="0" rtlCol="0" anchor="ctr"/>
          <a:lstStyle/>
          <a:p>
            <a:pPr indent="0" marL="0">
              <a:lnSpc>
                <a:spcPct val="100000"/>
              </a:lnSpc>
              <a:buNone/>
            </a:pPr>
            <a:r>
              <a:rPr lang="en-US" sz="900" dirty="0">
                <a:solidFill>
                  <a:srgbClr val="9AA1B4"/>
                </a:solidFill>
                <a:latin typeface="Calibri" pitchFamily="34" charset="0"/>
                <a:ea typeface="Calibri" pitchFamily="34" charset="-122"/>
                <a:cs typeface="Calibri" pitchFamily="34" charset="-120"/>
              </a:rPr>
              <a:t>the narrative, written from the analysis</a:t>
            </a:r>
            <a:endParaRPr lang="en-US" sz="900" dirty="0"/>
          </a:p>
        </p:txBody>
      </p:sp>
      <p:sp>
        <p:nvSpPr>
          <p:cNvPr id="44" name="Text 42"/>
          <p:cNvSpPr/>
          <p:nvPr/>
        </p:nvSpPr>
        <p:spPr>
          <a:xfrm>
            <a:off x="7955280" y="4334256"/>
            <a:ext cx="274320" cy="274320"/>
          </a:xfrm>
          <a:prstGeom prst="rect">
            <a:avLst/>
          </a:prstGeom>
          <a:noFill/>
          <a:ln/>
        </p:spPr>
        <p:txBody>
          <a:bodyPr wrap="square" lIns="0" tIns="0" rIns="0" bIns="0" rtlCol="0" anchor="ctr"/>
          <a:lstStyle/>
          <a:p>
            <a:pPr indent="0" marL="0">
              <a:buNone/>
            </a:pPr>
            <a:r>
              <a:rPr lang="en-US" sz="1100" b="1" dirty="0">
                <a:solidFill>
                  <a:srgbClr val="6C8CFF"/>
                </a:solidFill>
                <a:latin typeface="Consolas" pitchFamily="34" charset="0"/>
                <a:ea typeface="Consolas" pitchFamily="34" charset="-122"/>
                <a:cs typeface="Consolas" pitchFamily="34" charset="-120"/>
              </a:rPr>
              <a:t>6</a:t>
            </a:r>
            <a:endParaRPr lang="en-US" sz="1100" dirty="0"/>
          </a:p>
        </p:txBody>
      </p:sp>
      <p:sp>
        <p:nvSpPr>
          <p:cNvPr id="45" name="Text 43"/>
          <p:cNvSpPr/>
          <p:nvPr/>
        </p:nvSpPr>
        <p:spPr>
          <a:xfrm>
            <a:off x="8275320" y="4334256"/>
            <a:ext cx="960120" cy="274320"/>
          </a:xfrm>
          <a:prstGeom prst="rect">
            <a:avLst/>
          </a:prstGeom>
          <a:noFill/>
          <a:ln/>
        </p:spPr>
        <p:txBody>
          <a:bodyPr wrap="square" lIns="0" tIns="0" rIns="0" bIns="0" rtlCol="0" anchor="ctr"/>
          <a:lstStyle/>
          <a:p>
            <a:pPr indent="0" marL="0">
              <a:buNone/>
            </a:pPr>
            <a:r>
              <a:rPr lang="en-US" sz="1150" b="1" dirty="0">
                <a:solidFill>
                  <a:srgbClr val="E8EAF0"/>
                </a:solidFill>
                <a:latin typeface="Calibri" pitchFamily="34" charset="0"/>
                <a:ea typeface="Calibri" pitchFamily="34" charset="-122"/>
                <a:cs typeface="Calibri" pitchFamily="34" charset="-120"/>
              </a:rPr>
              <a:t>Serve</a:t>
            </a:r>
            <a:endParaRPr lang="en-US" sz="1150" dirty="0"/>
          </a:p>
        </p:txBody>
      </p:sp>
      <p:sp>
        <p:nvSpPr>
          <p:cNvPr id="46" name="Text 44"/>
          <p:cNvSpPr/>
          <p:nvPr/>
        </p:nvSpPr>
        <p:spPr>
          <a:xfrm>
            <a:off x="9189720" y="4325112"/>
            <a:ext cx="2194560" cy="365760"/>
          </a:xfrm>
          <a:prstGeom prst="rect">
            <a:avLst/>
          </a:prstGeom>
          <a:noFill/>
          <a:ln/>
        </p:spPr>
        <p:txBody>
          <a:bodyPr wrap="square" lIns="0" tIns="0" rIns="0" bIns="0" rtlCol="0" anchor="ctr"/>
          <a:lstStyle/>
          <a:p>
            <a:pPr indent="0" marL="0">
              <a:lnSpc>
                <a:spcPct val="100000"/>
              </a:lnSpc>
              <a:buNone/>
            </a:pPr>
            <a:r>
              <a:rPr lang="en-US" sz="900" dirty="0">
                <a:solidFill>
                  <a:srgbClr val="9AA1B4"/>
                </a:solidFill>
                <a:latin typeface="Calibri" pitchFamily="34" charset="0"/>
                <a:ea typeface="Calibri" pitchFamily="34" charset="-122"/>
                <a:cs typeface="Calibri" pitchFamily="34" charset="-120"/>
              </a:rPr>
              <a:t>aggregates and rows together, so filters re-derive instantly</a:t>
            </a:r>
            <a:endParaRPr lang="en-US" sz="900" dirty="0"/>
          </a:p>
        </p:txBody>
      </p:sp>
      <p:sp>
        <p:nvSpPr>
          <p:cNvPr id="47" name="Shape 45"/>
          <p:cNvSpPr/>
          <p:nvPr/>
        </p:nvSpPr>
        <p:spPr>
          <a:xfrm>
            <a:off x="548640" y="4846320"/>
            <a:ext cx="6903720" cy="1097280"/>
          </a:xfrm>
          <a:prstGeom prst="roundRect">
            <a:avLst>
              <a:gd name="adj" fmla="val 6667"/>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48" name="Text 46"/>
          <p:cNvSpPr/>
          <p:nvPr/>
        </p:nvSpPr>
        <p:spPr>
          <a:xfrm>
            <a:off x="822960" y="4937760"/>
            <a:ext cx="6309360" cy="274320"/>
          </a:xfrm>
          <a:prstGeom prst="rect">
            <a:avLst/>
          </a:prstGeom>
          <a:noFill/>
          <a:ln/>
        </p:spPr>
        <p:txBody>
          <a:bodyPr wrap="square" lIns="0" tIns="0" rIns="0" bIns="0" rtlCol="0" anchor="ctr"/>
          <a:lstStyle/>
          <a:p>
            <a:pPr indent="0" marL="0">
              <a:buNone/>
            </a:pPr>
            <a:r>
              <a:rPr lang="en-US" sz="1000" b="1" spc="100" kern="0" dirty="0">
                <a:solidFill>
                  <a:srgbClr val="6C8CFF"/>
                </a:solidFill>
                <a:latin typeface="Calibri" pitchFamily="34" charset="0"/>
                <a:ea typeface="Calibri" pitchFamily="34" charset="-122"/>
                <a:cs typeface="Calibri" pitchFamily="34" charset="-120"/>
              </a:rPr>
              <a:t>PER RECORD</a:t>
            </a:r>
            <a:endParaRPr lang="en-US" sz="1000" dirty="0"/>
          </a:p>
        </p:txBody>
      </p:sp>
      <p:sp>
        <p:nvSpPr>
          <p:cNvPr id="49" name="Text 47"/>
          <p:cNvSpPr/>
          <p:nvPr/>
        </p:nvSpPr>
        <p:spPr>
          <a:xfrm>
            <a:off x="822960" y="5212080"/>
            <a:ext cx="6355080" cy="640080"/>
          </a:xfrm>
          <a:prstGeom prst="rect">
            <a:avLst/>
          </a:prstGeom>
          <a:noFill/>
          <a:ln/>
        </p:spPr>
        <p:txBody>
          <a:bodyPr wrap="square" lIns="0" tIns="0" rIns="0" bIns="0" rtlCol="0" anchor="t"/>
          <a:lstStyle/>
          <a:p>
            <a:pPr indent="0" marL="0">
              <a:lnSpc>
                <a:spcPct val="110000"/>
              </a:lnSpc>
              <a:buNone/>
            </a:pPr>
            <a:r>
              <a:rPr lang="en-US" sz="950" dirty="0">
                <a:solidFill>
                  <a:srgbClr val="9AA1B4"/>
                </a:solidFill>
                <a:latin typeface="Calibri" pitchFamily="34" charset="0"/>
                <a:ea typeface="Calibri" pitchFamily="34" charset="-122"/>
                <a:cs typeface="Calibri" pitchFamily="34" charset="-120"/>
              </a:rPr>
              <a:t>Collected: platform, game, source, content type, public handle, timestamp, text, native engagement, region signals, URL.   Derived: sentiment score, label, confidence, method, sarcasm, theme, is_question, is_risk, language, engagement index, region, region source, region confidence.</a:t>
            </a:r>
            <a:endParaRPr lang="en-US" sz="950" dirty="0"/>
          </a:p>
        </p:txBody>
      </p:sp>
      <p:sp>
        <p:nvSpPr>
          <p:cNvPr id="50" name="Shape 48"/>
          <p:cNvSpPr/>
          <p:nvPr/>
        </p:nvSpPr>
        <p:spPr>
          <a:xfrm>
            <a:off x="7680960" y="4846320"/>
            <a:ext cx="3931920" cy="1097280"/>
          </a:xfrm>
          <a:prstGeom prst="roundRect">
            <a:avLst>
              <a:gd name="adj" fmla="val 6667"/>
            </a:avLst>
          </a:prstGeom>
          <a:solidFill>
            <a:srgbClr val="17231E"/>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51" name="Text 49"/>
          <p:cNvSpPr/>
          <p:nvPr/>
        </p:nvSpPr>
        <p:spPr>
          <a:xfrm>
            <a:off x="7955280" y="4937760"/>
            <a:ext cx="3429000" cy="457200"/>
          </a:xfrm>
          <a:prstGeom prst="rect">
            <a:avLst/>
          </a:prstGeom>
          <a:noFill/>
          <a:ln/>
        </p:spPr>
        <p:txBody>
          <a:bodyPr wrap="square" lIns="0" tIns="0" rIns="0" bIns="0" rtlCol="0" anchor="ctr"/>
          <a:lstStyle/>
          <a:p>
            <a:pPr indent="0" marL="0">
              <a:lnSpc>
                <a:spcPct val="105000"/>
              </a:lnSpc>
              <a:buNone/>
            </a:pPr>
            <a:r>
              <a:rPr lang="en-US" sz="1100" b="1" dirty="0">
                <a:solidFill>
                  <a:srgbClr val="3ECF8E"/>
                </a:solidFill>
                <a:latin typeface="Calibri" pitchFamily="34" charset="0"/>
                <a:ea typeface="Calibri" pitchFamily="34" charset="-122"/>
                <a:cs typeface="Calibri" pitchFamily="34" charset="-120"/>
              </a:rPr>
              <a:t>Public data only. Official APIs with credentials. No scraping, no rate-limit evasion.</a:t>
            </a:r>
            <a:endParaRPr lang="en-US" sz="1100" dirty="0"/>
          </a:p>
        </p:txBody>
      </p:sp>
      <p:sp>
        <p:nvSpPr>
          <p:cNvPr id="52" name="Text 50"/>
          <p:cNvSpPr/>
          <p:nvPr/>
        </p:nvSpPr>
        <p:spPr>
          <a:xfrm>
            <a:off x="7955280" y="5413248"/>
            <a:ext cx="3429000" cy="457200"/>
          </a:xfrm>
          <a:prstGeom prst="rect">
            <a:avLst/>
          </a:prstGeom>
          <a:noFill/>
          <a:ln/>
        </p:spPr>
        <p:txBody>
          <a:bodyPr wrap="square" lIns="0" tIns="0" rIns="0" bIns="0" rtlCol="0" anchor="ctr"/>
          <a:lstStyle/>
          <a:p>
            <a:pPr indent="0" marL="0">
              <a:lnSpc>
                <a:spcPct val="108000"/>
              </a:lnSpc>
              <a:buNone/>
            </a:pPr>
            <a:r>
              <a:rPr lang="en-US" sz="950" dirty="0">
                <a:solidFill>
                  <a:srgbClr val="9AA1B4"/>
                </a:solidFill>
                <a:latin typeface="Calibri" pitchFamily="34" charset="0"/>
                <a:ea typeface="Calibri" pitchFamily="34" charset="-122"/>
                <a:cs typeface="Calibri" pitchFamily="34" charset="-120"/>
              </a:rPr>
              <a:t>Served as data too, so it cannot drift out of date relative to the code the way a document can.</a:t>
            </a:r>
            <a:endParaRPr lang="en-US" sz="950" dirty="0"/>
          </a:p>
        </p:txBody>
      </p:sp>
      <p:sp>
        <p:nvSpPr>
          <p:cNvPr id="53" name="Text 51"/>
          <p:cNvSpPr/>
          <p:nvPr/>
        </p:nvSpPr>
        <p:spPr>
          <a:xfrm>
            <a:off x="548640" y="6053328"/>
            <a:ext cx="1508760"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WHERE IT LIVES</a:t>
            </a:r>
            <a:endParaRPr lang="en-US" sz="950" dirty="0"/>
          </a:p>
        </p:txBody>
      </p:sp>
      <p:sp>
        <p:nvSpPr>
          <p:cNvPr id="54" name="Text 52"/>
          <p:cNvSpPr/>
          <p:nvPr/>
        </p:nvSpPr>
        <p:spPr>
          <a:xfrm>
            <a:off x="2057400" y="6053328"/>
            <a:ext cx="9555480" cy="292608"/>
          </a:xfrm>
          <a:prstGeom prst="rect">
            <a:avLst/>
          </a:prstGeom>
          <a:noFill/>
          <a:ln/>
        </p:spPr>
        <p:txBody>
          <a:bodyPr wrap="square" lIns="0" tIns="0" rIns="0" bIns="0" rtlCol="0" anchor="ctr"/>
          <a:lstStyle/>
          <a:p>
            <a:pPr indent="0" marL="0">
              <a:buNone/>
            </a:pPr>
            <a:r>
              <a:rPr lang="en-US" sz="1100" dirty="0">
                <a:solidFill>
                  <a:srgbClr val="6C8CFF"/>
                </a:solidFill>
                <a:latin typeface="Consolas" pitchFamily="34" charset="0"/>
                <a:ea typeface="Consolas" pitchFamily="34" charset="-122"/>
                <a:cs typeface="Consolas" pitchFamily="34" charset="-120"/>
              </a:rPr>
              <a:t>GET /api/methodology  ·  server/server.js</a:t>
            </a:r>
            <a:endParaRPr lang="en-US" sz="1100" dirty="0"/>
          </a:p>
        </p:txBody>
      </p:sp>
      <p:sp>
        <p:nvSpPr>
          <p:cNvPr id="55" name="Text 53"/>
          <p:cNvSpPr/>
          <p:nvPr/>
        </p:nvSpPr>
        <p:spPr>
          <a:xfrm>
            <a:off x="548640" y="6537960"/>
            <a:ext cx="6400800" cy="274320"/>
          </a:xfrm>
          <a:prstGeom prst="rect">
            <a:avLst/>
          </a:prstGeom>
          <a:noFill/>
          <a:ln/>
        </p:spPr>
        <p:txBody>
          <a:bodyPr wrap="square" lIns="0" tIns="0" rIns="0" bIns="0" rtlCol="0" anchor="ctr"/>
          <a:lstStyle/>
          <a:p>
            <a:pPr indent="0" marL="0">
              <a:buNone/>
            </a:pPr>
            <a:r>
              <a:rPr lang="en-US" sz="900" dirty="0">
                <a:solidFill>
                  <a:srgbClr val="9AA1B4"/>
                </a:solidFill>
                <a:latin typeface="Calibri" pitchFamily="34" charset="0"/>
                <a:ea typeface="Calibri" pitchFamily="34" charset="-122"/>
                <a:cs typeface="Calibri" pitchFamily="34" charset="-120"/>
              </a:rPr>
              <a:t>Gaming Community Pulse v2 — prepared for Ruisheng Holdings</a:t>
            </a:r>
            <a:endParaRPr lang="en-US" sz="900" dirty="0"/>
          </a:p>
        </p:txBody>
      </p:sp>
      <p:sp>
        <p:nvSpPr>
          <p:cNvPr id="56" name="Text 54"/>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1B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6C8CFF"/>
                </a:solidFill>
                <a:latin typeface="Calibri" pitchFamily="34" charset="0"/>
                <a:ea typeface="Calibri" pitchFamily="34" charset="-122"/>
                <a:cs typeface="Calibri" pitchFamily="34" charset="-120"/>
              </a:rPr>
              <a:t>QUESTIONS 5 &amp; 7 — FILTERS AND THE MORNING READ</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E8EAF0"/>
                </a:solidFill>
                <a:latin typeface="Cambria" pitchFamily="34" charset="0"/>
                <a:ea typeface="Cambria" pitchFamily="34" charset="-122"/>
                <a:cs typeface="Cambria" pitchFamily="34" charset="-120"/>
              </a:rPr>
              <a:t>The filter bar at the top, and the page reordered behind it</a:t>
            </a:r>
            <a:endParaRPr lang="en-US" sz="2800" dirty="0"/>
          </a:p>
        </p:txBody>
      </p:sp>
      <p:sp>
        <p:nvSpPr>
          <p:cNvPr id="4" name="Shape 2"/>
          <p:cNvSpPr/>
          <p:nvPr/>
        </p:nvSpPr>
        <p:spPr>
          <a:xfrm>
            <a:off x="548640" y="1298448"/>
            <a:ext cx="11064240" cy="777240"/>
          </a:xfrm>
          <a:prstGeom prst="roundRect">
            <a:avLst>
              <a:gd name="adj" fmla="val 9412"/>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685800" y="1444752"/>
            <a:ext cx="91440" cy="484632"/>
          </a:xfrm>
          <a:prstGeom prst="roundRect">
            <a:avLst>
              <a:gd name="adj" fmla="val 50000"/>
            </a:avLst>
          </a:prstGeom>
          <a:solidFill>
            <a:srgbClr val="6C8CFF"/>
          </a:solidFill>
          <a:ln/>
        </p:spPr>
      </p:sp>
      <p:sp>
        <p:nvSpPr>
          <p:cNvPr id="6" name="Text 4"/>
          <p:cNvSpPr/>
          <p:nvPr/>
        </p:nvSpPr>
        <p:spPr>
          <a:xfrm>
            <a:off x="932688" y="1389888"/>
            <a:ext cx="10515600" cy="594360"/>
          </a:xfrm>
          <a:prstGeom prst="rect">
            <a:avLst/>
          </a:prstGeom>
          <a:noFill/>
          <a:ln/>
        </p:spPr>
        <p:txBody>
          <a:bodyPr wrap="square" lIns="0" tIns="0" rIns="0" bIns="0" rtlCol="0" anchor="ctr"/>
          <a:lstStyle/>
          <a:p>
            <a:pPr indent="0" marL="0">
              <a:lnSpc>
                <a:spcPct val="105000"/>
              </a:lnSpc>
              <a:buNone/>
            </a:pPr>
            <a:r>
              <a:rPr lang="en-US" sz="1250" i="1" dirty="0">
                <a:solidFill>
                  <a:srgbClr val="E8EAF0"/>
                </a:solidFill>
                <a:latin typeface="Cambria" pitchFamily="34" charset="0"/>
                <a:ea typeface="Cambria" pitchFamily="34" charset="-122"/>
                <a:cs typeface="Cambria" pitchFamily="34" charset="-120"/>
              </a:rPr>
              <a:t>“The Media Channel filter should be positioned prominently at the top of the dashboard as a global filter. A Time Range filter should also be included alongside it.”   +   “The objective is not simply to create another dashboard.”</a:t>
            </a:r>
            <a:endParaRPr lang="en-US" sz="1250" dirty="0"/>
          </a:p>
        </p:txBody>
      </p:sp>
      <p:sp>
        <p:nvSpPr>
          <p:cNvPr id="7" name="Shape 5"/>
          <p:cNvSpPr/>
          <p:nvPr/>
        </p:nvSpPr>
        <p:spPr>
          <a:xfrm>
            <a:off x="548640" y="2212848"/>
            <a:ext cx="5486400" cy="3703320"/>
          </a:xfrm>
          <a:prstGeom prst="roundRect">
            <a:avLst>
              <a:gd name="adj" fmla="val 1975"/>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8" name="Text 6"/>
          <p:cNvSpPr/>
          <p:nvPr/>
        </p:nvSpPr>
        <p:spPr>
          <a:xfrm>
            <a:off x="822960" y="2377440"/>
            <a:ext cx="4937760" cy="274320"/>
          </a:xfrm>
          <a:prstGeom prst="rect">
            <a:avLst/>
          </a:prstGeom>
          <a:noFill/>
          <a:ln/>
        </p:spPr>
        <p:txBody>
          <a:bodyPr wrap="square" lIns="0" tIns="0" rIns="0" bIns="0" rtlCol="0" anchor="ctr"/>
          <a:lstStyle/>
          <a:p>
            <a:pPr indent="0" marL="0">
              <a:buNone/>
            </a:pPr>
            <a:r>
              <a:rPr lang="en-US" sz="1000" b="1" spc="100" kern="0" dirty="0">
                <a:solidFill>
                  <a:srgbClr val="6C8CFF"/>
                </a:solidFill>
                <a:latin typeface="Calibri" pitchFamily="34" charset="0"/>
                <a:ea typeface="Calibri" pitchFamily="34" charset="-122"/>
                <a:cs typeface="Calibri" pitchFamily="34" charset="-120"/>
              </a:rPr>
              <a:t>GLOBAL FILTERS</a:t>
            </a:r>
            <a:endParaRPr lang="en-US" sz="1000" dirty="0"/>
          </a:p>
        </p:txBody>
      </p:sp>
      <p:sp>
        <p:nvSpPr>
          <p:cNvPr id="9" name="Text 7"/>
          <p:cNvSpPr/>
          <p:nvPr/>
        </p:nvSpPr>
        <p:spPr>
          <a:xfrm>
            <a:off x="822960" y="2670048"/>
            <a:ext cx="4983480" cy="320040"/>
          </a:xfrm>
          <a:prstGeom prst="rect">
            <a:avLst/>
          </a:prstGeom>
          <a:noFill/>
          <a:ln/>
        </p:spPr>
        <p:txBody>
          <a:bodyPr wrap="square" lIns="0" tIns="0" rIns="0" bIns="0" rtlCol="0" anchor="ctr"/>
          <a:lstStyle/>
          <a:p>
            <a:pPr indent="0" marL="0">
              <a:buNone/>
            </a:pPr>
            <a:r>
              <a:rPr lang="en-US" sz="1100" dirty="0">
                <a:solidFill>
                  <a:srgbClr val="9AA1B4"/>
                </a:solidFill>
                <a:latin typeface="Calibri" pitchFamily="34" charset="0"/>
                <a:ea typeface="Calibri" pitchFamily="34" charset="-122"/>
                <a:cs typeface="Calibri" pitchFamily="34" charset="-120"/>
              </a:rPr>
              <a:t>A sticky bar sits directly under the header and stays visible while scrolling.</a:t>
            </a:r>
            <a:endParaRPr lang="en-US" sz="1100" dirty="0"/>
          </a:p>
        </p:txBody>
      </p:sp>
      <p:sp>
        <p:nvSpPr>
          <p:cNvPr id="10" name="Text 8"/>
          <p:cNvSpPr/>
          <p:nvPr/>
        </p:nvSpPr>
        <p:spPr>
          <a:xfrm>
            <a:off x="822960" y="3035808"/>
            <a:ext cx="4983480" cy="1828800"/>
          </a:xfrm>
          <a:prstGeom prst="rect">
            <a:avLst/>
          </a:prstGeom>
          <a:noFill/>
          <a:ln/>
        </p:spPr>
        <p:txBody>
          <a:bodyPr wrap="square" lIns="0" tIns="0" rIns="0" bIns="0" rtlCol="0" anchor="t"/>
          <a:lstStyle/>
          <a:p>
            <a:pPr marL="177800" indent="-177800">
              <a:lnSpc>
                <a:spcPct val="110000"/>
              </a:lnSpc>
              <a:spcAft>
                <a:spcPts val="500"/>
              </a:spcAft>
              <a:buSzPct val="100000"/>
              <a:buChar char="•"/>
            </a:pPr>
            <a:r>
              <a:rPr lang="en-US" sz="1150" dirty="0">
                <a:solidFill>
                  <a:srgbClr val="E8EAF0"/>
                </a:solidFill>
                <a:latin typeface="Calibri" pitchFamily="34" charset="0"/>
                <a:ea typeface="Calibri" pitchFamily="34" charset="-122"/>
                <a:cs typeface="Calibri" pitchFamily="34" charset="-120"/>
              </a:rPr>
              <a:t>Media channel — multi-select, with live record counts</a:t>
            </a:r>
            <a:endParaRPr lang="en-US" sz="1150" dirty="0"/>
          </a:p>
          <a:p>
            <a:pPr marL="177800" indent="-177800">
              <a:lnSpc>
                <a:spcPct val="110000"/>
              </a:lnSpc>
              <a:spcAft>
                <a:spcPts val="500"/>
              </a:spcAft>
              <a:buSzPct val="100000"/>
              <a:buChar char="•"/>
            </a:pPr>
            <a:r>
              <a:rPr lang="en-US" sz="1150" dirty="0">
                <a:solidFill>
                  <a:srgbClr val="E8EAF0"/>
                </a:solidFill>
                <a:latin typeface="Calibri" pitchFamily="34" charset="0"/>
                <a:ea typeface="Calibri" pitchFamily="34" charset="-122"/>
                <a:cs typeface="Calibri" pitchFamily="34" charset="-120"/>
              </a:rPr>
              <a:t>Product / game — multi-select, with counts</a:t>
            </a:r>
            <a:endParaRPr lang="en-US" sz="1150" dirty="0"/>
          </a:p>
          <a:p>
            <a:pPr marL="177800" indent="-177800">
              <a:lnSpc>
                <a:spcPct val="110000"/>
              </a:lnSpc>
              <a:spcAft>
                <a:spcPts val="500"/>
              </a:spcAft>
              <a:buSzPct val="100000"/>
              <a:buChar char="•"/>
            </a:pPr>
            <a:r>
              <a:rPr lang="en-US" sz="1150" dirty="0">
                <a:solidFill>
                  <a:srgbClr val="E8EAF0"/>
                </a:solidFill>
                <a:latin typeface="Calibri" pitchFamily="34" charset="0"/>
                <a:ea typeface="Calibri" pitchFamily="34" charset="-122"/>
                <a:cs typeface="Calibri" pitchFamily="34" charset="-120"/>
              </a:rPr>
              <a:t>Time range — today / 7 / 30 / 90 / all, plus custom dates</a:t>
            </a:r>
            <a:endParaRPr lang="en-US" sz="1150" dirty="0"/>
          </a:p>
          <a:p>
            <a:pPr marL="177800" indent="-177800">
              <a:lnSpc>
                <a:spcPct val="110000"/>
              </a:lnSpc>
              <a:spcAft>
                <a:spcPts val="500"/>
              </a:spcAft>
              <a:buSzPct val="100000"/>
              <a:buChar char="•"/>
            </a:pPr>
            <a:r>
              <a:rPr lang="en-US" sz="1150" dirty="0">
                <a:solidFill>
                  <a:srgbClr val="E8EAF0"/>
                </a:solidFill>
                <a:latin typeface="Calibri" pitchFamily="34" charset="0"/>
                <a:ea typeface="Calibri" pitchFamily="34" charset="-122"/>
                <a:cs typeface="Calibri" pitchFamily="34" charset="-120"/>
              </a:rPr>
              <a:t>Publication region</a:t>
            </a:r>
            <a:endParaRPr lang="en-US" sz="1150" dirty="0"/>
          </a:p>
          <a:p>
            <a:pPr marL="177800" indent="-177800">
              <a:lnSpc>
                <a:spcPct val="110000"/>
              </a:lnSpc>
              <a:spcAft>
                <a:spcPts val="500"/>
              </a:spcAft>
              <a:buSzPct val="100000"/>
              <a:buChar char="•"/>
            </a:pPr>
            <a:r>
              <a:rPr lang="en-US" sz="1150" dirty="0">
                <a:solidFill>
                  <a:srgbClr val="E8EAF0"/>
                </a:solidFill>
                <a:latin typeface="Calibri" pitchFamily="34" charset="0"/>
                <a:ea typeface="Calibri" pitchFamily="34" charset="-122"/>
                <a:cs typeface="Calibri" pitchFamily="34" charset="-120"/>
              </a:rPr>
              <a:t>A plain-English line stating what is currently in view</a:t>
            </a:r>
            <a:endParaRPr lang="en-US" sz="1150" dirty="0"/>
          </a:p>
        </p:txBody>
      </p:sp>
      <p:sp>
        <p:nvSpPr>
          <p:cNvPr id="11" name="Text 9"/>
          <p:cNvSpPr/>
          <p:nvPr/>
        </p:nvSpPr>
        <p:spPr>
          <a:xfrm>
            <a:off x="822960" y="4983480"/>
            <a:ext cx="4983480" cy="822960"/>
          </a:xfrm>
          <a:prstGeom prst="rect">
            <a:avLst/>
          </a:prstGeom>
          <a:noFill/>
          <a:ln/>
        </p:spPr>
        <p:txBody>
          <a:bodyPr wrap="square" lIns="0" tIns="0" rIns="0" bIns="0" rtlCol="0" anchor="t"/>
          <a:lstStyle/>
          <a:p>
            <a:pPr indent="0" marL="0">
              <a:lnSpc>
                <a:spcPct val="110000"/>
              </a:lnSpc>
              <a:buNone/>
            </a:pPr>
            <a:r>
              <a:rPr lang="en-US" sz="1000" dirty="0">
                <a:solidFill>
                  <a:srgbClr val="9AA1B4"/>
                </a:solidFill>
                <a:latin typeface="Calibri" pitchFamily="34" charset="0"/>
                <a:ea typeface="Calibri" pitchFamily="34" charset="-122"/>
                <a:cs typeface="Calibri" pitchFamily="34" charset="-120"/>
              </a:rPr>
              <a:t>Every panel derives from one filtered() function. Adding a panel that ignored a filter would mean deliberately bypassing it. Two exceptions are labelled on screen: the Twitch live snapshot, and the briefing, which is written server-side from the full dataset.</a:t>
            </a:r>
            <a:endParaRPr lang="en-US" sz="1000" dirty="0"/>
          </a:p>
        </p:txBody>
      </p:sp>
      <p:sp>
        <p:nvSpPr>
          <p:cNvPr id="12" name="Shape 10"/>
          <p:cNvSpPr/>
          <p:nvPr/>
        </p:nvSpPr>
        <p:spPr>
          <a:xfrm>
            <a:off x="6263640" y="2212848"/>
            <a:ext cx="5349240" cy="3703320"/>
          </a:xfrm>
          <a:prstGeom prst="roundRect">
            <a:avLst>
              <a:gd name="adj" fmla="val 1975"/>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3" name="Text 11"/>
          <p:cNvSpPr/>
          <p:nvPr/>
        </p:nvSpPr>
        <p:spPr>
          <a:xfrm>
            <a:off x="6537960" y="2377440"/>
            <a:ext cx="4754880" cy="274320"/>
          </a:xfrm>
          <a:prstGeom prst="rect">
            <a:avLst/>
          </a:prstGeom>
          <a:noFill/>
          <a:ln/>
        </p:spPr>
        <p:txBody>
          <a:bodyPr wrap="square" lIns="0" tIns="0" rIns="0" bIns="0" rtlCol="0" anchor="ctr"/>
          <a:lstStyle/>
          <a:p>
            <a:pPr indent="0" marL="0">
              <a:buNone/>
            </a:pPr>
            <a:r>
              <a:rPr lang="en-US" sz="1000" b="1" spc="100" kern="0" dirty="0">
                <a:solidFill>
                  <a:srgbClr val="3ECF8E"/>
                </a:solidFill>
                <a:latin typeface="Calibri" pitchFamily="34" charset="0"/>
                <a:ea typeface="Calibri" pitchFamily="34" charset="-122"/>
                <a:cs typeface="Calibri" pitchFamily="34" charset="-120"/>
              </a:rPr>
              <a:t>ORDERED BY WHAT YOU NEED FIRST</a:t>
            </a:r>
            <a:endParaRPr lang="en-US" sz="1000" dirty="0"/>
          </a:p>
        </p:txBody>
      </p:sp>
      <p:sp>
        <p:nvSpPr>
          <p:cNvPr id="14" name="Text 12"/>
          <p:cNvSpPr/>
          <p:nvPr/>
        </p:nvSpPr>
        <p:spPr>
          <a:xfrm>
            <a:off x="6537960" y="2651760"/>
            <a:ext cx="274320" cy="274320"/>
          </a:xfrm>
          <a:prstGeom prst="rect">
            <a:avLst/>
          </a:prstGeom>
          <a:noFill/>
          <a:ln/>
        </p:spPr>
        <p:txBody>
          <a:bodyPr wrap="square" lIns="0" tIns="0" rIns="0" bIns="0" rtlCol="0" anchor="ctr"/>
          <a:lstStyle/>
          <a:p>
            <a:pPr indent="0" marL="0">
              <a:buNone/>
            </a:pPr>
            <a:r>
              <a:rPr lang="en-US" sz="1100" b="1" dirty="0">
                <a:solidFill>
                  <a:srgbClr val="3ECF8E"/>
                </a:solidFill>
                <a:latin typeface="Consolas" pitchFamily="34" charset="0"/>
                <a:ea typeface="Consolas" pitchFamily="34" charset="-122"/>
                <a:cs typeface="Consolas" pitchFamily="34" charset="-120"/>
              </a:rPr>
              <a:t>1</a:t>
            </a:r>
            <a:endParaRPr lang="en-US" sz="1100" dirty="0"/>
          </a:p>
        </p:txBody>
      </p:sp>
      <p:sp>
        <p:nvSpPr>
          <p:cNvPr id="15" name="Text 13"/>
          <p:cNvSpPr/>
          <p:nvPr/>
        </p:nvSpPr>
        <p:spPr>
          <a:xfrm>
            <a:off x="6858000" y="2651760"/>
            <a:ext cx="2194560" cy="274320"/>
          </a:xfrm>
          <a:prstGeom prst="rect">
            <a:avLst/>
          </a:prstGeom>
          <a:noFill/>
          <a:ln/>
        </p:spPr>
        <p:txBody>
          <a:bodyPr wrap="square" lIns="0" tIns="0" rIns="0" bIns="0" rtlCol="0" anchor="ctr"/>
          <a:lstStyle/>
          <a:p>
            <a:pPr indent="0" marL="0">
              <a:buNone/>
            </a:pPr>
            <a:r>
              <a:rPr lang="en-US" sz="1150" b="1" dirty="0">
                <a:solidFill>
                  <a:srgbClr val="E8EAF0"/>
                </a:solidFill>
                <a:latin typeface="Calibri" pitchFamily="34" charset="0"/>
                <a:ea typeface="Calibri" pitchFamily="34" charset="-122"/>
                <a:cs typeface="Calibri" pitchFamily="34" charset="-120"/>
              </a:rPr>
              <a:t>The briefing</a:t>
            </a:r>
            <a:endParaRPr lang="en-US" sz="1150" dirty="0"/>
          </a:p>
        </p:txBody>
      </p:sp>
      <p:sp>
        <p:nvSpPr>
          <p:cNvPr id="16" name="Text 14"/>
          <p:cNvSpPr/>
          <p:nvPr/>
        </p:nvSpPr>
        <p:spPr>
          <a:xfrm>
            <a:off x="9052560" y="2642616"/>
            <a:ext cx="2331720" cy="384048"/>
          </a:xfrm>
          <a:prstGeom prst="rect">
            <a:avLst/>
          </a:prstGeom>
          <a:noFill/>
          <a:ln/>
        </p:spPr>
        <p:txBody>
          <a:bodyPr wrap="square" lIns="0" tIns="0" rIns="0" bIns="0" rtlCol="0" anchor="ctr"/>
          <a:lstStyle/>
          <a:p>
            <a:pPr indent="0" marL="0">
              <a:lnSpc>
                <a:spcPct val="100000"/>
              </a:lnSpc>
              <a:buNone/>
            </a:pPr>
            <a:r>
              <a:rPr lang="en-US" sz="900" dirty="0">
                <a:solidFill>
                  <a:srgbClr val="9AA1B4"/>
                </a:solidFill>
                <a:latin typeface="Calibri" pitchFamily="34" charset="0"/>
                <a:ea typeface="Calibri" pitchFamily="34" charset="-122"/>
                <a:cs typeface="Calibri" pitchFamily="34" charset="-120"/>
              </a:rPr>
              <a:t>headline, then a one-minute narrative</a:t>
            </a:r>
            <a:endParaRPr lang="en-US" sz="900" dirty="0"/>
          </a:p>
        </p:txBody>
      </p:sp>
      <p:sp>
        <p:nvSpPr>
          <p:cNvPr id="17" name="Text 15"/>
          <p:cNvSpPr/>
          <p:nvPr/>
        </p:nvSpPr>
        <p:spPr>
          <a:xfrm>
            <a:off x="6537960" y="3063240"/>
            <a:ext cx="274320" cy="274320"/>
          </a:xfrm>
          <a:prstGeom prst="rect">
            <a:avLst/>
          </a:prstGeom>
          <a:noFill/>
          <a:ln/>
        </p:spPr>
        <p:txBody>
          <a:bodyPr wrap="square" lIns="0" tIns="0" rIns="0" bIns="0" rtlCol="0" anchor="ctr"/>
          <a:lstStyle/>
          <a:p>
            <a:pPr indent="0" marL="0">
              <a:buNone/>
            </a:pPr>
            <a:r>
              <a:rPr lang="en-US" sz="1100" b="1" dirty="0">
                <a:solidFill>
                  <a:srgbClr val="3ECF8E"/>
                </a:solidFill>
                <a:latin typeface="Consolas" pitchFamily="34" charset="0"/>
                <a:ea typeface="Consolas" pitchFamily="34" charset="-122"/>
                <a:cs typeface="Consolas" pitchFamily="34" charset="-120"/>
              </a:rPr>
              <a:t>2</a:t>
            </a:r>
            <a:endParaRPr lang="en-US" sz="1100" dirty="0"/>
          </a:p>
        </p:txBody>
      </p:sp>
      <p:sp>
        <p:nvSpPr>
          <p:cNvPr id="18" name="Text 16"/>
          <p:cNvSpPr/>
          <p:nvPr/>
        </p:nvSpPr>
        <p:spPr>
          <a:xfrm>
            <a:off x="6858000" y="3063240"/>
            <a:ext cx="2194560" cy="274320"/>
          </a:xfrm>
          <a:prstGeom prst="rect">
            <a:avLst/>
          </a:prstGeom>
          <a:noFill/>
          <a:ln/>
        </p:spPr>
        <p:txBody>
          <a:bodyPr wrap="square" lIns="0" tIns="0" rIns="0" bIns="0" rtlCol="0" anchor="ctr"/>
          <a:lstStyle/>
          <a:p>
            <a:pPr indent="0" marL="0">
              <a:buNone/>
            </a:pPr>
            <a:r>
              <a:rPr lang="en-US" sz="1150" b="1" dirty="0">
                <a:solidFill>
                  <a:srgbClr val="E8EAF0"/>
                </a:solidFill>
                <a:latin typeface="Calibri" pitchFamily="34" charset="0"/>
                <a:ea typeface="Calibri" pitchFamily="34" charset="-122"/>
                <a:cs typeface="Calibri" pitchFamily="34" charset="-120"/>
              </a:rPr>
              <a:t>Five headline tiles</a:t>
            </a:r>
            <a:endParaRPr lang="en-US" sz="1150" dirty="0"/>
          </a:p>
        </p:txBody>
      </p:sp>
      <p:sp>
        <p:nvSpPr>
          <p:cNvPr id="19" name="Text 17"/>
          <p:cNvSpPr/>
          <p:nvPr/>
        </p:nvSpPr>
        <p:spPr>
          <a:xfrm>
            <a:off x="9052560" y="3054096"/>
            <a:ext cx="2331720" cy="384048"/>
          </a:xfrm>
          <a:prstGeom prst="rect">
            <a:avLst/>
          </a:prstGeom>
          <a:noFill/>
          <a:ln/>
        </p:spPr>
        <p:txBody>
          <a:bodyPr wrap="square" lIns="0" tIns="0" rIns="0" bIns="0" rtlCol="0" anchor="ctr"/>
          <a:lstStyle/>
          <a:p>
            <a:pPr indent="0" marL="0">
              <a:lnSpc>
                <a:spcPct val="100000"/>
              </a:lnSpc>
              <a:buNone/>
            </a:pPr>
            <a:r>
              <a:rPr lang="en-US" sz="900" dirty="0">
                <a:solidFill>
                  <a:srgbClr val="9AA1B4"/>
                </a:solidFill>
                <a:latin typeface="Calibri" pitchFamily="34" charset="0"/>
                <a:ea typeface="Calibri" pitchFamily="34" charset="-122"/>
                <a:cs typeface="Calibri" pitchFamily="34" charset="-120"/>
              </a:rPr>
              <a:t>each carries its own scale in one line</a:t>
            </a:r>
            <a:endParaRPr lang="en-US" sz="900" dirty="0"/>
          </a:p>
        </p:txBody>
      </p:sp>
      <p:sp>
        <p:nvSpPr>
          <p:cNvPr id="20" name="Text 18"/>
          <p:cNvSpPr/>
          <p:nvPr/>
        </p:nvSpPr>
        <p:spPr>
          <a:xfrm>
            <a:off x="6537960" y="3474720"/>
            <a:ext cx="274320" cy="274320"/>
          </a:xfrm>
          <a:prstGeom prst="rect">
            <a:avLst/>
          </a:prstGeom>
          <a:noFill/>
          <a:ln/>
        </p:spPr>
        <p:txBody>
          <a:bodyPr wrap="square" lIns="0" tIns="0" rIns="0" bIns="0" rtlCol="0" anchor="ctr"/>
          <a:lstStyle/>
          <a:p>
            <a:pPr indent="0" marL="0">
              <a:buNone/>
            </a:pPr>
            <a:r>
              <a:rPr lang="en-US" sz="1100" b="1" dirty="0">
                <a:solidFill>
                  <a:srgbClr val="3ECF8E"/>
                </a:solidFill>
                <a:latin typeface="Consolas" pitchFamily="34" charset="0"/>
                <a:ea typeface="Consolas" pitchFamily="34" charset="-122"/>
                <a:cs typeface="Consolas" pitchFamily="34" charset="-120"/>
              </a:rPr>
              <a:t>3</a:t>
            </a:r>
            <a:endParaRPr lang="en-US" sz="1100" dirty="0"/>
          </a:p>
        </p:txBody>
      </p:sp>
      <p:sp>
        <p:nvSpPr>
          <p:cNvPr id="21" name="Text 19"/>
          <p:cNvSpPr/>
          <p:nvPr/>
        </p:nvSpPr>
        <p:spPr>
          <a:xfrm>
            <a:off x="6858000" y="3474720"/>
            <a:ext cx="2194560" cy="274320"/>
          </a:xfrm>
          <a:prstGeom prst="rect">
            <a:avLst/>
          </a:prstGeom>
          <a:noFill/>
          <a:ln/>
        </p:spPr>
        <p:txBody>
          <a:bodyPr wrap="square" lIns="0" tIns="0" rIns="0" bIns="0" rtlCol="0" anchor="ctr"/>
          <a:lstStyle/>
          <a:p>
            <a:pPr indent="0" marL="0">
              <a:buNone/>
            </a:pPr>
            <a:r>
              <a:rPr lang="en-US" sz="1150" b="1" dirty="0">
                <a:solidFill>
                  <a:srgbClr val="E8EAF0"/>
                </a:solidFill>
                <a:latin typeface="Calibri" pitchFamily="34" charset="0"/>
                <a:ea typeface="Calibri" pitchFamily="34" charset="-122"/>
                <a:cs typeface="Calibri" pitchFamily="34" charset="-120"/>
              </a:rPr>
              <a:t>Charts as evidence</a:t>
            </a:r>
            <a:endParaRPr lang="en-US" sz="1150" dirty="0"/>
          </a:p>
        </p:txBody>
      </p:sp>
      <p:sp>
        <p:nvSpPr>
          <p:cNvPr id="22" name="Text 20"/>
          <p:cNvSpPr/>
          <p:nvPr/>
        </p:nvSpPr>
        <p:spPr>
          <a:xfrm>
            <a:off x="9052560" y="3465576"/>
            <a:ext cx="2331720" cy="384048"/>
          </a:xfrm>
          <a:prstGeom prst="rect">
            <a:avLst/>
          </a:prstGeom>
          <a:noFill/>
          <a:ln/>
        </p:spPr>
        <p:txBody>
          <a:bodyPr wrap="square" lIns="0" tIns="0" rIns="0" bIns="0" rtlCol="0" anchor="ctr"/>
          <a:lstStyle/>
          <a:p>
            <a:pPr indent="0" marL="0">
              <a:lnSpc>
                <a:spcPct val="100000"/>
              </a:lnSpc>
              <a:buNone/>
            </a:pPr>
            <a:r>
              <a:rPr lang="en-US" sz="900" dirty="0">
                <a:solidFill>
                  <a:srgbClr val="9AA1B4"/>
                </a:solidFill>
                <a:latin typeface="Calibri" pitchFamily="34" charset="0"/>
                <a:ea typeface="Calibri" pitchFamily="34" charset="-122"/>
                <a:cs typeface="Calibri" pitchFamily="34" charset="-120"/>
              </a:rPr>
              <a:t>spikes named in words, not left as a bump</a:t>
            </a:r>
            <a:endParaRPr lang="en-US" sz="900" dirty="0"/>
          </a:p>
        </p:txBody>
      </p:sp>
      <p:sp>
        <p:nvSpPr>
          <p:cNvPr id="23" name="Text 21"/>
          <p:cNvSpPr/>
          <p:nvPr/>
        </p:nvSpPr>
        <p:spPr>
          <a:xfrm>
            <a:off x="6537960" y="3886200"/>
            <a:ext cx="274320" cy="274320"/>
          </a:xfrm>
          <a:prstGeom prst="rect">
            <a:avLst/>
          </a:prstGeom>
          <a:noFill/>
          <a:ln/>
        </p:spPr>
        <p:txBody>
          <a:bodyPr wrap="square" lIns="0" tIns="0" rIns="0" bIns="0" rtlCol="0" anchor="ctr"/>
          <a:lstStyle/>
          <a:p>
            <a:pPr indent="0" marL="0">
              <a:buNone/>
            </a:pPr>
            <a:r>
              <a:rPr lang="en-US" sz="1100" b="1" dirty="0">
                <a:solidFill>
                  <a:srgbClr val="3ECF8E"/>
                </a:solidFill>
                <a:latin typeface="Consolas" pitchFamily="34" charset="0"/>
                <a:ea typeface="Consolas" pitchFamily="34" charset="-122"/>
                <a:cs typeface="Consolas" pitchFamily="34" charset="-120"/>
              </a:rPr>
              <a:t>4</a:t>
            </a:r>
            <a:endParaRPr lang="en-US" sz="1100" dirty="0"/>
          </a:p>
        </p:txBody>
      </p:sp>
      <p:sp>
        <p:nvSpPr>
          <p:cNvPr id="24" name="Text 22"/>
          <p:cNvSpPr/>
          <p:nvPr/>
        </p:nvSpPr>
        <p:spPr>
          <a:xfrm>
            <a:off x="6858000" y="3886200"/>
            <a:ext cx="2194560" cy="274320"/>
          </a:xfrm>
          <a:prstGeom prst="rect">
            <a:avLst/>
          </a:prstGeom>
          <a:noFill/>
          <a:ln/>
        </p:spPr>
        <p:txBody>
          <a:bodyPr wrap="square" lIns="0" tIns="0" rIns="0" bIns="0" rtlCol="0" anchor="ctr"/>
          <a:lstStyle/>
          <a:p>
            <a:pPr indent="0" marL="0">
              <a:buNone/>
            </a:pPr>
            <a:r>
              <a:rPr lang="en-US" sz="1150" b="1" dirty="0">
                <a:solidFill>
                  <a:srgbClr val="E8EAF0"/>
                </a:solidFill>
                <a:latin typeface="Calibri" pitchFamily="34" charset="0"/>
                <a:ea typeface="Calibri" pitchFamily="34" charset="-122"/>
                <a:cs typeface="Calibri" pitchFamily="34" charset="-120"/>
              </a:rPr>
              <a:t>Themes, questions, top posts</a:t>
            </a:r>
            <a:endParaRPr lang="en-US" sz="1150" dirty="0"/>
          </a:p>
        </p:txBody>
      </p:sp>
      <p:sp>
        <p:nvSpPr>
          <p:cNvPr id="25" name="Text 23"/>
          <p:cNvSpPr/>
          <p:nvPr/>
        </p:nvSpPr>
        <p:spPr>
          <a:xfrm>
            <a:off x="9052560" y="3877056"/>
            <a:ext cx="2331720" cy="384048"/>
          </a:xfrm>
          <a:prstGeom prst="rect">
            <a:avLst/>
          </a:prstGeom>
          <a:noFill/>
          <a:ln/>
        </p:spPr>
        <p:txBody>
          <a:bodyPr wrap="square" lIns="0" tIns="0" rIns="0" bIns="0" rtlCol="0" anchor="ctr"/>
          <a:lstStyle/>
          <a:p>
            <a:pPr indent="0" marL="0">
              <a:lnSpc>
                <a:spcPct val="100000"/>
              </a:lnSpc>
              <a:buNone/>
            </a:pPr>
            <a:r>
              <a:rPr lang="en-US" sz="900" dirty="0">
                <a:solidFill>
                  <a:srgbClr val="9AA1B4"/>
                </a:solidFill>
                <a:latin typeface="Calibri" pitchFamily="34" charset="0"/>
                <a:ea typeface="Calibri" pitchFamily="34" charset="-122"/>
                <a:cs typeface="Calibri" pitchFamily="34" charset="-120"/>
              </a:rPr>
              <a:t>the reading material</a:t>
            </a:r>
            <a:endParaRPr lang="en-US" sz="900" dirty="0"/>
          </a:p>
        </p:txBody>
      </p:sp>
      <p:sp>
        <p:nvSpPr>
          <p:cNvPr id="26" name="Text 24"/>
          <p:cNvSpPr/>
          <p:nvPr/>
        </p:nvSpPr>
        <p:spPr>
          <a:xfrm>
            <a:off x="6537960" y="4297680"/>
            <a:ext cx="274320" cy="274320"/>
          </a:xfrm>
          <a:prstGeom prst="rect">
            <a:avLst/>
          </a:prstGeom>
          <a:noFill/>
          <a:ln/>
        </p:spPr>
        <p:txBody>
          <a:bodyPr wrap="square" lIns="0" tIns="0" rIns="0" bIns="0" rtlCol="0" anchor="ctr"/>
          <a:lstStyle/>
          <a:p>
            <a:pPr indent="0" marL="0">
              <a:buNone/>
            </a:pPr>
            <a:r>
              <a:rPr lang="en-US" sz="1100" b="1" dirty="0">
                <a:solidFill>
                  <a:srgbClr val="3ECF8E"/>
                </a:solidFill>
                <a:latin typeface="Consolas" pitchFamily="34" charset="0"/>
                <a:ea typeface="Consolas" pitchFamily="34" charset="-122"/>
                <a:cs typeface="Consolas" pitchFamily="34" charset="-120"/>
              </a:rPr>
              <a:t>5</a:t>
            </a:r>
            <a:endParaRPr lang="en-US" sz="1100" dirty="0"/>
          </a:p>
        </p:txBody>
      </p:sp>
      <p:sp>
        <p:nvSpPr>
          <p:cNvPr id="27" name="Text 25"/>
          <p:cNvSpPr/>
          <p:nvPr/>
        </p:nvSpPr>
        <p:spPr>
          <a:xfrm>
            <a:off x="6858000" y="4297680"/>
            <a:ext cx="2194560" cy="274320"/>
          </a:xfrm>
          <a:prstGeom prst="rect">
            <a:avLst/>
          </a:prstGeom>
          <a:noFill/>
          <a:ln/>
        </p:spPr>
        <p:txBody>
          <a:bodyPr wrap="square" lIns="0" tIns="0" rIns="0" bIns="0" rtlCol="0" anchor="ctr"/>
          <a:lstStyle/>
          <a:p>
            <a:pPr indent="0" marL="0">
              <a:buNone/>
            </a:pPr>
            <a:r>
              <a:rPr lang="en-US" sz="1150" b="1" dirty="0">
                <a:solidFill>
                  <a:srgbClr val="E8EAF0"/>
                </a:solidFill>
                <a:latin typeface="Calibri" pitchFamily="34" charset="0"/>
                <a:ea typeface="Calibri" pitchFamily="34" charset="-122"/>
                <a:cs typeface="Calibri" pitchFamily="34" charset="-120"/>
              </a:rPr>
              <a:t>The raw records</a:t>
            </a:r>
            <a:endParaRPr lang="en-US" sz="1150" dirty="0"/>
          </a:p>
        </p:txBody>
      </p:sp>
      <p:sp>
        <p:nvSpPr>
          <p:cNvPr id="28" name="Text 26"/>
          <p:cNvSpPr/>
          <p:nvPr/>
        </p:nvSpPr>
        <p:spPr>
          <a:xfrm>
            <a:off x="9052560" y="4288536"/>
            <a:ext cx="2331720" cy="384048"/>
          </a:xfrm>
          <a:prstGeom prst="rect">
            <a:avLst/>
          </a:prstGeom>
          <a:noFill/>
          <a:ln/>
        </p:spPr>
        <p:txBody>
          <a:bodyPr wrap="square" lIns="0" tIns="0" rIns="0" bIns="0" rtlCol="0" anchor="ctr"/>
          <a:lstStyle/>
          <a:p>
            <a:pPr indent="0" marL="0">
              <a:lnSpc>
                <a:spcPct val="100000"/>
              </a:lnSpc>
              <a:buNone/>
            </a:pPr>
            <a:r>
              <a:rPr lang="en-US" sz="900" dirty="0">
                <a:solidFill>
                  <a:srgbClr val="9AA1B4"/>
                </a:solidFill>
                <a:latin typeface="Calibri" pitchFamily="34" charset="0"/>
                <a:ea typeface="Calibri" pitchFamily="34" charset="-122"/>
                <a:cs typeface="Calibri" pitchFamily="34" charset="-120"/>
              </a:rPr>
              <a:t>so any figure traces back to its rows</a:t>
            </a:r>
            <a:endParaRPr lang="en-US" sz="900" dirty="0"/>
          </a:p>
        </p:txBody>
      </p:sp>
      <p:sp>
        <p:nvSpPr>
          <p:cNvPr id="29" name="Text 27"/>
          <p:cNvSpPr/>
          <p:nvPr/>
        </p:nvSpPr>
        <p:spPr>
          <a:xfrm>
            <a:off x="6537960" y="4709160"/>
            <a:ext cx="274320" cy="274320"/>
          </a:xfrm>
          <a:prstGeom prst="rect">
            <a:avLst/>
          </a:prstGeom>
          <a:noFill/>
          <a:ln/>
        </p:spPr>
        <p:txBody>
          <a:bodyPr wrap="square" lIns="0" tIns="0" rIns="0" bIns="0" rtlCol="0" anchor="ctr"/>
          <a:lstStyle/>
          <a:p>
            <a:pPr indent="0" marL="0">
              <a:buNone/>
            </a:pPr>
            <a:r>
              <a:rPr lang="en-US" sz="1100" b="1" dirty="0">
                <a:solidFill>
                  <a:srgbClr val="3ECF8E"/>
                </a:solidFill>
                <a:latin typeface="Consolas" pitchFamily="34" charset="0"/>
                <a:ea typeface="Consolas" pitchFamily="34" charset="-122"/>
                <a:cs typeface="Consolas" pitchFamily="34" charset="-120"/>
              </a:rPr>
              <a:t>6</a:t>
            </a:r>
            <a:endParaRPr lang="en-US" sz="1100" dirty="0"/>
          </a:p>
        </p:txBody>
      </p:sp>
      <p:sp>
        <p:nvSpPr>
          <p:cNvPr id="30" name="Text 28"/>
          <p:cNvSpPr/>
          <p:nvPr/>
        </p:nvSpPr>
        <p:spPr>
          <a:xfrm>
            <a:off x="6858000" y="4709160"/>
            <a:ext cx="2194560" cy="274320"/>
          </a:xfrm>
          <a:prstGeom prst="rect">
            <a:avLst/>
          </a:prstGeom>
          <a:noFill/>
          <a:ln/>
        </p:spPr>
        <p:txBody>
          <a:bodyPr wrap="square" lIns="0" tIns="0" rIns="0" bIns="0" rtlCol="0" anchor="ctr"/>
          <a:lstStyle/>
          <a:p>
            <a:pPr indent="0" marL="0">
              <a:buNone/>
            </a:pPr>
            <a:r>
              <a:rPr lang="en-US" sz="1150" b="1" dirty="0">
                <a:solidFill>
                  <a:srgbClr val="E8EAF0"/>
                </a:solidFill>
                <a:latin typeface="Calibri" pitchFamily="34" charset="0"/>
                <a:ea typeface="Calibri" pitchFamily="34" charset="-122"/>
                <a:cs typeface="Calibri" pitchFamily="34" charset="-120"/>
              </a:rPr>
              <a:t>Methodology, collapsed</a:t>
            </a:r>
            <a:endParaRPr lang="en-US" sz="1150" dirty="0"/>
          </a:p>
        </p:txBody>
      </p:sp>
      <p:sp>
        <p:nvSpPr>
          <p:cNvPr id="31" name="Text 29"/>
          <p:cNvSpPr/>
          <p:nvPr/>
        </p:nvSpPr>
        <p:spPr>
          <a:xfrm>
            <a:off x="9052560" y="4700016"/>
            <a:ext cx="2331720" cy="384048"/>
          </a:xfrm>
          <a:prstGeom prst="rect">
            <a:avLst/>
          </a:prstGeom>
          <a:noFill/>
          <a:ln/>
        </p:spPr>
        <p:txBody>
          <a:bodyPr wrap="square" lIns="0" tIns="0" rIns="0" bIns="0" rtlCol="0" anchor="ctr"/>
          <a:lstStyle/>
          <a:p>
            <a:pPr indent="0" marL="0">
              <a:lnSpc>
                <a:spcPct val="100000"/>
              </a:lnSpc>
              <a:buNone/>
            </a:pPr>
            <a:r>
              <a:rPr lang="en-US" sz="900" dirty="0">
                <a:solidFill>
                  <a:srgbClr val="9AA1B4"/>
                </a:solidFill>
                <a:latin typeface="Calibri" pitchFamily="34" charset="0"/>
                <a:ea typeface="Calibri" pitchFamily="34" charset="-122"/>
                <a:cs typeface="Calibri" pitchFamily="34" charset="-120"/>
              </a:rPr>
              <a:t>every number on the page, explained</a:t>
            </a:r>
            <a:endParaRPr lang="en-US" sz="900" dirty="0"/>
          </a:p>
        </p:txBody>
      </p:sp>
      <p:sp>
        <p:nvSpPr>
          <p:cNvPr id="32" name="Text 30"/>
          <p:cNvSpPr/>
          <p:nvPr/>
        </p:nvSpPr>
        <p:spPr>
          <a:xfrm>
            <a:off x="6537960" y="5212080"/>
            <a:ext cx="4800600" cy="658368"/>
          </a:xfrm>
          <a:prstGeom prst="rect">
            <a:avLst/>
          </a:prstGeom>
          <a:noFill/>
          <a:ln/>
        </p:spPr>
        <p:txBody>
          <a:bodyPr wrap="square" lIns="0" tIns="0" rIns="0" bIns="0" rtlCol="0" anchor="t"/>
          <a:lstStyle/>
          <a:p>
            <a:pPr indent="0" marL="0">
              <a:lnSpc>
                <a:spcPct val="110000"/>
              </a:lnSpc>
              <a:buNone/>
            </a:pPr>
            <a:r>
              <a:rPr lang="en-US" sz="1000" dirty="0">
                <a:solidFill>
                  <a:srgbClr val="9AA1B4"/>
                </a:solidFill>
                <a:latin typeface="Calibri" pitchFamily="34" charset="0"/>
                <a:ea typeface="Calibri" pitchFamily="34" charset="-122"/>
                <a:cs typeface="Calibri" pitchFamily="34" charset="-120"/>
              </a:rPr>
              <a:t>Also fixed for the end user: developer instructions no longer render in the UI; every third-party string is HTML-escaped, closing a stored-XSS hole; accessibility throughout; Chart.js served locally so charts render on an egress-restricted network.</a:t>
            </a:r>
            <a:endParaRPr lang="en-US" sz="1000" dirty="0"/>
          </a:p>
        </p:txBody>
      </p:sp>
      <p:sp>
        <p:nvSpPr>
          <p:cNvPr id="33" name="Shape 31"/>
          <p:cNvSpPr/>
          <p:nvPr/>
        </p:nvSpPr>
        <p:spPr>
          <a:xfrm>
            <a:off x="548640" y="5989320"/>
            <a:ext cx="11064240" cy="457200"/>
          </a:xfrm>
          <a:prstGeom prst="roundRect">
            <a:avLst>
              <a:gd name="adj" fmla="val 16000"/>
            </a:avLst>
          </a:prstGeom>
          <a:solidFill>
            <a:srgbClr val="231819"/>
          </a:solidFill>
          <a:ln w="12700">
            <a:solidFill>
              <a:srgbClr val="2A2F40"/>
            </a:solidFill>
            <a:prstDash val="solid"/>
          </a:ln>
        </p:spPr>
      </p:sp>
      <p:sp>
        <p:nvSpPr>
          <p:cNvPr id="34" name="Text 32"/>
          <p:cNvSpPr/>
          <p:nvPr/>
        </p:nvSpPr>
        <p:spPr>
          <a:xfrm>
            <a:off x="868680" y="5989320"/>
            <a:ext cx="10424160" cy="457200"/>
          </a:xfrm>
          <a:prstGeom prst="rect">
            <a:avLst/>
          </a:prstGeom>
          <a:noFill/>
          <a:ln/>
        </p:spPr>
        <p:txBody>
          <a:bodyPr wrap="square" lIns="0" tIns="0" rIns="0" bIns="0" rtlCol="0" anchor="ctr"/>
          <a:lstStyle/>
          <a:p>
            <a:pPr indent="0" marL="0">
              <a:buNone/>
            </a:pPr>
            <a:r>
              <a:rPr lang="en-US" sz="1100" dirty="0">
                <a:solidFill>
                  <a:srgbClr val="9AA1B4"/>
                </a:solidFill>
                <a:latin typeface="Calibri" pitchFamily="34" charset="0"/>
                <a:ea typeface="Calibri" pitchFamily="34" charset="-122"/>
                <a:cs typeface="Calibri" pitchFamily="34" charset="-120"/>
              </a:rPr>
              <a:t>Previously: the platform dropdown sat at the bottom of the page, inside the raw-data panel, drove only that one table, and omitted Twitch entirely — despite Twitch records being collected.</a:t>
            </a:r>
            <a:endParaRPr lang="en-US" sz="1100" dirty="0"/>
          </a:p>
        </p:txBody>
      </p:sp>
      <p:sp>
        <p:nvSpPr>
          <p:cNvPr id="35" name="Text 33"/>
          <p:cNvSpPr/>
          <p:nvPr/>
        </p:nvSpPr>
        <p:spPr>
          <a:xfrm>
            <a:off x="548640" y="6537960"/>
            <a:ext cx="6400800" cy="274320"/>
          </a:xfrm>
          <a:prstGeom prst="rect">
            <a:avLst/>
          </a:prstGeom>
          <a:noFill/>
          <a:ln/>
        </p:spPr>
        <p:txBody>
          <a:bodyPr wrap="square" lIns="0" tIns="0" rIns="0" bIns="0" rtlCol="0" anchor="ctr"/>
          <a:lstStyle/>
          <a:p>
            <a:pPr indent="0" marL="0">
              <a:buNone/>
            </a:pPr>
            <a:r>
              <a:rPr lang="en-US" sz="900" dirty="0">
                <a:solidFill>
                  <a:srgbClr val="9AA1B4"/>
                </a:solidFill>
                <a:latin typeface="Calibri" pitchFamily="34" charset="0"/>
                <a:ea typeface="Calibri" pitchFamily="34" charset="-122"/>
                <a:cs typeface="Calibri" pitchFamily="34" charset="-120"/>
              </a:rPr>
              <a:t>Gaming Community Pulse v2 — prepared for Ruisheng Holdings</a:t>
            </a:r>
            <a:endParaRPr lang="en-US" sz="900" dirty="0"/>
          </a:p>
        </p:txBody>
      </p:sp>
      <p:sp>
        <p:nvSpPr>
          <p:cNvPr id="36" name="Text 34"/>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1B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6C8CFF"/>
                </a:solidFill>
                <a:latin typeface="Calibri" pitchFamily="34" charset="0"/>
                <a:ea typeface="Calibri" pitchFamily="34" charset="-122"/>
                <a:cs typeface="Calibri" pitchFamily="34" charset="-120"/>
              </a:rPr>
              <a:t>QUESTION 6 — THE DAILY BRIEFING</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E8EAF0"/>
                </a:solidFill>
                <a:latin typeface="Cambria" pitchFamily="34" charset="0"/>
                <a:ea typeface="Cambria" pitchFamily="34" charset="-122"/>
                <a:cs typeface="Cambria" pitchFamily="34" charset="-120"/>
              </a:rPr>
              <a:t>First thing on the page, above the metrics</a:t>
            </a:r>
            <a:endParaRPr lang="en-US" sz="2800" dirty="0"/>
          </a:p>
        </p:txBody>
      </p:sp>
      <p:sp>
        <p:nvSpPr>
          <p:cNvPr id="4" name="Shape 2"/>
          <p:cNvSpPr/>
          <p:nvPr/>
        </p:nvSpPr>
        <p:spPr>
          <a:xfrm>
            <a:off x="548640" y="1298448"/>
            <a:ext cx="11064240" cy="658368"/>
          </a:xfrm>
          <a:prstGeom prst="roundRect">
            <a:avLst>
              <a:gd name="adj" fmla="val 11111"/>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685800" y="1444752"/>
            <a:ext cx="91440" cy="365760"/>
          </a:xfrm>
          <a:prstGeom prst="roundRect">
            <a:avLst>
              <a:gd name="adj" fmla="val 50000"/>
            </a:avLst>
          </a:prstGeom>
          <a:solidFill>
            <a:srgbClr val="6C8CFF"/>
          </a:solidFill>
          <a:ln/>
        </p:spPr>
      </p:sp>
      <p:sp>
        <p:nvSpPr>
          <p:cNvPr id="6" name="Text 4"/>
          <p:cNvSpPr/>
          <p:nvPr/>
        </p:nvSpPr>
        <p:spPr>
          <a:xfrm>
            <a:off x="932688" y="1389888"/>
            <a:ext cx="10515600" cy="475488"/>
          </a:xfrm>
          <a:prstGeom prst="rect">
            <a:avLst/>
          </a:prstGeom>
          <a:noFill/>
          <a:ln/>
        </p:spPr>
        <p:txBody>
          <a:bodyPr wrap="square" lIns="0" tIns="0" rIns="0" bIns="0" rtlCol="0" anchor="ctr"/>
          <a:lstStyle/>
          <a:p>
            <a:pPr indent="0" marL="0">
              <a:lnSpc>
                <a:spcPct val="105000"/>
              </a:lnSpc>
              <a:buNone/>
            </a:pPr>
            <a:r>
              <a:rPr lang="en-US" sz="1250" i="1" dirty="0">
                <a:solidFill>
                  <a:srgbClr val="E8EAF0"/>
                </a:solidFill>
                <a:latin typeface="Cambria" pitchFamily="34" charset="0"/>
                <a:ea typeface="Cambria" pitchFamily="34" charset="-122"/>
                <a:cs typeface="Cambria" pitchFamily="34" charset="-120"/>
              </a:rPr>
              <a:t>“Could an AI-generated daily summary be incorporated into the dashboard? … Please also suggest how many words would be proper to present.”</a:t>
            </a:r>
            <a:endParaRPr lang="en-US" sz="1250" dirty="0"/>
          </a:p>
        </p:txBody>
      </p:sp>
      <p:sp>
        <p:nvSpPr>
          <p:cNvPr id="7" name="Shape 5"/>
          <p:cNvSpPr/>
          <p:nvPr/>
        </p:nvSpPr>
        <p:spPr>
          <a:xfrm>
            <a:off x="548640" y="2103120"/>
            <a:ext cx="5486400" cy="2788920"/>
          </a:xfrm>
          <a:prstGeom prst="roundRect">
            <a:avLst>
              <a:gd name="adj" fmla="val 2623"/>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8" name="Text 6"/>
          <p:cNvSpPr/>
          <p:nvPr/>
        </p:nvSpPr>
        <p:spPr>
          <a:xfrm>
            <a:off x="822960" y="2231136"/>
            <a:ext cx="4937760" cy="274320"/>
          </a:xfrm>
          <a:prstGeom prst="rect">
            <a:avLst/>
          </a:prstGeom>
          <a:noFill/>
          <a:ln/>
        </p:spPr>
        <p:txBody>
          <a:bodyPr wrap="square" lIns="0" tIns="0" rIns="0" bIns="0" rtlCol="0" anchor="ctr"/>
          <a:lstStyle/>
          <a:p>
            <a:pPr indent="0" marL="0">
              <a:buNone/>
            </a:pPr>
            <a:r>
              <a:rPr lang="en-US" sz="1000" b="1" spc="100" kern="0" dirty="0">
                <a:solidFill>
                  <a:srgbClr val="9AA1B4"/>
                </a:solidFill>
                <a:latin typeface="Calibri" pitchFamily="34" charset="0"/>
                <a:ea typeface="Calibri" pitchFamily="34" charset="-122"/>
                <a:cs typeface="Calibri" pitchFamily="34" charset="-120"/>
              </a:rPr>
              <a:t>WHAT IT RETURNS, EVERY REFRESH</a:t>
            </a:r>
            <a:endParaRPr lang="en-US" sz="1000" dirty="0"/>
          </a:p>
        </p:txBody>
      </p:sp>
      <p:sp>
        <p:nvSpPr>
          <p:cNvPr id="9" name="Shape 7"/>
          <p:cNvSpPr/>
          <p:nvPr/>
        </p:nvSpPr>
        <p:spPr>
          <a:xfrm>
            <a:off x="841248" y="2633472"/>
            <a:ext cx="100584" cy="100584"/>
          </a:xfrm>
          <a:prstGeom prst="ellipse">
            <a:avLst/>
          </a:prstGeom>
          <a:solidFill>
            <a:srgbClr val="6C8CFF"/>
          </a:solidFill>
          <a:ln/>
        </p:spPr>
      </p:sp>
      <p:sp>
        <p:nvSpPr>
          <p:cNvPr id="10" name="Text 8"/>
          <p:cNvSpPr/>
          <p:nvPr/>
        </p:nvSpPr>
        <p:spPr>
          <a:xfrm>
            <a:off x="1051560" y="2542032"/>
            <a:ext cx="1828800" cy="292608"/>
          </a:xfrm>
          <a:prstGeom prst="rect">
            <a:avLst/>
          </a:prstGeom>
          <a:noFill/>
          <a:ln/>
        </p:spPr>
        <p:txBody>
          <a:bodyPr wrap="square" lIns="0" tIns="0" rIns="0" bIns="0" rtlCol="0" anchor="ctr"/>
          <a:lstStyle/>
          <a:p>
            <a:pPr indent="0" marL="0">
              <a:buNone/>
            </a:pPr>
            <a:r>
              <a:rPr lang="en-US" sz="1100" b="1" dirty="0">
                <a:solidFill>
                  <a:srgbClr val="E8EAF0"/>
                </a:solidFill>
                <a:latin typeface="Calibri" pitchFamily="34" charset="0"/>
                <a:ea typeface="Calibri" pitchFamily="34" charset="-122"/>
                <a:cs typeface="Calibri" pitchFamily="34" charset="-120"/>
              </a:rPr>
              <a:t>Headline</a:t>
            </a:r>
            <a:endParaRPr lang="en-US" sz="1100" dirty="0"/>
          </a:p>
        </p:txBody>
      </p:sp>
      <p:sp>
        <p:nvSpPr>
          <p:cNvPr id="11" name="Text 9"/>
          <p:cNvSpPr/>
          <p:nvPr/>
        </p:nvSpPr>
        <p:spPr>
          <a:xfrm>
            <a:off x="2880360" y="2542032"/>
            <a:ext cx="2971800" cy="292608"/>
          </a:xfrm>
          <a:prstGeom prst="rect">
            <a:avLst/>
          </a:prstGeom>
          <a:noFill/>
          <a:ln/>
        </p:spPr>
        <p:txBody>
          <a:bodyPr wrap="square" lIns="0" tIns="0" rIns="0" bIns="0" rtlCol="0" anchor="ctr"/>
          <a:lstStyle/>
          <a:p>
            <a:pPr indent="0" marL="0">
              <a:buNone/>
            </a:pPr>
            <a:r>
              <a:rPr lang="en-US" sz="950" dirty="0">
                <a:solidFill>
                  <a:srgbClr val="9AA1B4"/>
                </a:solidFill>
                <a:latin typeface="Calibri" pitchFamily="34" charset="0"/>
                <a:ea typeface="Calibri" pitchFamily="34" charset="-122"/>
                <a:cs typeface="Calibri" pitchFamily="34" charset="-120"/>
              </a:rPr>
              <a:t>one sentence naming the most important thing today</a:t>
            </a:r>
            <a:endParaRPr lang="en-US" sz="950" dirty="0"/>
          </a:p>
        </p:txBody>
      </p:sp>
      <p:sp>
        <p:nvSpPr>
          <p:cNvPr id="12" name="Shape 10"/>
          <p:cNvSpPr/>
          <p:nvPr/>
        </p:nvSpPr>
        <p:spPr>
          <a:xfrm>
            <a:off x="841248" y="2999232"/>
            <a:ext cx="100584" cy="100584"/>
          </a:xfrm>
          <a:prstGeom prst="ellipse">
            <a:avLst/>
          </a:prstGeom>
          <a:solidFill>
            <a:srgbClr val="6C8CFF"/>
          </a:solidFill>
          <a:ln/>
        </p:spPr>
      </p:sp>
      <p:sp>
        <p:nvSpPr>
          <p:cNvPr id="13" name="Text 11"/>
          <p:cNvSpPr/>
          <p:nvPr/>
        </p:nvSpPr>
        <p:spPr>
          <a:xfrm>
            <a:off x="1051560" y="2907792"/>
            <a:ext cx="1828800" cy="292608"/>
          </a:xfrm>
          <a:prstGeom prst="rect">
            <a:avLst/>
          </a:prstGeom>
          <a:noFill/>
          <a:ln/>
        </p:spPr>
        <p:txBody>
          <a:bodyPr wrap="square" lIns="0" tIns="0" rIns="0" bIns="0" rtlCol="0" anchor="ctr"/>
          <a:lstStyle/>
          <a:p>
            <a:pPr indent="0" marL="0">
              <a:buNone/>
            </a:pPr>
            <a:r>
              <a:rPr lang="en-US" sz="1100" b="1" dirty="0">
                <a:solidFill>
                  <a:srgbClr val="E8EAF0"/>
                </a:solidFill>
                <a:latin typeface="Calibri" pitchFamily="34" charset="0"/>
                <a:ea typeface="Calibri" pitchFamily="34" charset="-122"/>
                <a:cs typeface="Calibri" pitchFamily="34" charset="-120"/>
              </a:rPr>
              <a:t>Narrative</a:t>
            </a:r>
            <a:endParaRPr lang="en-US" sz="1100" dirty="0"/>
          </a:p>
        </p:txBody>
      </p:sp>
      <p:sp>
        <p:nvSpPr>
          <p:cNvPr id="14" name="Text 12"/>
          <p:cNvSpPr/>
          <p:nvPr/>
        </p:nvSpPr>
        <p:spPr>
          <a:xfrm>
            <a:off x="2880360" y="2907792"/>
            <a:ext cx="2971800" cy="292608"/>
          </a:xfrm>
          <a:prstGeom prst="rect">
            <a:avLst/>
          </a:prstGeom>
          <a:noFill/>
          <a:ln/>
        </p:spPr>
        <p:txBody>
          <a:bodyPr wrap="square" lIns="0" tIns="0" rIns="0" bIns="0" rtlCol="0" anchor="ctr"/>
          <a:lstStyle/>
          <a:p>
            <a:pPr indent="0" marL="0">
              <a:buNone/>
            </a:pPr>
            <a:r>
              <a:rPr lang="en-US" sz="950" dirty="0">
                <a:solidFill>
                  <a:srgbClr val="9AA1B4"/>
                </a:solidFill>
                <a:latin typeface="Calibri" pitchFamily="34" charset="0"/>
                <a:ea typeface="Calibri" pitchFamily="34" charset="-122"/>
                <a:cs typeface="Calibri" pitchFamily="34" charset="-120"/>
              </a:rPr>
              <a:t>150–200 words of plain-English judgement</a:t>
            </a:r>
            <a:endParaRPr lang="en-US" sz="950" dirty="0"/>
          </a:p>
        </p:txBody>
      </p:sp>
      <p:sp>
        <p:nvSpPr>
          <p:cNvPr id="15" name="Shape 13"/>
          <p:cNvSpPr/>
          <p:nvPr/>
        </p:nvSpPr>
        <p:spPr>
          <a:xfrm>
            <a:off x="841248" y="3364992"/>
            <a:ext cx="100584" cy="100584"/>
          </a:xfrm>
          <a:prstGeom prst="ellipse">
            <a:avLst/>
          </a:prstGeom>
          <a:solidFill>
            <a:srgbClr val="3ECF8E"/>
          </a:solidFill>
          <a:ln/>
        </p:spPr>
      </p:sp>
      <p:sp>
        <p:nvSpPr>
          <p:cNvPr id="16" name="Text 14"/>
          <p:cNvSpPr/>
          <p:nvPr/>
        </p:nvSpPr>
        <p:spPr>
          <a:xfrm>
            <a:off x="1051560" y="3273552"/>
            <a:ext cx="1828800" cy="292608"/>
          </a:xfrm>
          <a:prstGeom prst="rect">
            <a:avLst/>
          </a:prstGeom>
          <a:noFill/>
          <a:ln/>
        </p:spPr>
        <p:txBody>
          <a:bodyPr wrap="square" lIns="0" tIns="0" rIns="0" bIns="0" rtlCol="0" anchor="ctr"/>
          <a:lstStyle/>
          <a:p>
            <a:pPr indent="0" marL="0">
              <a:buNone/>
            </a:pPr>
            <a:r>
              <a:rPr lang="en-US" sz="1100" b="1" dirty="0">
                <a:solidFill>
                  <a:srgbClr val="E8EAF0"/>
                </a:solidFill>
                <a:latin typeface="Calibri" pitchFamily="34" charset="0"/>
                <a:ea typeface="Calibri" pitchFamily="34" charset="-122"/>
                <a:cs typeface="Calibri" pitchFamily="34" charset="-120"/>
              </a:rPr>
              <a:t>Watch today</a:t>
            </a:r>
            <a:endParaRPr lang="en-US" sz="1100" dirty="0"/>
          </a:p>
        </p:txBody>
      </p:sp>
      <p:sp>
        <p:nvSpPr>
          <p:cNvPr id="17" name="Text 15"/>
          <p:cNvSpPr/>
          <p:nvPr/>
        </p:nvSpPr>
        <p:spPr>
          <a:xfrm>
            <a:off x="2880360" y="3273552"/>
            <a:ext cx="2971800" cy="292608"/>
          </a:xfrm>
          <a:prstGeom prst="rect">
            <a:avLst/>
          </a:prstGeom>
          <a:noFill/>
          <a:ln/>
        </p:spPr>
        <p:txBody>
          <a:bodyPr wrap="square" lIns="0" tIns="0" rIns="0" bIns="0" rtlCol="0" anchor="ctr"/>
          <a:lstStyle/>
          <a:p>
            <a:pPr indent="0" marL="0">
              <a:buNone/>
            </a:pPr>
            <a:r>
              <a:rPr lang="en-US" sz="950" dirty="0">
                <a:solidFill>
                  <a:srgbClr val="9AA1B4"/>
                </a:solidFill>
                <a:latin typeface="Calibri" pitchFamily="34" charset="0"/>
                <a:ea typeface="Calibri" pitchFamily="34" charset="-122"/>
                <a:cs typeface="Calibri" pitchFamily="34" charset="-120"/>
              </a:rPr>
              <a:t>2–4 things to pay attention to</a:t>
            </a:r>
            <a:endParaRPr lang="en-US" sz="950" dirty="0"/>
          </a:p>
        </p:txBody>
      </p:sp>
      <p:sp>
        <p:nvSpPr>
          <p:cNvPr id="18" name="Shape 16"/>
          <p:cNvSpPr/>
          <p:nvPr/>
        </p:nvSpPr>
        <p:spPr>
          <a:xfrm>
            <a:off x="841248" y="3730752"/>
            <a:ext cx="100584" cy="100584"/>
          </a:xfrm>
          <a:prstGeom prst="ellipse">
            <a:avLst/>
          </a:prstGeom>
          <a:solidFill>
            <a:srgbClr val="FF6B6B"/>
          </a:solidFill>
          <a:ln/>
        </p:spPr>
      </p:sp>
      <p:sp>
        <p:nvSpPr>
          <p:cNvPr id="19" name="Text 17"/>
          <p:cNvSpPr/>
          <p:nvPr/>
        </p:nvSpPr>
        <p:spPr>
          <a:xfrm>
            <a:off x="1051560" y="3639312"/>
            <a:ext cx="1828800" cy="292608"/>
          </a:xfrm>
          <a:prstGeom prst="rect">
            <a:avLst/>
          </a:prstGeom>
          <a:noFill/>
          <a:ln/>
        </p:spPr>
        <p:txBody>
          <a:bodyPr wrap="square" lIns="0" tIns="0" rIns="0" bIns="0" rtlCol="0" anchor="ctr"/>
          <a:lstStyle/>
          <a:p>
            <a:pPr indent="0" marL="0">
              <a:buNone/>
            </a:pPr>
            <a:r>
              <a:rPr lang="en-US" sz="1100" b="1" dirty="0">
                <a:solidFill>
                  <a:srgbClr val="E8EAF0"/>
                </a:solidFill>
                <a:latin typeface="Calibri" pitchFamily="34" charset="0"/>
                <a:ea typeface="Calibri" pitchFamily="34" charset="-122"/>
                <a:cs typeface="Calibri" pitchFamily="34" charset="-120"/>
              </a:rPr>
              <a:t>Community risks</a:t>
            </a:r>
            <a:endParaRPr lang="en-US" sz="1100" dirty="0"/>
          </a:p>
        </p:txBody>
      </p:sp>
      <p:sp>
        <p:nvSpPr>
          <p:cNvPr id="20" name="Text 18"/>
          <p:cNvSpPr/>
          <p:nvPr/>
        </p:nvSpPr>
        <p:spPr>
          <a:xfrm>
            <a:off x="2880360" y="3639312"/>
            <a:ext cx="2971800" cy="292608"/>
          </a:xfrm>
          <a:prstGeom prst="rect">
            <a:avLst/>
          </a:prstGeom>
          <a:noFill/>
          <a:ln/>
        </p:spPr>
        <p:txBody>
          <a:bodyPr wrap="square" lIns="0" tIns="0" rIns="0" bIns="0" rtlCol="0" anchor="ctr"/>
          <a:lstStyle/>
          <a:p>
            <a:pPr indent="0" marL="0">
              <a:buNone/>
            </a:pPr>
            <a:r>
              <a:rPr lang="en-US" sz="950" dirty="0">
                <a:solidFill>
                  <a:srgbClr val="9AA1B4"/>
                </a:solidFill>
                <a:latin typeface="Calibri" pitchFamily="34" charset="0"/>
                <a:ea typeface="Calibri" pitchFamily="34" charset="-122"/>
                <a:cs typeface="Calibri" pitchFamily="34" charset="-120"/>
              </a:rPr>
              <a:t>anything that could become a PR problem, with a severity</a:t>
            </a:r>
            <a:endParaRPr lang="en-US" sz="950" dirty="0"/>
          </a:p>
        </p:txBody>
      </p:sp>
      <p:sp>
        <p:nvSpPr>
          <p:cNvPr id="21" name="Shape 19"/>
          <p:cNvSpPr/>
          <p:nvPr/>
        </p:nvSpPr>
        <p:spPr>
          <a:xfrm>
            <a:off x="841248" y="4096512"/>
            <a:ext cx="100584" cy="100584"/>
          </a:xfrm>
          <a:prstGeom prst="ellipse">
            <a:avLst/>
          </a:prstGeom>
          <a:solidFill>
            <a:srgbClr val="3ECF8E"/>
          </a:solidFill>
          <a:ln/>
        </p:spPr>
      </p:sp>
      <p:sp>
        <p:nvSpPr>
          <p:cNvPr id="22" name="Text 20"/>
          <p:cNvSpPr/>
          <p:nvPr/>
        </p:nvSpPr>
        <p:spPr>
          <a:xfrm>
            <a:off x="1051560" y="4005072"/>
            <a:ext cx="1828800" cy="292608"/>
          </a:xfrm>
          <a:prstGeom prst="rect">
            <a:avLst/>
          </a:prstGeom>
          <a:noFill/>
          <a:ln/>
        </p:spPr>
        <p:txBody>
          <a:bodyPr wrap="square" lIns="0" tIns="0" rIns="0" bIns="0" rtlCol="0" anchor="ctr"/>
          <a:lstStyle/>
          <a:p>
            <a:pPr indent="0" marL="0">
              <a:buNone/>
            </a:pPr>
            <a:r>
              <a:rPr lang="en-US" sz="1100" b="1" dirty="0">
                <a:solidFill>
                  <a:srgbClr val="E8EAF0"/>
                </a:solidFill>
                <a:latin typeface="Calibri" pitchFamily="34" charset="0"/>
                <a:ea typeface="Calibri" pitchFamily="34" charset="-122"/>
                <a:cs typeface="Calibri" pitchFamily="34" charset="-120"/>
              </a:rPr>
              <a:t>Campaign opportunities</a:t>
            </a:r>
            <a:endParaRPr lang="en-US" sz="1100" dirty="0"/>
          </a:p>
        </p:txBody>
      </p:sp>
      <p:sp>
        <p:nvSpPr>
          <p:cNvPr id="23" name="Text 21"/>
          <p:cNvSpPr/>
          <p:nvPr/>
        </p:nvSpPr>
        <p:spPr>
          <a:xfrm>
            <a:off x="2880360" y="4005072"/>
            <a:ext cx="2971800" cy="292608"/>
          </a:xfrm>
          <a:prstGeom prst="rect">
            <a:avLst/>
          </a:prstGeom>
          <a:noFill/>
          <a:ln/>
        </p:spPr>
        <p:txBody>
          <a:bodyPr wrap="square" lIns="0" tIns="0" rIns="0" bIns="0" rtlCol="0" anchor="ctr"/>
          <a:lstStyle/>
          <a:p>
            <a:pPr indent="0" marL="0">
              <a:buNone/>
            </a:pPr>
            <a:r>
              <a:rPr lang="en-US" sz="950" dirty="0">
                <a:solidFill>
                  <a:srgbClr val="9AA1B4"/>
                </a:solidFill>
                <a:latin typeface="Calibri" pitchFamily="34" charset="0"/>
                <a:ea typeface="Calibri" pitchFamily="34" charset="-122"/>
                <a:cs typeface="Calibri" pitchFamily="34" charset="-120"/>
              </a:rPr>
              <a:t>discussions that could inspire content</a:t>
            </a:r>
            <a:endParaRPr lang="en-US" sz="950" dirty="0"/>
          </a:p>
        </p:txBody>
      </p:sp>
      <p:sp>
        <p:nvSpPr>
          <p:cNvPr id="24" name="Shape 22"/>
          <p:cNvSpPr/>
          <p:nvPr/>
        </p:nvSpPr>
        <p:spPr>
          <a:xfrm>
            <a:off x="841248" y="4462272"/>
            <a:ext cx="100584" cy="100584"/>
          </a:xfrm>
          <a:prstGeom prst="ellipse">
            <a:avLst/>
          </a:prstGeom>
          <a:solidFill>
            <a:srgbClr val="F5C451"/>
          </a:solidFill>
          <a:ln/>
        </p:spPr>
      </p:sp>
      <p:sp>
        <p:nvSpPr>
          <p:cNvPr id="25" name="Text 23"/>
          <p:cNvSpPr/>
          <p:nvPr/>
        </p:nvSpPr>
        <p:spPr>
          <a:xfrm>
            <a:off x="1051560" y="4370832"/>
            <a:ext cx="1828800" cy="292608"/>
          </a:xfrm>
          <a:prstGeom prst="rect">
            <a:avLst/>
          </a:prstGeom>
          <a:noFill/>
          <a:ln/>
        </p:spPr>
        <p:txBody>
          <a:bodyPr wrap="square" lIns="0" tIns="0" rIns="0" bIns="0" rtlCol="0" anchor="ctr"/>
          <a:lstStyle/>
          <a:p>
            <a:pPr indent="0" marL="0">
              <a:buNone/>
            </a:pPr>
            <a:r>
              <a:rPr lang="en-US" sz="1100" b="1" dirty="0">
                <a:solidFill>
                  <a:srgbClr val="E8EAF0"/>
                </a:solidFill>
                <a:latin typeface="Calibri" pitchFamily="34" charset="0"/>
                <a:ea typeface="Calibri" pitchFamily="34" charset="-122"/>
                <a:cs typeface="Calibri" pitchFamily="34" charset="-120"/>
              </a:rPr>
              <a:t>Changed since last snapshot</a:t>
            </a:r>
            <a:endParaRPr lang="en-US" sz="1100" dirty="0"/>
          </a:p>
        </p:txBody>
      </p:sp>
      <p:sp>
        <p:nvSpPr>
          <p:cNvPr id="26" name="Text 24"/>
          <p:cNvSpPr/>
          <p:nvPr/>
        </p:nvSpPr>
        <p:spPr>
          <a:xfrm>
            <a:off x="2880360" y="4370832"/>
            <a:ext cx="2971800" cy="292608"/>
          </a:xfrm>
          <a:prstGeom prst="rect">
            <a:avLst/>
          </a:prstGeom>
          <a:noFill/>
          <a:ln/>
        </p:spPr>
        <p:txBody>
          <a:bodyPr wrap="square" lIns="0" tIns="0" rIns="0" bIns="0" rtlCol="0" anchor="ctr"/>
          <a:lstStyle/>
          <a:p>
            <a:pPr indent="0" marL="0">
              <a:buNone/>
            </a:pPr>
            <a:r>
              <a:rPr lang="en-US" sz="950" dirty="0">
                <a:solidFill>
                  <a:srgbClr val="9AA1B4"/>
                </a:solidFill>
                <a:latin typeface="Calibri" pitchFamily="34" charset="0"/>
                <a:ea typeface="Calibri" pitchFamily="34" charset="-122"/>
                <a:cs typeface="Calibri" pitchFamily="34" charset="-120"/>
              </a:rPr>
              <a:t>movement against the previous stored day</a:t>
            </a:r>
            <a:endParaRPr lang="en-US" sz="950" dirty="0"/>
          </a:p>
        </p:txBody>
      </p:sp>
      <p:sp>
        <p:nvSpPr>
          <p:cNvPr id="27" name="Shape 25"/>
          <p:cNvSpPr/>
          <p:nvPr/>
        </p:nvSpPr>
        <p:spPr>
          <a:xfrm>
            <a:off x="6263640" y="2103120"/>
            <a:ext cx="5349240" cy="2788920"/>
          </a:xfrm>
          <a:prstGeom prst="roundRect">
            <a:avLst>
              <a:gd name="adj" fmla="val 2623"/>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28" name="Text 26"/>
          <p:cNvSpPr/>
          <p:nvPr/>
        </p:nvSpPr>
        <p:spPr>
          <a:xfrm>
            <a:off x="6537960" y="2240280"/>
            <a:ext cx="4754880" cy="548640"/>
          </a:xfrm>
          <a:prstGeom prst="rect">
            <a:avLst/>
          </a:prstGeom>
          <a:noFill/>
          <a:ln/>
        </p:spPr>
        <p:txBody>
          <a:bodyPr wrap="square" lIns="0" tIns="0" rIns="0" bIns="0" rtlCol="0" anchor="ctr"/>
          <a:lstStyle/>
          <a:p>
            <a:pPr indent="0" marL="0">
              <a:buNone/>
            </a:pPr>
            <a:r>
              <a:rPr lang="en-US" sz="3000" b="1" dirty="0">
                <a:solidFill>
                  <a:srgbClr val="6C8CFF"/>
                </a:solidFill>
                <a:latin typeface="Cambria" pitchFamily="34" charset="0"/>
                <a:ea typeface="Cambria" pitchFamily="34" charset="-122"/>
                <a:cs typeface="Cambria" pitchFamily="34" charset="-120"/>
              </a:rPr>
              <a:t>150–200 words</a:t>
            </a:r>
            <a:endParaRPr lang="en-US" sz="3000" dirty="0"/>
          </a:p>
        </p:txBody>
      </p:sp>
      <p:sp>
        <p:nvSpPr>
          <p:cNvPr id="29" name="Text 27"/>
          <p:cNvSpPr/>
          <p:nvPr/>
        </p:nvSpPr>
        <p:spPr>
          <a:xfrm>
            <a:off x="6537960" y="2788920"/>
            <a:ext cx="4754880" cy="274320"/>
          </a:xfrm>
          <a:prstGeom prst="rect">
            <a:avLst/>
          </a:prstGeom>
          <a:noFill/>
          <a:ln/>
        </p:spPr>
        <p:txBody>
          <a:bodyPr wrap="square" lIns="0" tIns="0" rIns="0" bIns="0" rtlCol="0" anchor="ctr"/>
          <a:lstStyle/>
          <a:p>
            <a:pPr indent="0" marL="0">
              <a:buNone/>
            </a:pPr>
            <a:r>
              <a:rPr lang="en-US" sz="1100" dirty="0">
                <a:solidFill>
                  <a:srgbClr val="E8EAF0"/>
                </a:solidFill>
                <a:latin typeface="Calibri" pitchFamily="34" charset="0"/>
                <a:ea typeface="Calibri" pitchFamily="34" charset="-122"/>
                <a:cs typeface="Calibri" pitchFamily="34" charset="-120"/>
              </a:rPr>
              <a:t>for the narrative — everything else as scannable bullets</a:t>
            </a:r>
            <a:endParaRPr lang="en-US" sz="1100" dirty="0"/>
          </a:p>
        </p:txBody>
      </p:sp>
      <p:sp>
        <p:nvSpPr>
          <p:cNvPr id="30" name="Text 28"/>
          <p:cNvSpPr/>
          <p:nvPr/>
        </p:nvSpPr>
        <p:spPr>
          <a:xfrm>
            <a:off x="6537960" y="3127248"/>
            <a:ext cx="4800600" cy="1645920"/>
          </a:xfrm>
          <a:prstGeom prst="rect">
            <a:avLst/>
          </a:prstGeom>
          <a:noFill/>
          <a:ln/>
        </p:spPr>
        <p:txBody>
          <a:bodyPr wrap="square" lIns="0" tIns="0" rIns="0" bIns="0" rtlCol="0" anchor="t"/>
          <a:lstStyle/>
          <a:p>
            <a:pPr marL="177800" indent="-177800">
              <a:lnSpc>
                <a:spcPct val="110000"/>
              </a:lnSpc>
              <a:spcAft>
                <a:spcPts val="400"/>
              </a:spcAft>
              <a:buSzPct val="100000"/>
              <a:buChar char="•"/>
            </a:pPr>
            <a:r>
              <a:rPr lang="en-US" sz="1050" dirty="0">
                <a:solidFill>
                  <a:srgbClr val="E8EAF0"/>
                </a:solidFill>
                <a:latin typeface="Calibri" pitchFamily="34" charset="0"/>
                <a:ea typeface="Calibri" pitchFamily="34" charset="-122"/>
                <a:cs typeface="Calibri" pitchFamily="34" charset="-120"/>
              </a:rPr>
              <a:t>Reads in 45–60 seconds — the real attention budget before standup</a:t>
            </a:r>
            <a:endParaRPr lang="en-US" sz="1050" dirty="0"/>
          </a:p>
          <a:p>
            <a:pPr marL="177800" indent="-177800">
              <a:lnSpc>
                <a:spcPct val="110000"/>
              </a:lnSpc>
              <a:spcAft>
                <a:spcPts val="400"/>
              </a:spcAft>
              <a:buSzPct val="100000"/>
              <a:buChar char="•"/>
            </a:pPr>
            <a:r>
              <a:rPr lang="en-US" sz="1050" dirty="0">
                <a:solidFill>
                  <a:srgbClr val="E8EAF0"/>
                </a:solidFill>
                <a:latin typeface="Calibri" pitchFamily="34" charset="0"/>
                <a:ea typeface="Calibri" pitchFamily="34" charset="-122"/>
                <a:cs typeface="Calibri" pitchFamily="34" charset="-120"/>
              </a:rPr>
              <a:t>Long enough for a judgement plus three or four points with specifics</a:t>
            </a:r>
            <a:endParaRPr lang="en-US" sz="1050" dirty="0"/>
          </a:p>
          <a:p>
            <a:pPr marL="177800" indent="-177800">
              <a:lnSpc>
                <a:spcPct val="110000"/>
              </a:lnSpc>
              <a:spcAft>
                <a:spcPts val="400"/>
              </a:spcAft>
              <a:buSzPct val="100000"/>
              <a:buChar char="•"/>
            </a:pPr>
            <a:r>
              <a:rPr lang="en-US" sz="1050" dirty="0">
                <a:solidFill>
                  <a:srgbClr val="E8EAF0"/>
                </a:solidFill>
                <a:latin typeface="Calibri" pitchFamily="34" charset="0"/>
                <a:ea typeface="Calibri" pitchFamily="34" charset="-122"/>
                <a:cs typeface="Calibri" pitchFamily="34" charset="-120"/>
              </a:rPr>
              <a:t>Below ~120 words it degrades into horoscope text</a:t>
            </a:r>
            <a:endParaRPr lang="en-US" sz="1050" dirty="0"/>
          </a:p>
          <a:p>
            <a:pPr marL="177800" indent="-177800">
              <a:lnSpc>
                <a:spcPct val="110000"/>
              </a:lnSpc>
              <a:spcAft>
                <a:spcPts val="400"/>
              </a:spcAft>
              <a:buSzPct val="100000"/>
              <a:buChar char="•"/>
            </a:pPr>
            <a:r>
              <a:rPr lang="en-US" sz="1050" dirty="0">
                <a:solidFill>
                  <a:srgbClr val="E8EAF0"/>
                </a:solidFill>
                <a:latin typeface="Calibri" pitchFamily="34" charset="0"/>
                <a:ea typeface="Calibri" pitchFamily="34" charset="-122"/>
                <a:cs typeface="Calibri" pitchFamily="34" charset="-120"/>
              </a:rPr>
              <a:t>Above ~250 words people skim, which is worse than a list</a:t>
            </a:r>
            <a:endParaRPr lang="en-US" sz="1050" dirty="0"/>
          </a:p>
        </p:txBody>
      </p:sp>
      <p:sp>
        <p:nvSpPr>
          <p:cNvPr id="31" name="Shape 29"/>
          <p:cNvSpPr/>
          <p:nvPr/>
        </p:nvSpPr>
        <p:spPr>
          <a:xfrm>
            <a:off x="548640" y="5029200"/>
            <a:ext cx="11064240" cy="960120"/>
          </a:xfrm>
          <a:prstGeom prst="roundRect">
            <a:avLst>
              <a:gd name="adj" fmla="val 7619"/>
            </a:avLst>
          </a:prstGeom>
          <a:solidFill>
            <a:srgbClr val="17231E"/>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32" name="Text 30"/>
          <p:cNvSpPr/>
          <p:nvPr/>
        </p:nvSpPr>
        <p:spPr>
          <a:xfrm>
            <a:off x="822960" y="5120640"/>
            <a:ext cx="10424160" cy="274320"/>
          </a:xfrm>
          <a:prstGeom prst="rect">
            <a:avLst/>
          </a:prstGeom>
          <a:noFill/>
          <a:ln/>
        </p:spPr>
        <p:txBody>
          <a:bodyPr wrap="square" lIns="0" tIns="0" rIns="0" bIns="0" rtlCol="0" anchor="ctr"/>
          <a:lstStyle/>
          <a:p>
            <a:pPr indent="0" marL="0">
              <a:buNone/>
            </a:pPr>
            <a:r>
              <a:rPr lang="en-US" sz="1000" b="1" spc="100" kern="0" dirty="0">
                <a:solidFill>
                  <a:srgbClr val="3ECF8E"/>
                </a:solidFill>
                <a:latin typeface="Calibri" pitchFamily="34" charset="0"/>
                <a:ea typeface="Calibri" pitchFamily="34" charset="-122"/>
                <a:cs typeface="Calibri" pitchFamily="34" charset="-120"/>
              </a:rPr>
              <a:t>THREE CONSTRAINTS BUILT INTO THE PROMPT DELIBERATELY</a:t>
            </a:r>
            <a:endParaRPr lang="en-US" sz="1000" dirty="0"/>
          </a:p>
        </p:txBody>
      </p:sp>
      <p:sp>
        <p:nvSpPr>
          <p:cNvPr id="33" name="Text 31"/>
          <p:cNvSpPr/>
          <p:nvPr/>
        </p:nvSpPr>
        <p:spPr>
          <a:xfrm>
            <a:off x="822960" y="5413248"/>
            <a:ext cx="10515600" cy="457200"/>
          </a:xfrm>
          <a:prstGeom prst="rect">
            <a:avLst/>
          </a:prstGeom>
          <a:noFill/>
          <a:ln/>
        </p:spPr>
        <p:txBody>
          <a:bodyPr wrap="square" lIns="0" tIns="0" rIns="0" bIns="0" rtlCol="0" anchor="ctr"/>
          <a:lstStyle/>
          <a:p>
            <a:pPr indent="0" marL="0">
              <a:lnSpc>
                <a:spcPct val="105000"/>
              </a:lnSpc>
              <a:buNone/>
            </a:pPr>
            <a:r>
              <a:rPr lang="en-US" sz="1050" dirty="0">
                <a:solidFill>
                  <a:srgbClr val="9AA1B4"/>
                </a:solidFill>
                <a:latin typeface="Calibri" pitchFamily="34" charset="0"/>
                <a:ea typeface="Calibri" pitchFamily="34" charset="-122"/>
                <a:cs typeface="Calibri" pitchFamily="34" charset="-120"/>
              </a:rPr>
              <a:t>It may not invent a comparison — with no earlier snapshot it must say so.     An empty risks section is a valid answer; it is told not to fill the section to look busy.     It must distinguish collected data from the labelled sample, and say so in the narrative.</a:t>
            </a:r>
            <a:endParaRPr lang="en-US" sz="1050" dirty="0"/>
          </a:p>
        </p:txBody>
      </p:sp>
      <p:sp>
        <p:nvSpPr>
          <p:cNvPr id="34" name="Text 32"/>
          <p:cNvSpPr/>
          <p:nvPr/>
        </p:nvSpPr>
        <p:spPr>
          <a:xfrm>
            <a:off x="548640" y="6053328"/>
            <a:ext cx="8138160" cy="365760"/>
          </a:xfrm>
          <a:prstGeom prst="rect">
            <a:avLst/>
          </a:prstGeom>
          <a:noFill/>
          <a:ln/>
        </p:spPr>
        <p:txBody>
          <a:bodyPr wrap="square" lIns="0" tIns="0" rIns="0" bIns="0" rtlCol="0" anchor="ctr"/>
          <a:lstStyle/>
          <a:p>
            <a:pPr indent="0" marL="0">
              <a:buNone/>
            </a:pPr>
            <a:r>
              <a:rPr lang="en-US" sz="950" i="1" dirty="0">
                <a:solidFill>
                  <a:srgbClr val="9AA1B4"/>
                </a:solidFill>
                <a:latin typeface="Calibri" pitchFamily="34" charset="0"/>
                <a:ea typeface="Calibri" pitchFamily="34" charset="-122"/>
                <a:cs typeface="Calibri" pitchFamily="34" charset="-120"/>
              </a:rPr>
              <a:t>The brief reports its own word count in the panel footer, so drift is visible. With no API key it is composed deterministically from the same figures — blunter, but never empty, and always labelled with which path produced it.</a:t>
            </a:r>
            <a:endParaRPr lang="en-US" sz="950" dirty="0"/>
          </a:p>
        </p:txBody>
      </p:sp>
      <p:sp>
        <p:nvSpPr>
          <p:cNvPr id="35" name="Text 33"/>
          <p:cNvSpPr/>
          <p:nvPr/>
        </p:nvSpPr>
        <p:spPr>
          <a:xfrm>
            <a:off x="8778240" y="6053328"/>
            <a:ext cx="2834640" cy="292608"/>
          </a:xfrm>
          <a:prstGeom prst="rect">
            <a:avLst/>
          </a:prstGeom>
          <a:noFill/>
          <a:ln/>
        </p:spPr>
        <p:txBody>
          <a:bodyPr wrap="square" lIns="0" tIns="0" rIns="0" bIns="0" rtlCol="0" anchor="ctr"/>
          <a:lstStyle/>
          <a:p>
            <a:pPr algn="r" indent="0" marL="0">
              <a:buNone/>
            </a:pPr>
            <a:r>
              <a:rPr lang="en-US" sz="1050" dirty="0">
                <a:solidFill>
                  <a:srgbClr val="6C8CFF"/>
                </a:solidFill>
                <a:latin typeface="Consolas" pitchFamily="34" charset="0"/>
                <a:ea typeface="Consolas" pitchFamily="34" charset="-122"/>
                <a:cs typeface="Consolas" pitchFamily="34" charset="-120"/>
              </a:rPr>
              <a:t>server/lib/briefing.js</a:t>
            </a:r>
            <a:endParaRPr lang="en-US" sz="1050" dirty="0"/>
          </a:p>
        </p:txBody>
      </p:sp>
      <p:sp>
        <p:nvSpPr>
          <p:cNvPr id="36" name="Text 34"/>
          <p:cNvSpPr/>
          <p:nvPr/>
        </p:nvSpPr>
        <p:spPr>
          <a:xfrm>
            <a:off x="548640" y="6537960"/>
            <a:ext cx="6400800" cy="274320"/>
          </a:xfrm>
          <a:prstGeom prst="rect">
            <a:avLst/>
          </a:prstGeom>
          <a:noFill/>
          <a:ln/>
        </p:spPr>
        <p:txBody>
          <a:bodyPr wrap="square" lIns="0" tIns="0" rIns="0" bIns="0" rtlCol="0" anchor="ctr"/>
          <a:lstStyle/>
          <a:p>
            <a:pPr indent="0" marL="0">
              <a:buNone/>
            </a:pPr>
            <a:r>
              <a:rPr lang="en-US" sz="900" dirty="0">
                <a:solidFill>
                  <a:srgbClr val="9AA1B4"/>
                </a:solidFill>
                <a:latin typeface="Calibri" pitchFamily="34" charset="0"/>
                <a:ea typeface="Calibri" pitchFamily="34" charset="-122"/>
                <a:cs typeface="Calibri" pitchFamily="34" charset="-120"/>
              </a:rPr>
              <a:t>Gaming Community Pulse v2 — prepared for Ruisheng Holdings</a:t>
            </a:r>
            <a:endParaRPr lang="en-US" sz="900" dirty="0"/>
          </a:p>
        </p:txBody>
      </p:sp>
      <p:sp>
        <p:nvSpPr>
          <p:cNvPr id="37" name="Text 35"/>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1B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6C8CFF"/>
                </a:solidFill>
                <a:latin typeface="Calibri" pitchFamily="34" charset="0"/>
                <a:ea typeface="Calibri" pitchFamily="34" charset="-122"/>
                <a:cs typeface="Calibri" pitchFamily="34" charset="-120"/>
              </a:rPr>
              <a:t>QUESTION 8 — BUSINESS VALUE</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E8EAF0"/>
                </a:solidFill>
                <a:latin typeface="Cambria" pitchFamily="34" charset="0"/>
                <a:ea typeface="Cambria" pitchFamily="34" charset="-122"/>
                <a:cs typeface="Cambria" pitchFamily="34" charset="-120"/>
              </a:rPr>
              <a:t>Each of your five questions is now computed, not left to the reader</a:t>
            </a:r>
            <a:endParaRPr lang="en-US" sz="2800" dirty="0"/>
          </a:p>
        </p:txBody>
      </p:sp>
      <p:sp>
        <p:nvSpPr>
          <p:cNvPr id="4" name="Shape 2"/>
          <p:cNvSpPr/>
          <p:nvPr/>
        </p:nvSpPr>
        <p:spPr>
          <a:xfrm>
            <a:off x="548640" y="1481328"/>
            <a:ext cx="11064240" cy="713232"/>
          </a:xfrm>
          <a:prstGeom prst="roundRect">
            <a:avLst>
              <a:gd name="adj" fmla="val 10256"/>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777240" y="1609344"/>
            <a:ext cx="91440" cy="457200"/>
          </a:xfrm>
          <a:prstGeom prst="roundRect">
            <a:avLst>
              <a:gd name="adj" fmla="val 50000"/>
            </a:avLst>
          </a:prstGeom>
          <a:solidFill>
            <a:srgbClr val="6C8CFF"/>
          </a:solidFill>
          <a:ln/>
        </p:spPr>
      </p:sp>
      <p:sp>
        <p:nvSpPr>
          <p:cNvPr id="6" name="Text 4"/>
          <p:cNvSpPr/>
          <p:nvPr/>
        </p:nvSpPr>
        <p:spPr>
          <a:xfrm>
            <a:off x="1051560" y="1554480"/>
            <a:ext cx="3657600" cy="566928"/>
          </a:xfrm>
          <a:prstGeom prst="rect">
            <a:avLst/>
          </a:prstGeom>
          <a:noFill/>
          <a:ln/>
        </p:spPr>
        <p:txBody>
          <a:bodyPr wrap="square" lIns="0" tIns="0" rIns="0" bIns="0" rtlCol="0" anchor="ctr"/>
          <a:lstStyle/>
          <a:p>
            <a:pPr indent="0" marL="0">
              <a:lnSpc>
                <a:spcPct val="100000"/>
              </a:lnSpc>
              <a:buNone/>
            </a:pPr>
            <a:r>
              <a:rPr lang="en-US" sz="1150" b="1" dirty="0">
                <a:solidFill>
                  <a:srgbClr val="E8EAF0"/>
                </a:solidFill>
                <a:latin typeface="Calibri" pitchFamily="34" charset="0"/>
                <a:ea typeface="Calibri" pitchFamily="34" charset="-122"/>
                <a:cs typeface="Calibri" pitchFamily="34" charset="-120"/>
              </a:rPr>
              <a:t>What should we pay attention to today?</a:t>
            </a:r>
            <a:endParaRPr lang="en-US" sz="1150" dirty="0"/>
          </a:p>
        </p:txBody>
      </p:sp>
      <p:sp>
        <p:nvSpPr>
          <p:cNvPr id="7" name="Text 5"/>
          <p:cNvSpPr/>
          <p:nvPr/>
        </p:nvSpPr>
        <p:spPr>
          <a:xfrm>
            <a:off x="4846320" y="1554480"/>
            <a:ext cx="5029200" cy="566928"/>
          </a:xfrm>
          <a:prstGeom prst="rect">
            <a:avLst/>
          </a:prstGeom>
          <a:noFill/>
          <a:ln/>
        </p:spPr>
        <p:txBody>
          <a:bodyPr wrap="square" lIns="0" tIns="0" rIns="0" bIns="0" rtlCol="0" anchor="ctr"/>
          <a:lstStyle/>
          <a:p>
            <a:pPr indent="0" marL="0">
              <a:lnSpc>
                <a:spcPct val="105000"/>
              </a:lnSpc>
              <a:buNone/>
            </a:pPr>
            <a:r>
              <a:rPr lang="en-US" sz="1050" dirty="0">
                <a:solidFill>
                  <a:srgbClr val="9AA1B4"/>
                </a:solidFill>
                <a:latin typeface="Calibri" pitchFamily="34" charset="0"/>
                <a:ea typeface="Calibri" pitchFamily="34" charset="-122"/>
                <a:cs typeface="Calibri" pitchFamily="34" charset="-120"/>
              </a:rPr>
              <a:t>“Watch today” in the briefing, ranked, each naming a game or theme</a:t>
            </a:r>
            <a:endParaRPr lang="en-US" sz="1050" dirty="0"/>
          </a:p>
        </p:txBody>
      </p:sp>
      <p:sp>
        <p:nvSpPr>
          <p:cNvPr id="8" name="Text 6"/>
          <p:cNvSpPr/>
          <p:nvPr/>
        </p:nvSpPr>
        <p:spPr>
          <a:xfrm>
            <a:off x="10012680" y="1554480"/>
            <a:ext cx="1463040" cy="566928"/>
          </a:xfrm>
          <a:prstGeom prst="rect">
            <a:avLst/>
          </a:prstGeom>
          <a:noFill/>
          <a:ln/>
        </p:spPr>
        <p:txBody>
          <a:bodyPr wrap="square" lIns="0" tIns="0" rIns="0" bIns="0" rtlCol="0" anchor="ctr"/>
          <a:lstStyle/>
          <a:p>
            <a:pPr algn="r" indent="0" marL="0">
              <a:buNone/>
            </a:pPr>
            <a:r>
              <a:rPr lang="en-US" sz="950" dirty="0">
                <a:solidFill>
                  <a:srgbClr val="6C8CFF"/>
                </a:solidFill>
                <a:latin typeface="Consolas" pitchFamily="34" charset="0"/>
                <a:ea typeface="Consolas" pitchFamily="34" charset="-122"/>
                <a:cs typeface="Consolas" pitchFamily="34" charset="-120"/>
              </a:rPr>
              <a:t>lib/briefing.js</a:t>
            </a:r>
            <a:endParaRPr lang="en-US" sz="950" dirty="0"/>
          </a:p>
        </p:txBody>
      </p:sp>
      <p:sp>
        <p:nvSpPr>
          <p:cNvPr id="9" name="Shape 7"/>
          <p:cNvSpPr/>
          <p:nvPr/>
        </p:nvSpPr>
        <p:spPr>
          <a:xfrm>
            <a:off x="548640" y="2286000"/>
            <a:ext cx="11064240" cy="713232"/>
          </a:xfrm>
          <a:prstGeom prst="roundRect">
            <a:avLst>
              <a:gd name="adj" fmla="val 10256"/>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0" name="Shape 8"/>
          <p:cNvSpPr/>
          <p:nvPr/>
        </p:nvSpPr>
        <p:spPr>
          <a:xfrm>
            <a:off x="777240" y="2414016"/>
            <a:ext cx="91440" cy="457200"/>
          </a:xfrm>
          <a:prstGeom prst="roundRect">
            <a:avLst>
              <a:gd name="adj" fmla="val 50000"/>
            </a:avLst>
          </a:prstGeom>
          <a:solidFill>
            <a:srgbClr val="FF6B6B"/>
          </a:solidFill>
          <a:ln/>
        </p:spPr>
      </p:sp>
      <p:sp>
        <p:nvSpPr>
          <p:cNvPr id="11" name="Text 9"/>
          <p:cNvSpPr/>
          <p:nvPr/>
        </p:nvSpPr>
        <p:spPr>
          <a:xfrm>
            <a:off x="1051560" y="2359152"/>
            <a:ext cx="3657600" cy="566928"/>
          </a:xfrm>
          <a:prstGeom prst="rect">
            <a:avLst/>
          </a:prstGeom>
          <a:noFill/>
          <a:ln/>
        </p:spPr>
        <p:txBody>
          <a:bodyPr wrap="square" lIns="0" tIns="0" rIns="0" bIns="0" rtlCol="0" anchor="ctr"/>
          <a:lstStyle/>
          <a:p>
            <a:pPr indent="0" marL="0">
              <a:lnSpc>
                <a:spcPct val="100000"/>
              </a:lnSpc>
              <a:buNone/>
            </a:pPr>
            <a:r>
              <a:rPr lang="en-US" sz="1150" b="1" dirty="0">
                <a:solidFill>
                  <a:srgbClr val="E8EAF0"/>
                </a:solidFill>
                <a:latin typeface="Calibri" pitchFamily="34" charset="0"/>
                <a:ea typeface="Calibri" pitchFamily="34" charset="-122"/>
                <a:cs typeface="Calibri" pitchFamily="34" charset="-120"/>
              </a:rPr>
              <a:t>Are there community risks?</a:t>
            </a:r>
            <a:endParaRPr lang="en-US" sz="1150" dirty="0"/>
          </a:p>
        </p:txBody>
      </p:sp>
      <p:sp>
        <p:nvSpPr>
          <p:cNvPr id="12" name="Text 10"/>
          <p:cNvSpPr/>
          <p:nvPr/>
        </p:nvSpPr>
        <p:spPr>
          <a:xfrm>
            <a:off x="4846320" y="2359152"/>
            <a:ext cx="5029200" cy="566928"/>
          </a:xfrm>
          <a:prstGeom prst="rect">
            <a:avLst/>
          </a:prstGeom>
          <a:noFill/>
          <a:ln/>
        </p:spPr>
        <p:txBody>
          <a:bodyPr wrap="square" lIns="0" tIns="0" rIns="0" bIns="0" rtlCol="0" anchor="ctr"/>
          <a:lstStyle/>
          <a:p>
            <a:pPr indent="0" marL="0">
              <a:lnSpc>
                <a:spcPct val="105000"/>
              </a:lnSpc>
              <a:buNone/>
            </a:pPr>
            <a:r>
              <a:rPr lang="en-US" sz="1050" dirty="0">
                <a:solidFill>
                  <a:srgbClr val="9AA1B4"/>
                </a:solidFill>
                <a:latin typeface="Calibri" pitchFamily="34" charset="0"/>
                <a:ea typeface="Calibri" pitchFamily="34" charset="-122"/>
                <a:cs typeface="Calibri" pitchFamily="34" charset="-120"/>
              </a:rPr>
              <a:t>Risk detection from two independent sources, severity-scored and ranked</a:t>
            </a:r>
            <a:endParaRPr lang="en-US" sz="1050" dirty="0"/>
          </a:p>
        </p:txBody>
      </p:sp>
      <p:sp>
        <p:nvSpPr>
          <p:cNvPr id="13" name="Text 11"/>
          <p:cNvSpPr/>
          <p:nvPr/>
        </p:nvSpPr>
        <p:spPr>
          <a:xfrm>
            <a:off x="10012680" y="2359152"/>
            <a:ext cx="1463040" cy="566928"/>
          </a:xfrm>
          <a:prstGeom prst="rect">
            <a:avLst/>
          </a:prstGeom>
          <a:noFill/>
          <a:ln/>
        </p:spPr>
        <p:txBody>
          <a:bodyPr wrap="square" lIns="0" tIns="0" rIns="0" bIns="0" rtlCol="0" anchor="ctr"/>
          <a:lstStyle/>
          <a:p>
            <a:pPr algn="r" indent="0" marL="0">
              <a:buNone/>
            </a:pPr>
            <a:r>
              <a:rPr lang="en-US" sz="950" dirty="0">
                <a:solidFill>
                  <a:srgbClr val="FF6B6B"/>
                </a:solidFill>
                <a:latin typeface="Consolas" pitchFamily="34" charset="0"/>
                <a:ea typeface="Consolas" pitchFamily="34" charset="-122"/>
                <a:cs typeface="Consolas" pitchFamily="34" charset="-120"/>
              </a:rPr>
              <a:t>detectRisks</a:t>
            </a:r>
            <a:endParaRPr lang="en-US" sz="950" dirty="0"/>
          </a:p>
        </p:txBody>
      </p:sp>
      <p:sp>
        <p:nvSpPr>
          <p:cNvPr id="14" name="Shape 12"/>
          <p:cNvSpPr/>
          <p:nvPr/>
        </p:nvSpPr>
        <p:spPr>
          <a:xfrm>
            <a:off x="548640" y="3090672"/>
            <a:ext cx="11064240" cy="713232"/>
          </a:xfrm>
          <a:prstGeom prst="roundRect">
            <a:avLst>
              <a:gd name="adj" fmla="val 10256"/>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5" name="Shape 13"/>
          <p:cNvSpPr/>
          <p:nvPr/>
        </p:nvSpPr>
        <p:spPr>
          <a:xfrm>
            <a:off x="777240" y="3218688"/>
            <a:ext cx="91440" cy="457200"/>
          </a:xfrm>
          <a:prstGeom prst="roundRect">
            <a:avLst>
              <a:gd name="adj" fmla="val 50000"/>
            </a:avLst>
          </a:prstGeom>
          <a:solidFill>
            <a:srgbClr val="F5C451"/>
          </a:solidFill>
          <a:ln/>
        </p:spPr>
      </p:sp>
      <p:sp>
        <p:nvSpPr>
          <p:cNvPr id="16" name="Text 14"/>
          <p:cNvSpPr/>
          <p:nvPr/>
        </p:nvSpPr>
        <p:spPr>
          <a:xfrm>
            <a:off x="1051560" y="3163824"/>
            <a:ext cx="3657600" cy="566928"/>
          </a:xfrm>
          <a:prstGeom prst="rect">
            <a:avLst/>
          </a:prstGeom>
          <a:noFill/>
          <a:ln/>
        </p:spPr>
        <p:txBody>
          <a:bodyPr wrap="square" lIns="0" tIns="0" rIns="0" bIns="0" rtlCol="0" anchor="ctr"/>
          <a:lstStyle/>
          <a:p>
            <a:pPr indent="0" marL="0">
              <a:lnSpc>
                <a:spcPct val="100000"/>
              </a:lnSpc>
              <a:buNone/>
            </a:pPr>
            <a:r>
              <a:rPr lang="en-US" sz="1150" b="1" dirty="0">
                <a:solidFill>
                  <a:srgbClr val="E8EAF0"/>
                </a:solidFill>
                <a:latin typeface="Calibri" pitchFamily="34" charset="0"/>
                <a:ea typeface="Calibri" pitchFamily="34" charset="-122"/>
                <a:cs typeface="Calibri" pitchFamily="34" charset="-120"/>
              </a:rPr>
              <a:t>Emerging trends needing a response?</a:t>
            </a:r>
            <a:endParaRPr lang="en-US" sz="1150" dirty="0"/>
          </a:p>
        </p:txBody>
      </p:sp>
      <p:sp>
        <p:nvSpPr>
          <p:cNvPr id="17" name="Text 15"/>
          <p:cNvSpPr/>
          <p:nvPr/>
        </p:nvSpPr>
        <p:spPr>
          <a:xfrm>
            <a:off x="4846320" y="3163824"/>
            <a:ext cx="5029200" cy="566928"/>
          </a:xfrm>
          <a:prstGeom prst="rect">
            <a:avLst/>
          </a:prstGeom>
          <a:noFill/>
          <a:ln/>
        </p:spPr>
        <p:txBody>
          <a:bodyPr wrap="square" lIns="0" tIns="0" rIns="0" bIns="0" rtlCol="0" anchor="ctr"/>
          <a:lstStyle/>
          <a:p>
            <a:pPr indent="0" marL="0">
              <a:lnSpc>
                <a:spcPct val="105000"/>
              </a:lnSpc>
              <a:buNone/>
            </a:pPr>
            <a:r>
              <a:rPr lang="en-US" sz="1050" dirty="0">
                <a:solidFill>
                  <a:srgbClr val="9AA1B4"/>
                </a:solidFill>
                <a:latin typeface="Calibri" pitchFamily="34" charset="0"/>
                <a:ea typeface="Calibri" pitchFamily="34" charset="-122"/>
                <a:cs typeface="Calibri" pitchFamily="34" charset="-120"/>
              </a:rPr>
              <a:t>Statistical spike detection, plus theme movement against the last snapshot</a:t>
            </a:r>
            <a:endParaRPr lang="en-US" sz="1050" dirty="0"/>
          </a:p>
        </p:txBody>
      </p:sp>
      <p:sp>
        <p:nvSpPr>
          <p:cNvPr id="18" name="Text 16"/>
          <p:cNvSpPr/>
          <p:nvPr/>
        </p:nvSpPr>
        <p:spPr>
          <a:xfrm>
            <a:off x="10012680" y="3163824"/>
            <a:ext cx="1463040" cy="566928"/>
          </a:xfrm>
          <a:prstGeom prst="rect">
            <a:avLst/>
          </a:prstGeom>
          <a:noFill/>
          <a:ln/>
        </p:spPr>
        <p:txBody>
          <a:bodyPr wrap="square" lIns="0" tIns="0" rIns="0" bIns="0" rtlCol="0" anchor="ctr"/>
          <a:lstStyle/>
          <a:p>
            <a:pPr algn="r" indent="0" marL="0">
              <a:buNone/>
            </a:pPr>
            <a:r>
              <a:rPr lang="en-US" sz="950" dirty="0">
                <a:solidFill>
                  <a:srgbClr val="F5C451"/>
                </a:solidFill>
                <a:latin typeface="Consolas" pitchFamily="34" charset="0"/>
                <a:ea typeface="Consolas" pitchFamily="34" charset="-122"/>
                <a:cs typeface="Consolas" pitchFamily="34" charset="-120"/>
              </a:rPr>
              <a:t>detectSpikes</a:t>
            </a:r>
            <a:endParaRPr lang="en-US" sz="950" dirty="0"/>
          </a:p>
        </p:txBody>
      </p:sp>
      <p:sp>
        <p:nvSpPr>
          <p:cNvPr id="19" name="Shape 17"/>
          <p:cNvSpPr/>
          <p:nvPr/>
        </p:nvSpPr>
        <p:spPr>
          <a:xfrm>
            <a:off x="548640" y="3895344"/>
            <a:ext cx="11064240" cy="713232"/>
          </a:xfrm>
          <a:prstGeom prst="roundRect">
            <a:avLst>
              <a:gd name="adj" fmla="val 10256"/>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20" name="Shape 18"/>
          <p:cNvSpPr/>
          <p:nvPr/>
        </p:nvSpPr>
        <p:spPr>
          <a:xfrm>
            <a:off x="777240" y="4023360"/>
            <a:ext cx="91440" cy="457200"/>
          </a:xfrm>
          <a:prstGeom prst="roundRect">
            <a:avLst>
              <a:gd name="adj" fmla="val 50000"/>
            </a:avLst>
          </a:prstGeom>
          <a:solidFill>
            <a:srgbClr val="3ECF8E"/>
          </a:solidFill>
          <a:ln/>
        </p:spPr>
      </p:sp>
      <p:sp>
        <p:nvSpPr>
          <p:cNvPr id="21" name="Text 19"/>
          <p:cNvSpPr/>
          <p:nvPr/>
        </p:nvSpPr>
        <p:spPr>
          <a:xfrm>
            <a:off x="1051560" y="3968496"/>
            <a:ext cx="3657600" cy="566928"/>
          </a:xfrm>
          <a:prstGeom prst="rect">
            <a:avLst/>
          </a:prstGeom>
          <a:noFill/>
          <a:ln/>
        </p:spPr>
        <p:txBody>
          <a:bodyPr wrap="square" lIns="0" tIns="0" rIns="0" bIns="0" rtlCol="0" anchor="ctr"/>
          <a:lstStyle/>
          <a:p>
            <a:pPr indent="0" marL="0">
              <a:lnSpc>
                <a:spcPct val="100000"/>
              </a:lnSpc>
              <a:buNone/>
            </a:pPr>
            <a:r>
              <a:rPr lang="en-US" sz="1150" b="1" dirty="0">
                <a:solidFill>
                  <a:srgbClr val="E8EAF0"/>
                </a:solidFill>
                <a:latin typeface="Calibri" pitchFamily="34" charset="0"/>
                <a:ea typeface="Calibri" pitchFamily="34" charset="-122"/>
                <a:cs typeface="Calibri" pitchFamily="34" charset="-120"/>
              </a:rPr>
              <a:t>Discussions that could inspire campaigns?</a:t>
            </a:r>
            <a:endParaRPr lang="en-US" sz="1150" dirty="0"/>
          </a:p>
        </p:txBody>
      </p:sp>
      <p:sp>
        <p:nvSpPr>
          <p:cNvPr id="22" name="Text 20"/>
          <p:cNvSpPr/>
          <p:nvPr/>
        </p:nvSpPr>
        <p:spPr>
          <a:xfrm>
            <a:off x="4846320" y="3968496"/>
            <a:ext cx="5029200" cy="566928"/>
          </a:xfrm>
          <a:prstGeom prst="rect">
            <a:avLst/>
          </a:prstGeom>
          <a:noFill/>
          <a:ln/>
        </p:spPr>
        <p:txBody>
          <a:bodyPr wrap="square" lIns="0" tIns="0" rIns="0" bIns="0" rtlCol="0" anchor="ctr"/>
          <a:lstStyle/>
          <a:p>
            <a:pPr indent="0" marL="0">
              <a:lnSpc>
                <a:spcPct val="105000"/>
              </a:lnSpc>
              <a:buNone/>
            </a:pPr>
            <a:r>
              <a:rPr lang="en-US" sz="1050" dirty="0">
                <a:solidFill>
                  <a:srgbClr val="9AA1B4"/>
                </a:solidFill>
                <a:latin typeface="Calibri" pitchFamily="34" charset="0"/>
                <a:ea typeface="Calibri" pitchFamily="34" charset="-122"/>
                <a:cs typeface="Calibri" pitchFamily="34" charset="-120"/>
              </a:rPr>
              <a:t>Questions clustered by topical overlap, plus highest-impact posts</a:t>
            </a:r>
            <a:endParaRPr lang="en-US" sz="1050" dirty="0"/>
          </a:p>
        </p:txBody>
      </p:sp>
      <p:sp>
        <p:nvSpPr>
          <p:cNvPr id="23" name="Text 21"/>
          <p:cNvSpPr/>
          <p:nvPr/>
        </p:nvSpPr>
        <p:spPr>
          <a:xfrm>
            <a:off x="10012680" y="3968496"/>
            <a:ext cx="1463040" cy="566928"/>
          </a:xfrm>
          <a:prstGeom prst="rect">
            <a:avLst/>
          </a:prstGeom>
          <a:noFill/>
          <a:ln/>
        </p:spPr>
        <p:txBody>
          <a:bodyPr wrap="square" lIns="0" tIns="0" rIns="0" bIns="0" rtlCol="0" anchor="ctr"/>
          <a:lstStyle/>
          <a:p>
            <a:pPr algn="r" indent="0" marL="0">
              <a:buNone/>
            </a:pPr>
            <a:r>
              <a:rPr lang="en-US" sz="950" dirty="0">
                <a:solidFill>
                  <a:srgbClr val="3ECF8E"/>
                </a:solidFill>
                <a:latin typeface="Consolas" pitchFamily="34" charset="0"/>
                <a:ea typeface="Consolas" pitchFamily="34" charset="-122"/>
                <a:cs typeface="Consolas" pitchFamily="34" charset="-120"/>
              </a:rPr>
              <a:t>clusterQuestions</a:t>
            </a:r>
            <a:endParaRPr lang="en-US" sz="950" dirty="0"/>
          </a:p>
        </p:txBody>
      </p:sp>
      <p:sp>
        <p:nvSpPr>
          <p:cNvPr id="24" name="Shape 22"/>
          <p:cNvSpPr/>
          <p:nvPr/>
        </p:nvSpPr>
        <p:spPr>
          <a:xfrm>
            <a:off x="548640" y="4700016"/>
            <a:ext cx="11064240" cy="713232"/>
          </a:xfrm>
          <a:prstGeom prst="roundRect">
            <a:avLst>
              <a:gd name="adj" fmla="val 10256"/>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25" name="Shape 23"/>
          <p:cNvSpPr/>
          <p:nvPr/>
        </p:nvSpPr>
        <p:spPr>
          <a:xfrm>
            <a:off x="777240" y="4828032"/>
            <a:ext cx="91440" cy="457200"/>
          </a:xfrm>
          <a:prstGeom prst="roundRect">
            <a:avLst>
              <a:gd name="adj" fmla="val 50000"/>
            </a:avLst>
          </a:prstGeom>
          <a:solidFill>
            <a:srgbClr val="B98CFF"/>
          </a:solidFill>
          <a:ln/>
        </p:spPr>
      </p:sp>
      <p:sp>
        <p:nvSpPr>
          <p:cNvPr id="26" name="Text 24"/>
          <p:cNvSpPr/>
          <p:nvPr/>
        </p:nvSpPr>
        <p:spPr>
          <a:xfrm>
            <a:off x="1051560" y="4773168"/>
            <a:ext cx="3657600" cy="566928"/>
          </a:xfrm>
          <a:prstGeom prst="rect">
            <a:avLst/>
          </a:prstGeom>
          <a:noFill/>
          <a:ln/>
        </p:spPr>
        <p:txBody>
          <a:bodyPr wrap="square" lIns="0" tIns="0" rIns="0" bIns="0" rtlCol="0" anchor="ctr"/>
          <a:lstStyle/>
          <a:p>
            <a:pPr indent="0" marL="0">
              <a:lnSpc>
                <a:spcPct val="100000"/>
              </a:lnSpc>
              <a:buNone/>
            </a:pPr>
            <a:r>
              <a:rPr lang="en-US" sz="1150" b="1" dirty="0">
                <a:solidFill>
                  <a:srgbClr val="E8EAF0"/>
                </a:solidFill>
                <a:latin typeface="Calibri" pitchFamily="34" charset="0"/>
                <a:ea typeface="Calibri" pitchFamily="34" charset="-122"/>
                <a:cs typeface="Calibri" pitchFamily="34" charset="-120"/>
              </a:rPr>
              <a:t>What changed significantly?</a:t>
            </a:r>
            <a:endParaRPr lang="en-US" sz="1150" dirty="0"/>
          </a:p>
        </p:txBody>
      </p:sp>
      <p:sp>
        <p:nvSpPr>
          <p:cNvPr id="27" name="Text 25"/>
          <p:cNvSpPr/>
          <p:nvPr/>
        </p:nvSpPr>
        <p:spPr>
          <a:xfrm>
            <a:off x="4846320" y="4773168"/>
            <a:ext cx="5029200" cy="566928"/>
          </a:xfrm>
          <a:prstGeom prst="rect">
            <a:avLst/>
          </a:prstGeom>
          <a:noFill/>
          <a:ln/>
        </p:spPr>
        <p:txBody>
          <a:bodyPr wrap="square" lIns="0" tIns="0" rIns="0" bIns="0" rtlCol="0" anchor="ctr"/>
          <a:lstStyle/>
          <a:p>
            <a:pPr indent="0" marL="0">
              <a:lnSpc>
                <a:spcPct val="105000"/>
              </a:lnSpc>
              <a:buNone/>
            </a:pPr>
            <a:r>
              <a:rPr lang="en-US" sz="1050" dirty="0">
                <a:solidFill>
                  <a:srgbClr val="9AA1B4"/>
                </a:solidFill>
                <a:latin typeface="Calibri" pitchFamily="34" charset="0"/>
                <a:ea typeface="Calibri" pitchFamily="34" charset="-122"/>
                <a:cs typeface="Calibri" pitchFamily="34" charset="-120"/>
              </a:rPr>
              <a:t>Day-over-day deltas on sentiment, volume, engagement and theme counts</a:t>
            </a:r>
            <a:endParaRPr lang="en-US" sz="1050" dirty="0"/>
          </a:p>
        </p:txBody>
      </p:sp>
      <p:sp>
        <p:nvSpPr>
          <p:cNvPr id="28" name="Text 26"/>
          <p:cNvSpPr/>
          <p:nvPr/>
        </p:nvSpPr>
        <p:spPr>
          <a:xfrm>
            <a:off x="10012680" y="4773168"/>
            <a:ext cx="1463040" cy="566928"/>
          </a:xfrm>
          <a:prstGeom prst="rect">
            <a:avLst/>
          </a:prstGeom>
          <a:noFill/>
          <a:ln/>
        </p:spPr>
        <p:txBody>
          <a:bodyPr wrap="square" lIns="0" tIns="0" rIns="0" bIns="0" rtlCol="0" anchor="ctr"/>
          <a:lstStyle/>
          <a:p>
            <a:pPr algn="r" indent="0" marL="0">
              <a:buNone/>
            </a:pPr>
            <a:r>
              <a:rPr lang="en-US" sz="950" dirty="0">
                <a:solidFill>
                  <a:srgbClr val="B98CFF"/>
                </a:solidFill>
                <a:latin typeface="Consolas" pitchFamily="34" charset="0"/>
                <a:ea typeface="Consolas" pitchFamily="34" charset="-122"/>
                <a:cs typeface="Consolas" pitchFamily="34" charset="-120"/>
              </a:rPr>
              <a:t>computeDeltas</a:t>
            </a:r>
            <a:endParaRPr lang="en-US" sz="950" dirty="0"/>
          </a:p>
        </p:txBody>
      </p:sp>
      <p:sp>
        <p:nvSpPr>
          <p:cNvPr id="29" name="Shape 27"/>
          <p:cNvSpPr/>
          <p:nvPr/>
        </p:nvSpPr>
        <p:spPr>
          <a:xfrm>
            <a:off x="548640" y="5532120"/>
            <a:ext cx="11064240" cy="914400"/>
          </a:xfrm>
          <a:prstGeom prst="roundRect">
            <a:avLst>
              <a:gd name="adj" fmla="val 8000"/>
            </a:avLst>
          </a:prstGeom>
          <a:solidFill>
            <a:srgbClr val="231819"/>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30" name="Text 28"/>
          <p:cNvSpPr/>
          <p:nvPr/>
        </p:nvSpPr>
        <p:spPr>
          <a:xfrm>
            <a:off x="822960" y="5614416"/>
            <a:ext cx="10424160" cy="274320"/>
          </a:xfrm>
          <a:prstGeom prst="rect">
            <a:avLst/>
          </a:prstGeom>
          <a:noFill/>
          <a:ln/>
        </p:spPr>
        <p:txBody>
          <a:bodyPr wrap="square" lIns="0" tIns="0" rIns="0" bIns="0" rtlCol="0" anchor="ctr"/>
          <a:lstStyle/>
          <a:p>
            <a:pPr indent="0" marL="0">
              <a:buNone/>
            </a:pPr>
            <a:r>
              <a:rPr lang="en-US" sz="1000" b="1" spc="100" kern="0" dirty="0">
                <a:solidFill>
                  <a:srgbClr val="FF6B6B"/>
                </a:solidFill>
                <a:latin typeface="Calibri" pitchFamily="34" charset="0"/>
                <a:ea typeface="Calibri" pitchFamily="34" charset="-122"/>
                <a:cs typeface="Calibri" pitchFamily="34" charset="-120"/>
              </a:rPr>
              <a:t>THREE OF THESE WERE DESCRIBED IN V1 BUT NEVER IMPLEMENTED</a:t>
            </a:r>
            <a:endParaRPr lang="en-US" sz="1000" dirty="0"/>
          </a:p>
        </p:txBody>
      </p:sp>
      <p:sp>
        <p:nvSpPr>
          <p:cNvPr id="31" name="Text 29"/>
          <p:cNvSpPr/>
          <p:nvPr/>
        </p:nvSpPr>
        <p:spPr>
          <a:xfrm>
            <a:off x="822960" y="5897880"/>
            <a:ext cx="10515600" cy="457200"/>
          </a:xfrm>
          <a:prstGeom prst="rect">
            <a:avLst/>
          </a:prstGeom>
          <a:noFill/>
          <a:ln/>
        </p:spPr>
        <p:txBody>
          <a:bodyPr wrap="square" lIns="0" tIns="0" rIns="0" bIns="0" rtlCol="0" anchor="ctr"/>
          <a:lstStyle/>
          <a:p>
            <a:pPr indent="0" marL="0">
              <a:lnSpc>
                <a:spcPct val="105000"/>
              </a:lnSpc>
              <a:buNone/>
            </a:pPr>
            <a:r>
              <a:rPr lang="en-US" sz="1050" dirty="0">
                <a:solidFill>
                  <a:srgbClr val="9AA1B4"/>
                </a:solidFill>
                <a:latin typeface="Calibri" pitchFamily="34" charset="0"/>
                <a:ea typeface="Calibri" pitchFamily="34" charset="-122"/>
                <a:cs typeface="Calibri" pitchFamily="34" charset="-120"/>
              </a:rPr>
              <a:t>Spikes were hardcoded into the synthetic data generator and then narrated as findings.     “Recurring questions” was text.endsWith("?"), sorted by score — it never tested recurrence.     Risk detection did not exist at all.</a:t>
            </a:r>
            <a:endParaRPr lang="en-US" sz="1050" dirty="0"/>
          </a:p>
        </p:txBody>
      </p:sp>
      <p:sp>
        <p:nvSpPr>
          <p:cNvPr id="32" name="Text 30"/>
          <p:cNvSpPr/>
          <p:nvPr/>
        </p:nvSpPr>
        <p:spPr>
          <a:xfrm>
            <a:off x="548640" y="6537960"/>
            <a:ext cx="6400800" cy="274320"/>
          </a:xfrm>
          <a:prstGeom prst="rect">
            <a:avLst/>
          </a:prstGeom>
          <a:noFill/>
          <a:ln/>
        </p:spPr>
        <p:txBody>
          <a:bodyPr wrap="square" lIns="0" tIns="0" rIns="0" bIns="0" rtlCol="0" anchor="ctr"/>
          <a:lstStyle/>
          <a:p>
            <a:pPr indent="0" marL="0">
              <a:buNone/>
            </a:pPr>
            <a:r>
              <a:rPr lang="en-US" sz="900" dirty="0">
                <a:solidFill>
                  <a:srgbClr val="9AA1B4"/>
                </a:solidFill>
                <a:latin typeface="Calibri" pitchFamily="34" charset="0"/>
                <a:ea typeface="Calibri" pitchFamily="34" charset="-122"/>
                <a:cs typeface="Calibri" pitchFamily="34" charset="-120"/>
              </a:rPr>
              <a:t>Gaming Community Pulse v2 — prepared for Ruisheng Holdings</a:t>
            </a:r>
            <a:endParaRPr lang="en-US" sz="900" dirty="0"/>
          </a:p>
        </p:txBody>
      </p:sp>
      <p:sp>
        <p:nvSpPr>
          <p:cNvPr id="33" name="Text 31"/>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1B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6C8CFF"/>
                </a:solidFill>
                <a:latin typeface="Calibri" pitchFamily="34" charset="0"/>
                <a:ea typeface="Calibri" pitchFamily="34" charset="-122"/>
                <a:cs typeface="Calibri" pitchFamily="34" charset="-120"/>
              </a:rPr>
              <a:t>QUESTION 9 — THE DELIVERABLE</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E8EAF0"/>
                </a:solidFill>
                <a:latin typeface="Cambria" pitchFamily="34" charset="0"/>
                <a:ea typeface="Cambria" pitchFamily="34" charset="-122"/>
                <a:cs typeface="Cambria" pitchFamily="34" charset="-120"/>
              </a:rPr>
              <a:t>Confirmed: the repository is the deliverable in full</a:t>
            </a:r>
            <a:endParaRPr lang="en-US" sz="2800" dirty="0"/>
          </a:p>
        </p:txBody>
      </p:sp>
      <p:sp>
        <p:nvSpPr>
          <p:cNvPr id="4" name="Shape 2"/>
          <p:cNvSpPr/>
          <p:nvPr/>
        </p:nvSpPr>
        <p:spPr>
          <a:xfrm>
            <a:off x="548640" y="1298448"/>
            <a:ext cx="11064240" cy="658368"/>
          </a:xfrm>
          <a:prstGeom prst="roundRect">
            <a:avLst>
              <a:gd name="adj" fmla="val 11111"/>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685800" y="1444752"/>
            <a:ext cx="91440" cy="365760"/>
          </a:xfrm>
          <a:prstGeom prst="roundRect">
            <a:avLst>
              <a:gd name="adj" fmla="val 50000"/>
            </a:avLst>
          </a:prstGeom>
          <a:solidFill>
            <a:srgbClr val="6C8CFF"/>
          </a:solidFill>
          <a:ln/>
        </p:spPr>
      </p:sp>
      <p:sp>
        <p:nvSpPr>
          <p:cNvPr id="6" name="Text 4"/>
          <p:cNvSpPr/>
          <p:nvPr/>
        </p:nvSpPr>
        <p:spPr>
          <a:xfrm>
            <a:off x="932688" y="1389888"/>
            <a:ext cx="10515600" cy="475488"/>
          </a:xfrm>
          <a:prstGeom prst="rect">
            <a:avLst/>
          </a:prstGeom>
          <a:noFill/>
          <a:ln/>
        </p:spPr>
        <p:txBody>
          <a:bodyPr wrap="square" lIns="0" tIns="0" rIns="0" bIns="0" rtlCol="0" anchor="ctr"/>
          <a:lstStyle/>
          <a:p>
            <a:pPr indent="0" marL="0">
              <a:lnSpc>
                <a:spcPct val="105000"/>
              </a:lnSpc>
              <a:buNone/>
            </a:pPr>
            <a:r>
              <a:rPr lang="en-US" sz="1250" i="1" dirty="0">
                <a:solidFill>
                  <a:srgbClr val="E8EAF0"/>
                </a:solidFill>
                <a:latin typeface="Cambria" pitchFamily="34" charset="0"/>
                <a:ea typeface="Cambria" pitchFamily="34" charset="-122"/>
                <a:cs typeface="Cambria" pitchFamily="34" charset="-120"/>
              </a:rPr>
              <a:t>“Please confirm that the final deliverable will include the complete source code. The source code will then be deployed internally by the technical team.”</a:t>
            </a:r>
            <a:endParaRPr lang="en-US" sz="1250" dirty="0"/>
          </a:p>
        </p:txBody>
      </p:sp>
      <p:sp>
        <p:nvSpPr>
          <p:cNvPr id="7" name="Shape 5"/>
          <p:cNvSpPr/>
          <p:nvPr/>
        </p:nvSpPr>
        <p:spPr>
          <a:xfrm>
            <a:off x="548640" y="2103120"/>
            <a:ext cx="5486400" cy="3566160"/>
          </a:xfrm>
          <a:prstGeom prst="roundRect">
            <a:avLst>
              <a:gd name="adj" fmla="val 2051"/>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8" name="Text 6"/>
          <p:cNvSpPr/>
          <p:nvPr/>
        </p:nvSpPr>
        <p:spPr>
          <a:xfrm>
            <a:off x="822960" y="2267712"/>
            <a:ext cx="4937760" cy="274320"/>
          </a:xfrm>
          <a:prstGeom prst="rect">
            <a:avLst/>
          </a:prstGeom>
          <a:noFill/>
          <a:ln/>
        </p:spPr>
        <p:txBody>
          <a:bodyPr wrap="square" lIns="0" tIns="0" rIns="0" bIns="0" rtlCol="0" anchor="ctr"/>
          <a:lstStyle/>
          <a:p>
            <a:pPr indent="0" marL="0">
              <a:buNone/>
            </a:pPr>
            <a:r>
              <a:rPr lang="en-US" sz="1000" b="1" spc="100" kern="0" dirty="0">
                <a:solidFill>
                  <a:srgbClr val="3ECF8E"/>
                </a:solidFill>
                <a:latin typeface="Calibri" pitchFamily="34" charset="0"/>
                <a:ea typeface="Calibri" pitchFamily="34" charset="-122"/>
                <a:cs typeface="Calibri" pitchFamily="34" charset="-120"/>
              </a:rPr>
              <a:t>PREPARED FOR YOUR TECHNICAL TEAM</a:t>
            </a:r>
            <a:endParaRPr lang="en-US" sz="1000" dirty="0"/>
          </a:p>
        </p:txBody>
      </p:sp>
      <p:sp>
        <p:nvSpPr>
          <p:cNvPr id="9" name="Text 7"/>
          <p:cNvSpPr/>
          <p:nvPr/>
        </p:nvSpPr>
        <p:spPr>
          <a:xfrm>
            <a:off x="822960" y="2606040"/>
            <a:ext cx="4983480" cy="2926080"/>
          </a:xfrm>
          <a:prstGeom prst="rect">
            <a:avLst/>
          </a:prstGeom>
          <a:noFill/>
          <a:ln/>
        </p:spPr>
        <p:txBody>
          <a:bodyPr wrap="square" lIns="0" tIns="0" rIns="0" bIns="0" rtlCol="0" anchor="t"/>
          <a:lstStyle/>
          <a:p>
            <a:pPr marL="177800" indent="-177800">
              <a:lnSpc>
                <a:spcPct val="110000"/>
              </a:lnSpc>
              <a:spcAft>
                <a:spcPts val="500"/>
              </a:spcAft>
              <a:buSzPct val="100000"/>
              <a:buChar char="•"/>
            </a:pPr>
            <a:r>
              <a:rPr lang="en-US" sz="1100" dirty="0">
                <a:solidFill>
                  <a:srgbClr val="E8EAF0"/>
                </a:solidFill>
                <a:latin typeface="Calibri" pitchFamily="34" charset="0"/>
                <a:ea typeface="Calibri" pitchFamily="34" charset="-122"/>
                <a:cs typeface="Calibri" pitchFamily="34" charset="-120"/>
              </a:rPr>
              <a:t>.env.example — every variable, and what happens when it is absent</a:t>
            </a:r>
            <a:endParaRPr lang="en-US" sz="1100" dirty="0"/>
          </a:p>
          <a:p>
            <a:pPr marL="177800" indent="-177800">
              <a:lnSpc>
                <a:spcPct val="110000"/>
              </a:lnSpc>
              <a:spcAft>
                <a:spcPts val="500"/>
              </a:spcAft>
              <a:buSzPct val="100000"/>
              <a:buChar char="•"/>
            </a:pPr>
            <a:r>
              <a:rPr lang="en-US" sz="1100" dirty="0">
                <a:solidFill>
                  <a:srgbClr val="E8EAF0"/>
                </a:solidFill>
                <a:latin typeface="Calibri" pitchFamily="34" charset="0"/>
                <a:ea typeface="Calibri" pitchFamily="34" charset="-122"/>
                <a:cs typeface="Calibri" pitchFamily="34" charset="-120"/>
              </a:rPr>
              <a:t>It runs with no credentials at all; unconfigured sources are labelled on screen</a:t>
            </a:r>
            <a:endParaRPr lang="en-US" sz="1100" dirty="0"/>
          </a:p>
          <a:p>
            <a:pPr marL="177800" indent="-177800">
              <a:lnSpc>
                <a:spcPct val="110000"/>
              </a:lnSpc>
              <a:spcAft>
                <a:spcPts val="500"/>
              </a:spcAft>
              <a:buSzPct val="100000"/>
              <a:buChar char="•"/>
            </a:pPr>
            <a:r>
              <a:rPr lang="en-US" sz="1100" dirty="0">
                <a:solidFill>
                  <a:srgbClr val="E8EAF0"/>
                </a:solidFill>
                <a:latin typeface="Calibri" pitchFamily="34" charset="0"/>
                <a:ea typeface="Calibri" pitchFamily="34" charset="-122"/>
                <a:cs typeface="Calibri" pitchFamily="34" charset="-120"/>
              </a:rPr>
              <a:t>Lockfiles committed at the root and in server/</a:t>
            </a:r>
            <a:endParaRPr lang="en-US" sz="1100" dirty="0"/>
          </a:p>
          <a:p>
            <a:pPr marL="177800" indent="-177800">
              <a:lnSpc>
                <a:spcPct val="110000"/>
              </a:lnSpc>
              <a:spcAft>
                <a:spcPts val="500"/>
              </a:spcAft>
              <a:buSzPct val="100000"/>
              <a:buChar char="•"/>
            </a:pPr>
            <a:r>
              <a:rPr lang="en-US" sz="1100" dirty="0">
                <a:solidFill>
                  <a:srgbClr val="E8EAF0"/>
                </a:solidFill>
                <a:latin typeface="Calibri" pitchFamily="34" charset="0"/>
                <a:ea typeface="Calibri" pitchFamily="34" charset="-122"/>
                <a:cs typeface="Calibri" pitchFamily="34" charset="-120"/>
              </a:rPr>
              <a:t>render.yaml declares seven credentials and two behaviour flags</a:t>
            </a:r>
            <a:endParaRPr lang="en-US" sz="1100" dirty="0"/>
          </a:p>
          <a:p>
            <a:pPr marL="177800" indent="-177800">
              <a:lnSpc>
                <a:spcPct val="110000"/>
              </a:lnSpc>
              <a:spcAft>
                <a:spcPts val="500"/>
              </a:spcAft>
              <a:buSzPct val="100000"/>
              <a:buChar char="•"/>
            </a:pPr>
            <a:r>
              <a:rPr lang="en-US" sz="1100" dirty="0">
                <a:solidFill>
                  <a:srgbClr val="E8EAF0"/>
                </a:solidFill>
                <a:latin typeface="Calibri" pitchFamily="34" charset="0"/>
                <a:ea typeface="Calibri" pitchFamily="34" charset="-122"/>
                <a:cs typeface="Calibri" pitchFamily="34" charset="-120"/>
              </a:rPr>
              <a:t>vercel.json rewritten — the previous one was schema-invalid and would not have deployed</a:t>
            </a:r>
            <a:endParaRPr lang="en-US" sz="1100" dirty="0"/>
          </a:p>
          <a:p>
            <a:pPr marL="177800" indent="-177800">
              <a:lnSpc>
                <a:spcPct val="110000"/>
              </a:lnSpc>
              <a:spcAft>
                <a:spcPts val="500"/>
              </a:spcAft>
              <a:buSzPct val="100000"/>
              <a:buChar char="•"/>
            </a:pPr>
            <a:r>
              <a:rPr lang="en-US" sz="1100" dirty="0">
                <a:solidFill>
                  <a:srgbClr val="E8EAF0"/>
                </a:solidFill>
                <a:latin typeface="Calibri" pitchFamily="34" charset="0"/>
                <a:ea typeface="Calibri" pitchFamily="34" charset="-122"/>
                <a:cs typeface="Calibri" pitchFamily="34" charset="-120"/>
              </a:rPr>
              <a:t>Chart.js vendored and committed, so charts render without CDN access</a:t>
            </a:r>
            <a:endParaRPr lang="en-US" sz="1100" dirty="0"/>
          </a:p>
          <a:p>
            <a:pPr marL="177800" indent="-177800">
              <a:lnSpc>
                <a:spcPct val="110000"/>
              </a:lnSpc>
              <a:spcAft>
                <a:spcPts val="500"/>
              </a:spcAft>
              <a:buSzPct val="100000"/>
              <a:buChar char="•"/>
            </a:pPr>
            <a:r>
              <a:rPr lang="en-US" sz="1100" dirty="0">
                <a:solidFill>
                  <a:srgbClr val="E8EAF0"/>
                </a:solidFill>
                <a:latin typeface="Calibri" pitchFamily="34" charset="0"/>
                <a:ea typeface="Calibri" pitchFamily="34" charset="-122"/>
                <a:cs typeface="Calibri" pitchFamily="34" charset="-120"/>
              </a:rPr>
              <a:t>GET /api/health reports exactly what is configured</a:t>
            </a:r>
            <a:endParaRPr lang="en-US" sz="1100" dirty="0"/>
          </a:p>
        </p:txBody>
      </p:sp>
      <p:sp>
        <p:nvSpPr>
          <p:cNvPr id="10" name="Shape 8"/>
          <p:cNvSpPr/>
          <p:nvPr/>
        </p:nvSpPr>
        <p:spPr>
          <a:xfrm>
            <a:off x="6263640" y="2103120"/>
            <a:ext cx="5349240" cy="1691640"/>
          </a:xfrm>
          <a:prstGeom prst="roundRect">
            <a:avLst>
              <a:gd name="adj" fmla="val 4324"/>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1" name="Text 9"/>
          <p:cNvSpPr/>
          <p:nvPr/>
        </p:nvSpPr>
        <p:spPr>
          <a:xfrm>
            <a:off x="6537960" y="2212848"/>
            <a:ext cx="4754880" cy="274320"/>
          </a:xfrm>
          <a:prstGeom prst="rect">
            <a:avLst/>
          </a:prstGeom>
          <a:noFill/>
          <a:ln/>
        </p:spPr>
        <p:txBody>
          <a:bodyPr wrap="square" lIns="0" tIns="0" rIns="0" bIns="0" rtlCol="0" anchor="ctr"/>
          <a:lstStyle/>
          <a:p>
            <a:pPr indent="0" marL="0">
              <a:buNone/>
            </a:pPr>
            <a:r>
              <a:rPr lang="en-US" sz="1000" b="1" spc="100" kern="0" dirty="0">
                <a:solidFill>
                  <a:srgbClr val="6C8CFF"/>
                </a:solidFill>
                <a:latin typeface="Calibri" pitchFamily="34" charset="0"/>
                <a:ea typeface="Calibri" pitchFamily="34" charset="-122"/>
                <a:cs typeface="Calibri" pitchFamily="34" charset="-120"/>
              </a:rPr>
              <a:t>TWO OPERATIONAL NOTES</a:t>
            </a:r>
            <a:endParaRPr lang="en-US" sz="1000" dirty="0"/>
          </a:p>
        </p:txBody>
      </p:sp>
      <p:sp>
        <p:nvSpPr>
          <p:cNvPr id="12" name="Text 10"/>
          <p:cNvSpPr/>
          <p:nvPr/>
        </p:nvSpPr>
        <p:spPr>
          <a:xfrm>
            <a:off x="6537960" y="2505456"/>
            <a:ext cx="4800600" cy="457200"/>
          </a:xfrm>
          <a:prstGeom prst="rect">
            <a:avLst/>
          </a:prstGeom>
          <a:noFill/>
          <a:ln/>
        </p:spPr>
        <p:txBody>
          <a:bodyPr wrap="square" lIns="0" tIns="0" rIns="0" bIns="0" rtlCol="0" anchor="ctr"/>
          <a:lstStyle/>
          <a:p>
            <a:pPr indent="0" marL="0">
              <a:lnSpc>
                <a:spcPct val="108000"/>
              </a:lnSpc>
              <a:buNone/>
            </a:pPr>
            <a:r>
              <a:rPr lang="en-US" sz="1000" dirty="0">
                <a:solidFill>
                  <a:srgbClr val="9AA1B4"/>
                </a:solidFill>
                <a:latin typeface="Calibri" pitchFamily="34" charset="0"/>
                <a:ea typeface="Calibri" pitchFamily="34" charset="-122"/>
                <a:cs typeface="Calibri" pitchFamily="34" charset="-120"/>
              </a:rPr>
              <a:t>Day-over-day deltas need durable storage. Free-tier Render and Vercel have ephemeral filesystems, so point SNAPSHOT_DIR at a mounted volume to keep history.</a:t>
            </a:r>
            <a:endParaRPr lang="en-US" sz="1000" dirty="0"/>
          </a:p>
        </p:txBody>
      </p:sp>
      <p:sp>
        <p:nvSpPr>
          <p:cNvPr id="13" name="Text 11"/>
          <p:cNvSpPr/>
          <p:nvPr/>
        </p:nvSpPr>
        <p:spPr>
          <a:xfrm>
            <a:off x="6537960" y="3017520"/>
            <a:ext cx="4800600" cy="548640"/>
          </a:xfrm>
          <a:prstGeom prst="rect">
            <a:avLst/>
          </a:prstGeom>
          <a:noFill/>
          <a:ln/>
        </p:spPr>
        <p:txBody>
          <a:bodyPr wrap="square" lIns="0" tIns="0" rIns="0" bIns="0" rtlCol="0" anchor="ctr"/>
          <a:lstStyle/>
          <a:p>
            <a:pPr indent="0" marL="0">
              <a:lnSpc>
                <a:spcPct val="108000"/>
              </a:lnSpc>
              <a:buNone/>
            </a:pPr>
            <a:r>
              <a:rPr lang="en-US" sz="1000" dirty="0">
                <a:solidFill>
                  <a:srgbClr val="9AA1B4"/>
                </a:solidFill>
                <a:latin typeface="Calibri" pitchFamily="34" charset="0"/>
                <a:ea typeface="Calibri" pitchFamily="34" charset="-122"/>
                <a:cs typeface="Calibri" pitchFamily="34" charset="-120"/>
              </a:rPr>
              <a:t>Semantic scoring calls a paid API per new record. Scoring is cached by content hash and sample rows are never sent, so cost scales with new comments, not with dashboard opens.</a:t>
            </a:r>
            <a:endParaRPr lang="en-US" sz="1000" dirty="0"/>
          </a:p>
        </p:txBody>
      </p:sp>
      <p:sp>
        <p:nvSpPr>
          <p:cNvPr id="14" name="Shape 12"/>
          <p:cNvSpPr/>
          <p:nvPr/>
        </p:nvSpPr>
        <p:spPr>
          <a:xfrm>
            <a:off x="6263640" y="3931920"/>
            <a:ext cx="5349240" cy="1737360"/>
          </a:xfrm>
          <a:prstGeom prst="roundRect">
            <a:avLst>
              <a:gd name="adj" fmla="val 4211"/>
            </a:avLst>
          </a:prstGeom>
          <a:solidFill>
            <a:srgbClr val="231819"/>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5" name="Text 13"/>
          <p:cNvSpPr/>
          <p:nvPr/>
        </p:nvSpPr>
        <p:spPr>
          <a:xfrm>
            <a:off x="6537960" y="4041648"/>
            <a:ext cx="4754880" cy="274320"/>
          </a:xfrm>
          <a:prstGeom prst="rect">
            <a:avLst/>
          </a:prstGeom>
          <a:noFill/>
          <a:ln/>
        </p:spPr>
        <p:txBody>
          <a:bodyPr wrap="square" lIns="0" tIns="0" rIns="0" bIns="0" rtlCol="0" anchor="ctr"/>
          <a:lstStyle/>
          <a:p>
            <a:pPr indent="0" marL="0">
              <a:buNone/>
            </a:pPr>
            <a:r>
              <a:rPr lang="en-US" sz="1000" b="1" spc="100" kern="0" dirty="0">
                <a:solidFill>
                  <a:srgbClr val="FF6B6B"/>
                </a:solidFill>
                <a:latin typeface="Calibri" pitchFamily="34" charset="0"/>
                <a:ea typeface="Calibri" pitchFamily="34" charset="-122"/>
                <a:cs typeface="Calibri" pitchFamily="34" charset="-120"/>
              </a:rPr>
              <a:t>CREDENTIAL HYGIENE</a:t>
            </a:r>
            <a:endParaRPr lang="en-US" sz="1000" dirty="0"/>
          </a:p>
        </p:txBody>
      </p:sp>
      <p:sp>
        <p:nvSpPr>
          <p:cNvPr id="16" name="Text 14"/>
          <p:cNvSpPr/>
          <p:nvPr/>
        </p:nvSpPr>
        <p:spPr>
          <a:xfrm>
            <a:off x="6537960" y="4334256"/>
            <a:ext cx="4800600" cy="365760"/>
          </a:xfrm>
          <a:prstGeom prst="rect">
            <a:avLst/>
          </a:prstGeom>
          <a:noFill/>
          <a:ln/>
        </p:spPr>
        <p:txBody>
          <a:bodyPr wrap="square" lIns="0" tIns="0" rIns="0" bIns="0" rtlCol="0" anchor="ctr"/>
          <a:lstStyle/>
          <a:p>
            <a:pPr indent="0" marL="0">
              <a:lnSpc>
                <a:spcPct val="105000"/>
              </a:lnSpc>
              <a:buNone/>
            </a:pPr>
            <a:r>
              <a:rPr lang="en-US" sz="1050" dirty="0">
                <a:solidFill>
                  <a:srgbClr val="E8EAF0"/>
                </a:solidFill>
                <a:latin typeface="Calibri" pitchFamily="34" charset="0"/>
                <a:ea typeface="Calibri" pitchFamily="34" charset="-122"/>
                <a:cs typeface="Calibri" pitchFamily="34" charset="-120"/>
              </a:rPr>
              <a:t>The Discord bot token and the Twitch client secret were shared in chat during earlier work.</a:t>
            </a:r>
            <a:endParaRPr lang="en-US" sz="1050" dirty="0"/>
          </a:p>
        </p:txBody>
      </p:sp>
      <p:sp>
        <p:nvSpPr>
          <p:cNvPr id="17" name="Text 15"/>
          <p:cNvSpPr/>
          <p:nvPr/>
        </p:nvSpPr>
        <p:spPr>
          <a:xfrm>
            <a:off x="6537960" y="4736592"/>
            <a:ext cx="4800600" cy="731520"/>
          </a:xfrm>
          <a:prstGeom prst="rect">
            <a:avLst/>
          </a:prstGeom>
          <a:noFill/>
          <a:ln/>
        </p:spPr>
        <p:txBody>
          <a:bodyPr wrap="square" lIns="0" tIns="0" rIns="0" bIns="0" rtlCol="0" anchor="ctr"/>
          <a:lstStyle/>
          <a:p>
            <a:pPr indent="0" marL="0">
              <a:lnSpc>
                <a:spcPct val="108000"/>
              </a:lnSpc>
              <a:buNone/>
            </a:pPr>
            <a:r>
              <a:rPr lang="en-US" sz="1000" dirty="0">
                <a:solidFill>
                  <a:srgbClr val="9AA1B4"/>
                </a:solidFill>
                <a:latin typeface="Calibri" pitchFamily="34" charset="0"/>
                <a:ea typeface="Calibri" pitchFamily="34" charset="-122"/>
                <a:cs typeface="Calibri" pitchFamily="34" charset="-120"/>
              </a:rPr>
              <a:t>No secrets are present in git history — we checked — but both should be regenerated before this goes into a real business environment: Discord in the Developer Portal, Twitch in the developer console.</a:t>
            </a:r>
            <a:endParaRPr lang="en-US" sz="1000" dirty="0"/>
          </a:p>
        </p:txBody>
      </p:sp>
      <p:sp>
        <p:nvSpPr>
          <p:cNvPr id="18" name="Text 16"/>
          <p:cNvSpPr/>
          <p:nvPr/>
        </p:nvSpPr>
        <p:spPr>
          <a:xfrm>
            <a:off x="548640" y="5943600"/>
            <a:ext cx="1508760" cy="292608"/>
          </a:xfrm>
          <a:prstGeom prst="rect">
            <a:avLst/>
          </a:prstGeom>
          <a:noFill/>
          <a:ln/>
        </p:spPr>
        <p:txBody>
          <a:bodyPr wrap="square" lIns="0" tIns="0" rIns="0" bIns="0" rtlCol="0" anchor="ctr"/>
          <a:lstStyle/>
          <a:p>
            <a:pPr indent="0" marL="0">
              <a:buNone/>
            </a:pPr>
            <a:r>
              <a:rPr lang="en-US" sz="950" b="1" spc="100" kern="0" dirty="0">
                <a:solidFill>
                  <a:srgbClr val="9AA1B4"/>
                </a:solidFill>
                <a:latin typeface="Calibri" pitchFamily="34" charset="0"/>
                <a:ea typeface="Calibri" pitchFamily="34" charset="-122"/>
                <a:cs typeface="Calibri" pitchFamily="34" charset="-120"/>
              </a:rPr>
              <a:t>WHERE IT LIVES</a:t>
            </a:r>
            <a:endParaRPr lang="en-US" sz="950" dirty="0"/>
          </a:p>
        </p:txBody>
      </p:sp>
      <p:sp>
        <p:nvSpPr>
          <p:cNvPr id="19" name="Text 17"/>
          <p:cNvSpPr/>
          <p:nvPr/>
        </p:nvSpPr>
        <p:spPr>
          <a:xfrm>
            <a:off x="2057400" y="5943600"/>
            <a:ext cx="9555480" cy="292608"/>
          </a:xfrm>
          <a:prstGeom prst="rect">
            <a:avLst/>
          </a:prstGeom>
          <a:noFill/>
          <a:ln/>
        </p:spPr>
        <p:txBody>
          <a:bodyPr wrap="square" lIns="0" tIns="0" rIns="0" bIns="0" rtlCol="0" anchor="ctr"/>
          <a:lstStyle/>
          <a:p>
            <a:pPr indent="0" marL="0">
              <a:buNone/>
            </a:pPr>
            <a:r>
              <a:rPr lang="en-US" sz="1100" dirty="0">
                <a:solidFill>
                  <a:srgbClr val="6C8CFF"/>
                </a:solidFill>
                <a:latin typeface="Consolas" pitchFamily="34" charset="0"/>
                <a:ea typeface="Consolas" pitchFamily="34" charset="-122"/>
                <a:cs typeface="Consolas" pitchFamily="34" charset="-120"/>
              </a:rPr>
              <a:t>this repository — server/, scripts/, report/, config and datasets</a:t>
            </a:r>
            <a:endParaRPr lang="en-US" sz="1100" dirty="0"/>
          </a:p>
        </p:txBody>
      </p:sp>
      <p:sp>
        <p:nvSpPr>
          <p:cNvPr id="20" name="Text 18"/>
          <p:cNvSpPr/>
          <p:nvPr/>
        </p:nvSpPr>
        <p:spPr>
          <a:xfrm>
            <a:off x="548640" y="6537960"/>
            <a:ext cx="6400800" cy="274320"/>
          </a:xfrm>
          <a:prstGeom prst="rect">
            <a:avLst/>
          </a:prstGeom>
          <a:noFill/>
          <a:ln/>
        </p:spPr>
        <p:txBody>
          <a:bodyPr wrap="square" lIns="0" tIns="0" rIns="0" bIns="0" rtlCol="0" anchor="ctr"/>
          <a:lstStyle/>
          <a:p>
            <a:pPr indent="0" marL="0">
              <a:buNone/>
            </a:pPr>
            <a:r>
              <a:rPr lang="en-US" sz="900" dirty="0">
                <a:solidFill>
                  <a:srgbClr val="9AA1B4"/>
                </a:solidFill>
                <a:latin typeface="Calibri" pitchFamily="34" charset="0"/>
                <a:ea typeface="Calibri" pitchFamily="34" charset="-122"/>
                <a:cs typeface="Calibri" pitchFamily="34" charset="-120"/>
              </a:rPr>
              <a:t>Gaming Community Pulse v2 — prepared for Ruisheng Holdings</a:t>
            </a:r>
            <a:endParaRPr lang="en-US" sz="900" dirty="0"/>
          </a:p>
        </p:txBody>
      </p:sp>
      <p:sp>
        <p:nvSpPr>
          <p:cNvPr id="21" name="Text 19"/>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1B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6C8CFF"/>
                </a:solidFill>
                <a:latin typeface="Calibri" pitchFamily="34" charset="0"/>
                <a:ea typeface="Calibri" pitchFamily="34" charset="-122"/>
                <a:cs typeface="Calibri" pitchFamily="34" charset="-120"/>
              </a:rPr>
              <a:t>NOT ON YOUR LIST</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E8EAF0"/>
                </a:solidFill>
                <a:latin typeface="Cambria" pitchFamily="34" charset="0"/>
                <a:ea typeface="Cambria" pitchFamily="34" charset="-122"/>
                <a:cs typeface="Cambria" pitchFamily="34" charset="-120"/>
              </a:rPr>
              <a:t>Two gaps we found while working through it, and closed</a:t>
            </a:r>
            <a:endParaRPr lang="en-US" sz="2800" dirty="0"/>
          </a:p>
        </p:txBody>
      </p:sp>
      <p:sp>
        <p:nvSpPr>
          <p:cNvPr id="4" name="Shape 2"/>
          <p:cNvSpPr/>
          <p:nvPr/>
        </p:nvSpPr>
        <p:spPr>
          <a:xfrm>
            <a:off x="548640" y="1554480"/>
            <a:ext cx="5349240" cy="4206240"/>
          </a:xfrm>
          <a:prstGeom prst="roundRect">
            <a:avLst>
              <a:gd name="adj" fmla="val 1739"/>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566928" y="1783080"/>
            <a:ext cx="91440" cy="3749040"/>
          </a:xfrm>
          <a:prstGeom prst="roundRect">
            <a:avLst>
              <a:gd name="adj" fmla="val 50000"/>
            </a:avLst>
          </a:prstGeom>
          <a:solidFill>
            <a:srgbClr val="FF6B6B"/>
          </a:solidFill>
          <a:ln/>
        </p:spPr>
      </p:sp>
      <p:sp>
        <p:nvSpPr>
          <p:cNvPr id="6" name="Text 4"/>
          <p:cNvSpPr/>
          <p:nvPr/>
        </p:nvSpPr>
        <p:spPr>
          <a:xfrm>
            <a:off x="868680" y="1755648"/>
            <a:ext cx="4754880" cy="411480"/>
          </a:xfrm>
          <a:prstGeom prst="rect">
            <a:avLst/>
          </a:prstGeom>
          <a:noFill/>
          <a:ln/>
        </p:spPr>
        <p:txBody>
          <a:bodyPr wrap="square" lIns="0" tIns="0" rIns="0" bIns="0" rtlCol="0" anchor="ctr"/>
          <a:lstStyle/>
          <a:p>
            <a:pPr indent="0" marL="0">
              <a:buNone/>
            </a:pPr>
            <a:r>
              <a:rPr lang="en-US" sz="1700" b="1" dirty="0">
                <a:solidFill>
                  <a:srgbClr val="E8EAF0"/>
                </a:solidFill>
                <a:latin typeface="Cambria" pitchFamily="34" charset="0"/>
                <a:ea typeface="Cambria" pitchFamily="34" charset="-122"/>
                <a:cs typeface="Cambria" pitchFamily="34" charset="-120"/>
              </a:rPr>
              <a:t>Reddit was never implemented</a:t>
            </a:r>
            <a:endParaRPr lang="en-US" sz="1700" dirty="0"/>
          </a:p>
        </p:txBody>
      </p:sp>
      <p:sp>
        <p:nvSpPr>
          <p:cNvPr id="7" name="Text 5"/>
          <p:cNvSpPr/>
          <p:nvPr/>
        </p:nvSpPr>
        <p:spPr>
          <a:xfrm>
            <a:off x="868680" y="2304288"/>
            <a:ext cx="4754880" cy="274320"/>
          </a:xfrm>
          <a:prstGeom prst="rect">
            <a:avLst/>
          </a:prstGeom>
          <a:noFill/>
          <a:ln/>
        </p:spPr>
        <p:txBody>
          <a:bodyPr wrap="square" lIns="0" tIns="0" rIns="0" bIns="0" rtlCol="0" anchor="ctr"/>
          <a:lstStyle/>
          <a:p>
            <a:pPr indent="0" marL="0">
              <a:buNone/>
            </a:pPr>
            <a:r>
              <a:rPr lang="en-US" sz="1000" b="1" spc="100" kern="0" dirty="0">
                <a:solidFill>
                  <a:srgbClr val="FF6B6B"/>
                </a:solidFill>
                <a:latin typeface="Calibri" pitchFamily="34" charset="0"/>
                <a:ea typeface="Calibri" pitchFamily="34" charset="-122"/>
                <a:cs typeface="Calibri" pitchFamily="34" charset="-120"/>
              </a:rPr>
              <a:t>IN VERSION 1</a:t>
            </a:r>
            <a:endParaRPr lang="en-US" sz="1000" dirty="0"/>
          </a:p>
        </p:txBody>
      </p:sp>
      <p:sp>
        <p:nvSpPr>
          <p:cNvPr id="8" name="Text 6"/>
          <p:cNvSpPr/>
          <p:nvPr/>
        </p:nvSpPr>
        <p:spPr>
          <a:xfrm>
            <a:off x="868680" y="2596896"/>
            <a:ext cx="4754880" cy="1005840"/>
          </a:xfrm>
          <a:prstGeom prst="rect">
            <a:avLst/>
          </a:prstGeom>
          <a:noFill/>
          <a:ln/>
        </p:spPr>
        <p:txBody>
          <a:bodyPr wrap="square" lIns="0" tIns="0" rIns="0" bIns="0" rtlCol="0" anchor="t"/>
          <a:lstStyle/>
          <a:p>
            <a:pPr indent="0" marL="0">
              <a:lnSpc>
                <a:spcPct val="112000"/>
              </a:lnSpc>
              <a:buNone/>
            </a:pPr>
            <a:r>
              <a:rPr lang="en-US" sz="1100" dirty="0">
                <a:solidFill>
                  <a:srgbClr val="9AA1B4"/>
                </a:solidFill>
                <a:latin typeface="Calibri" pitchFamily="34" charset="0"/>
                <a:ea typeface="Calibri" pitchFamily="34" charset="-122"/>
                <a:cs typeface="Calibri" pitchFamily="34" charset="-120"/>
              </a:rPr>
              <a:t>Every Reddit row in v1 was synthetic. Reddit was not partly built — there was no Reddit code at all, and the report described its figures as findings.</a:t>
            </a:r>
            <a:endParaRPr lang="en-US" sz="1100" dirty="0"/>
          </a:p>
        </p:txBody>
      </p:sp>
      <p:sp>
        <p:nvSpPr>
          <p:cNvPr id="9" name="Text 7"/>
          <p:cNvSpPr/>
          <p:nvPr/>
        </p:nvSpPr>
        <p:spPr>
          <a:xfrm>
            <a:off x="868680" y="3703320"/>
            <a:ext cx="4754880" cy="274320"/>
          </a:xfrm>
          <a:prstGeom prst="rect">
            <a:avLst/>
          </a:prstGeom>
          <a:noFill/>
          <a:ln/>
        </p:spPr>
        <p:txBody>
          <a:bodyPr wrap="square" lIns="0" tIns="0" rIns="0" bIns="0" rtlCol="0" anchor="ctr"/>
          <a:lstStyle/>
          <a:p>
            <a:pPr indent="0" marL="0">
              <a:buNone/>
            </a:pPr>
            <a:r>
              <a:rPr lang="en-US" sz="1000" b="1" spc="100" kern="0" dirty="0">
                <a:solidFill>
                  <a:srgbClr val="3ECF8E"/>
                </a:solidFill>
                <a:latin typeface="Calibri" pitchFamily="34" charset="0"/>
                <a:ea typeface="Calibri" pitchFamily="34" charset="-122"/>
                <a:cs typeface="Calibri" pitchFamily="34" charset="-120"/>
              </a:rPr>
              <a:t>NOW</a:t>
            </a:r>
            <a:endParaRPr lang="en-US" sz="1000" dirty="0"/>
          </a:p>
        </p:txBody>
      </p:sp>
      <p:sp>
        <p:nvSpPr>
          <p:cNvPr id="10" name="Text 8"/>
          <p:cNvSpPr/>
          <p:nvPr/>
        </p:nvSpPr>
        <p:spPr>
          <a:xfrm>
            <a:off x="868680" y="3995928"/>
            <a:ext cx="4754880" cy="1554480"/>
          </a:xfrm>
          <a:prstGeom prst="rect">
            <a:avLst/>
          </a:prstGeom>
          <a:noFill/>
          <a:ln/>
        </p:spPr>
        <p:txBody>
          <a:bodyPr wrap="square" lIns="0" tIns="0" rIns="0" bIns="0" rtlCol="0" anchor="t"/>
          <a:lstStyle/>
          <a:p>
            <a:pPr indent="0" marL="0">
              <a:lnSpc>
                <a:spcPct val="112000"/>
              </a:lnSpc>
              <a:buNone/>
            </a:pPr>
            <a:r>
              <a:rPr lang="en-US" sz="1100" dirty="0">
                <a:solidFill>
                  <a:srgbClr val="E8EAF0"/>
                </a:solidFill>
                <a:latin typeface="Calibri" pitchFamily="34" charset="0"/>
                <a:ea typeface="Calibri" pitchFamily="34" charset="-122"/>
                <a:cs typeface="Calibri" pitchFamily="34" charset="-120"/>
              </a:rPr>
              <a:t>Live through the official OAuth API: top posts over a trailing week, recent comments, and subreddit metadata. Application-only, read-only, identifying User-Agent. No scraping, no unauthenticated endpoints, no rate-limit evasion.</a:t>
            </a:r>
            <a:endParaRPr lang="en-US" sz="1100" dirty="0"/>
          </a:p>
        </p:txBody>
      </p:sp>
      <p:sp>
        <p:nvSpPr>
          <p:cNvPr id="11" name="Shape 9"/>
          <p:cNvSpPr/>
          <p:nvPr/>
        </p:nvSpPr>
        <p:spPr>
          <a:xfrm>
            <a:off x="6263640" y="1554480"/>
            <a:ext cx="5349240" cy="4206240"/>
          </a:xfrm>
          <a:prstGeom prst="roundRect">
            <a:avLst>
              <a:gd name="adj" fmla="val 1739"/>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2" name="Shape 10"/>
          <p:cNvSpPr/>
          <p:nvPr/>
        </p:nvSpPr>
        <p:spPr>
          <a:xfrm>
            <a:off x="6281928" y="1783080"/>
            <a:ext cx="91440" cy="3749040"/>
          </a:xfrm>
          <a:prstGeom prst="roundRect">
            <a:avLst>
              <a:gd name="adj" fmla="val 50000"/>
            </a:avLst>
          </a:prstGeom>
          <a:solidFill>
            <a:srgbClr val="F5C451"/>
          </a:solidFill>
          <a:ln/>
        </p:spPr>
      </p:sp>
      <p:sp>
        <p:nvSpPr>
          <p:cNvPr id="13" name="Text 11"/>
          <p:cNvSpPr/>
          <p:nvPr/>
        </p:nvSpPr>
        <p:spPr>
          <a:xfrm>
            <a:off x="6583680" y="1755648"/>
            <a:ext cx="4754880" cy="411480"/>
          </a:xfrm>
          <a:prstGeom prst="rect">
            <a:avLst/>
          </a:prstGeom>
          <a:noFill/>
          <a:ln/>
        </p:spPr>
        <p:txBody>
          <a:bodyPr wrap="square" lIns="0" tIns="0" rIns="0" bIns="0" rtlCol="0" anchor="ctr"/>
          <a:lstStyle/>
          <a:p>
            <a:pPr indent="0" marL="0">
              <a:buNone/>
            </a:pPr>
            <a:r>
              <a:rPr lang="en-US" sz="1700" b="1" dirty="0">
                <a:solidFill>
                  <a:srgbClr val="E8EAF0"/>
                </a:solidFill>
                <a:latin typeface="Cambria" pitchFamily="34" charset="0"/>
                <a:ea typeface="Cambria" pitchFamily="34" charset="-122"/>
                <a:cs typeface="Cambria" pitchFamily="34" charset="-120"/>
              </a:rPr>
              <a:t>Themes only existed on synthetic rows</a:t>
            </a:r>
            <a:endParaRPr lang="en-US" sz="1700" dirty="0"/>
          </a:p>
        </p:txBody>
      </p:sp>
      <p:sp>
        <p:nvSpPr>
          <p:cNvPr id="14" name="Text 12"/>
          <p:cNvSpPr/>
          <p:nvPr/>
        </p:nvSpPr>
        <p:spPr>
          <a:xfrm>
            <a:off x="6583680" y="2304288"/>
            <a:ext cx="4754880" cy="274320"/>
          </a:xfrm>
          <a:prstGeom prst="rect">
            <a:avLst/>
          </a:prstGeom>
          <a:noFill/>
          <a:ln/>
        </p:spPr>
        <p:txBody>
          <a:bodyPr wrap="square" lIns="0" tIns="0" rIns="0" bIns="0" rtlCol="0" anchor="ctr"/>
          <a:lstStyle/>
          <a:p>
            <a:pPr indent="0" marL="0">
              <a:buNone/>
            </a:pPr>
            <a:r>
              <a:rPr lang="en-US" sz="1000" b="1" spc="100" kern="0" dirty="0">
                <a:solidFill>
                  <a:srgbClr val="FF6B6B"/>
                </a:solidFill>
                <a:latin typeface="Calibri" pitchFamily="34" charset="0"/>
                <a:ea typeface="Calibri" pitchFamily="34" charset="-122"/>
                <a:cs typeface="Calibri" pitchFamily="34" charset="-120"/>
              </a:rPr>
              <a:t>IN VERSION 1</a:t>
            </a:r>
            <a:endParaRPr lang="en-US" sz="1000" dirty="0"/>
          </a:p>
        </p:txBody>
      </p:sp>
      <p:sp>
        <p:nvSpPr>
          <p:cNvPr id="15" name="Text 13"/>
          <p:cNvSpPr/>
          <p:nvPr/>
        </p:nvSpPr>
        <p:spPr>
          <a:xfrm>
            <a:off x="6583680" y="2596896"/>
            <a:ext cx="4754880" cy="1005840"/>
          </a:xfrm>
          <a:prstGeom prst="rect">
            <a:avLst/>
          </a:prstGeom>
          <a:noFill/>
          <a:ln/>
        </p:spPr>
        <p:txBody>
          <a:bodyPr wrap="square" lIns="0" tIns="0" rIns="0" bIns="0" rtlCol="0" anchor="t"/>
          <a:lstStyle/>
          <a:p>
            <a:pPr indent="0" marL="0">
              <a:lnSpc>
                <a:spcPct val="112000"/>
              </a:lnSpc>
              <a:buNone/>
            </a:pPr>
            <a:r>
              <a:rPr lang="en-US" sz="1100" dirty="0">
                <a:solidFill>
                  <a:srgbClr val="9AA1B4"/>
                </a:solidFill>
                <a:latin typeface="Calibri" pitchFamily="34" charset="0"/>
                <a:ea typeface="Calibri" pitchFamily="34" charset="-122"/>
                <a:cs typeface="Calibri" pitchFamily="34" charset="-120"/>
              </a:rPr>
              <a:t>Themes were mapped onto the generated data. Nothing assigned a theme to a real comment, so the theme chart could never reflect live conversation.</a:t>
            </a:r>
            <a:endParaRPr lang="en-US" sz="1100" dirty="0"/>
          </a:p>
        </p:txBody>
      </p:sp>
      <p:sp>
        <p:nvSpPr>
          <p:cNvPr id="16" name="Text 14"/>
          <p:cNvSpPr/>
          <p:nvPr/>
        </p:nvSpPr>
        <p:spPr>
          <a:xfrm>
            <a:off x="6583680" y="3703320"/>
            <a:ext cx="4754880" cy="274320"/>
          </a:xfrm>
          <a:prstGeom prst="rect">
            <a:avLst/>
          </a:prstGeom>
          <a:noFill/>
          <a:ln/>
        </p:spPr>
        <p:txBody>
          <a:bodyPr wrap="square" lIns="0" tIns="0" rIns="0" bIns="0" rtlCol="0" anchor="ctr"/>
          <a:lstStyle/>
          <a:p>
            <a:pPr indent="0" marL="0">
              <a:buNone/>
            </a:pPr>
            <a:r>
              <a:rPr lang="en-US" sz="1000" b="1" spc="100" kern="0" dirty="0">
                <a:solidFill>
                  <a:srgbClr val="3ECF8E"/>
                </a:solidFill>
                <a:latin typeface="Calibri" pitchFamily="34" charset="0"/>
                <a:ea typeface="Calibri" pitchFamily="34" charset="-122"/>
                <a:cs typeface="Calibri" pitchFamily="34" charset="-120"/>
              </a:rPr>
              <a:t>NOW</a:t>
            </a:r>
            <a:endParaRPr lang="en-US" sz="1000" dirty="0"/>
          </a:p>
        </p:txBody>
      </p:sp>
      <p:sp>
        <p:nvSpPr>
          <p:cNvPr id="17" name="Text 15"/>
          <p:cNvSpPr/>
          <p:nvPr/>
        </p:nvSpPr>
        <p:spPr>
          <a:xfrm>
            <a:off x="6583680" y="3995928"/>
            <a:ext cx="4754880" cy="1554480"/>
          </a:xfrm>
          <a:prstGeom prst="rect">
            <a:avLst/>
          </a:prstGeom>
          <a:noFill/>
          <a:ln/>
        </p:spPr>
        <p:txBody>
          <a:bodyPr wrap="square" lIns="0" tIns="0" rIns="0" bIns="0" rtlCol="0" anchor="t"/>
          <a:lstStyle/>
          <a:p>
            <a:pPr indent="0" marL="0">
              <a:lnSpc>
                <a:spcPct val="112000"/>
              </a:lnSpc>
              <a:buNone/>
            </a:pPr>
            <a:r>
              <a:rPr lang="en-US" sz="1100" dirty="0">
                <a:solidFill>
                  <a:srgbClr val="E8EAF0"/>
                </a:solidFill>
                <a:latin typeface="Calibri" pitchFamily="34" charset="0"/>
                <a:ea typeface="Calibri" pitchFamily="34" charset="-122"/>
                <a:cs typeface="Calibri" pitchFamily="34" charset="-120"/>
              </a:rPr>
              <a:t>The semantic layer assigns every live record one of 17 controlled labels, so themes aggregate across all four channels. The honest caveat: on a lexicon-only run, with no API key, live records still carry no theme.</a:t>
            </a:r>
            <a:endParaRPr lang="en-US" sz="1100" dirty="0"/>
          </a:p>
        </p:txBody>
      </p:sp>
      <p:sp>
        <p:nvSpPr>
          <p:cNvPr id="18" name="Shape 16"/>
          <p:cNvSpPr/>
          <p:nvPr/>
        </p:nvSpPr>
        <p:spPr>
          <a:xfrm>
            <a:off x="548640" y="5897880"/>
            <a:ext cx="11064240" cy="548640"/>
          </a:xfrm>
          <a:prstGeom prst="roundRect">
            <a:avLst>
              <a:gd name="adj" fmla="val 13333"/>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9" name="Text 17"/>
          <p:cNvSpPr/>
          <p:nvPr/>
        </p:nvSpPr>
        <p:spPr>
          <a:xfrm>
            <a:off x="868680" y="5943600"/>
            <a:ext cx="10424160" cy="457200"/>
          </a:xfrm>
          <a:prstGeom prst="rect">
            <a:avLst/>
          </a:prstGeom>
          <a:noFill/>
          <a:ln/>
        </p:spPr>
        <p:txBody>
          <a:bodyPr wrap="square" lIns="0" tIns="0" rIns="0" bIns="0" rtlCol="0" anchor="ctr"/>
          <a:lstStyle/>
          <a:p>
            <a:pPr indent="0" marL="0">
              <a:buNone/>
            </a:pPr>
            <a:r>
              <a:rPr lang="en-US" sz="1200" dirty="0">
                <a:solidFill>
                  <a:srgbClr val="E8EAF0"/>
                </a:solidFill>
                <a:latin typeface="Calibri" pitchFamily="34" charset="0"/>
                <a:ea typeface="Calibri" pitchFamily="34" charset="-122"/>
                <a:cs typeface="Calibri" pitchFamily="34" charset="-120"/>
              </a:rPr>
              <a:t>Neither was on your list. Both would have quietly undermined the answers to the questions that were.</a:t>
            </a:r>
            <a:endParaRPr lang="en-US" sz="1200" dirty="0"/>
          </a:p>
        </p:txBody>
      </p:sp>
      <p:sp>
        <p:nvSpPr>
          <p:cNvPr id="20" name="Text 18"/>
          <p:cNvSpPr/>
          <p:nvPr/>
        </p:nvSpPr>
        <p:spPr>
          <a:xfrm>
            <a:off x="548640" y="6537960"/>
            <a:ext cx="6400800" cy="274320"/>
          </a:xfrm>
          <a:prstGeom prst="rect">
            <a:avLst/>
          </a:prstGeom>
          <a:noFill/>
          <a:ln/>
        </p:spPr>
        <p:txBody>
          <a:bodyPr wrap="square" lIns="0" tIns="0" rIns="0" bIns="0" rtlCol="0" anchor="ctr"/>
          <a:lstStyle/>
          <a:p>
            <a:pPr indent="0" marL="0">
              <a:buNone/>
            </a:pPr>
            <a:r>
              <a:rPr lang="en-US" sz="900" dirty="0">
                <a:solidFill>
                  <a:srgbClr val="9AA1B4"/>
                </a:solidFill>
                <a:latin typeface="Calibri" pitchFamily="34" charset="0"/>
                <a:ea typeface="Calibri" pitchFamily="34" charset="-122"/>
                <a:cs typeface="Calibri" pitchFamily="34" charset="-120"/>
              </a:rPr>
              <a:t>Gaming Community Pulse v2 — prepared for Ruisheng Holdings</a:t>
            </a:r>
            <a:endParaRPr lang="en-US" sz="900" dirty="0"/>
          </a:p>
        </p:txBody>
      </p:sp>
      <p:sp>
        <p:nvSpPr>
          <p:cNvPr id="21" name="Text 19"/>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1B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6C8CFF"/>
                </a:solidFill>
                <a:latin typeface="Calibri" pitchFamily="34" charset="0"/>
                <a:ea typeface="Calibri" pitchFamily="34" charset="-122"/>
                <a:cs typeface="Calibri" pitchFamily="34" charset="-120"/>
              </a:rPr>
              <a:t>LIMITATIONS</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E8EAF0"/>
                </a:solidFill>
                <a:latin typeface="Cambria" pitchFamily="34" charset="0"/>
                <a:ea typeface="Cambria" pitchFamily="34" charset="-122"/>
                <a:cs typeface="Cambria" pitchFamily="34" charset="-120"/>
              </a:rPr>
              <a:t>Stated plainly — a tool whose limits are unclear is more dangerous than one that is less capable</a:t>
            </a:r>
            <a:endParaRPr lang="en-US" sz="2800" dirty="0"/>
          </a:p>
        </p:txBody>
      </p:sp>
      <p:sp>
        <p:nvSpPr>
          <p:cNvPr id="4" name="Shape 2"/>
          <p:cNvSpPr/>
          <p:nvPr/>
        </p:nvSpPr>
        <p:spPr>
          <a:xfrm>
            <a:off x="548640" y="1554480"/>
            <a:ext cx="5349240" cy="1024128"/>
          </a:xfrm>
          <a:prstGeom prst="roundRect">
            <a:avLst>
              <a:gd name="adj" fmla="val 7143"/>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822960" y="1655064"/>
            <a:ext cx="4800600" cy="292608"/>
          </a:xfrm>
          <a:prstGeom prst="rect">
            <a:avLst/>
          </a:prstGeom>
          <a:noFill/>
          <a:ln/>
        </p:spPr>
        <p:txBody>
          <a:bodyPr wrap="square" lIns="0" tIns="0" rIns="0" bIns="0"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The sample data still ships, on by default</a:t>
            </a:r>
            <a:endParaRPr lang="en-US" sz="1200" dirty="0"/>
          </a:p>
        </p:txBody>
      </p:sp>
      <p:sp>
        <p:nvSpPr>
          <p:cNvPr id="6" name="Text 4"/>
          <p:cNvSpPr/>
          <p:nvPr/>
        </p:nvSpPr>
        <p:spPr>
          <a:xfrm>
            <a:off x="822960" y="1947672"/>
            <a:ext cx="4800600" cy="566928"/>
          </a:xfrm>
          <a:prstGeom prst="rect">
            <a:avLst/>
          </a:prstGeom>
          <a:noFill/>
          <a:ln/>
        </p:spPr>
        <p:txBody>
          <a:bodyPr wrap="square" lIns="0" tIns="0" rIns="0" bIns="0" rtlCol="0" anchor="t"/>
          <a:lstStyle/>
          <a:p>
            <a:pPr indent="0" marL="0">
              <a:lnSpc>
                <a:spcPct val="110000"/>
              </a:lnSpc>
              <a:buNone/>
            </a:pPr>
            <a:r>
              <a:rPr lang="en-US" sz="1000" dirty="0">
                <a:solidFill>
                  <a:srgbClr val="9AA1B4"/>
                </a:solidFill>
                <a:latin typeface="Calibri" pitchFamily="34" charset="0"/>
                <a:ea typeface="Calibri" pitchFamily="34" charset="-122"/>
                <a:cs typeface="Calibri" pitchFamily="34" charset="-120"/>
              </a:rPr>
              <a:t>452 illustrative rows drawn from only 63 distinct text strings. Its 46 question rows are seven distinct questions. Absolute figures from a default run are not measurements.</a:t>
            </a:r>
            <a:endParaRPr lang="en-US" sz="1000" dirty="0"/>
          </a:p>
        </p:txBody>
      </p:sp>
      <p:sp>
        <p:nvSpPr>
          <p:cNvPr id="7" name="Shape 5"/>
          <p:cNvSpPr/>
          <p:nvPr/>
        </p:nvSpPr>
        <p:spPr>
          <a:xfrm>
            <a:off x="548640" y="2670048"/>
            <a:ext cx="5349240" cy="1024128"/>
          </a:xfrm>
          <a:prstGeom prst="roundRect">
            <a:avLst>
              <a:gd name="adj" fmla="val 7143"/>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8" name="Text 6"/>
          <p:cNvSpPr/>
          <p:nvPr/>
        </p:nvSpPr>
        <p:spPr>
          <a:xfrm>
            <a:off x="822960" y="2770632"/>
            <a:ext cx="4800600" cy="292608"/>
          </a:xfrm>
          <a:prstGeom prst="rect">
            <a:avLst/>
          </a:prstGeom>
          <a:noFill/>
          <a:ln/>
        </p:spPr>
        <p:txBody>
          <a:bodyPr wrap="square" lIns="0" tIns="0" rIns="0" bIns="0"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Sample rows are not scored like live rows</a:t>
            </a:r>
            <a:endParaRPr lang="en-US" sz="1200" dirty="0"/>
          </a:p>
        </p:txBody>
      </p:sp>
      <p:sp>
        <p:nvSpPr>
          <p:cNvPr id="9" name="Text 7"/>
          <p:cNvSpPr/>
          <p:nvPr/>
        </p:nvSpPr>
        <p:spPr>
          <a:xfrm>
            <a:off x="822960" y="3063240"/>
            <a:ext cx="4800600" cy="566928"/>
          </a:xfrm>
          <a:prstGeom prst="rect">
            <a:avLst/>
          </a:prstGeom>
          <a:noFill/>
          <a:ln/>
        </p:spPr>
        <p:txBody>
          <a:bodyPr wrap="square" lIns="0" tIns="0" rIns="0" bIns="0" rtlCol="0" anchor="t"/>
          <a:lstStyle/>
          <a:p>
            <a:pPr indent="0" marL="0">
              <a:lnSpc>
                <a:spcPct val="110000"/>
              </a:lnSpc>
              <a:buNone/>
            </a:pPr>
            <a:r>
              <a:rPr lang="en-US" sz="1000" dirty="0">
                <a:solidFill>
                  <a:srgbClr val="9AA1B4"/>
                </a:solidFill>
                <a:latin typeface="Calibri" pitchFamily="34" charset="0"/>
                <a:ea typeface="Calibri" pitchFamily="34" charset="-122"/>
                <a:cs typeface="Calibri" pitchFamily="34" charset="-120"/>
              </a:rPr>
              <a:t>They are pre-scored by the lexicon, never sent to the semantic layer, and always carry no risk, no region and no sarcasm.</a:t>
            </a:r>
            <a:endParaRPr lang="en-US" sz="1000" dirty="0"/>
          </a:p>
        </p:txBody>
      </p:sp>
      <p:sp>
        <p:nvSpPr>
          <p:cNvPr id="10" name="Shape 8"/>
          <p:cNvSpPr/>
          <p:nvPr/>
        </p:nvSpPr>
        <p:spPr>
          <a:xfrm>
            <a:off x="548640" y="3785616"/>
            <a:ext cx="5349240" cy="1024128"/>
          </a:xfrm>
          <a:prstGeom prst="roundRect">
            <a:avLst>
              <a:gd name="adj" fmla="val 7143"/>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1" name="Text 9"/>
          <p:cNvSpPr/>
          <p:nvPr/>
        </p:nvSpPr>
        <p:spPr>
          <a:xfrm>
            <a:off x="822960" y="3886200"/>
            <a:ext cx="4800600" cy="292608"/>
          </a:xfrm>
          <a:prstGeom prst="rect">
            <a:avLst/>
          </a:prstGeom>
          <a:noFill/>
          <a:ln/>
        </p:spPr>
        <p:txBody>
          <a:bodyPr wrap="square" lIns="0" tIns="0" rIns="0" bIns="0"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Nobody has measured the scorer</a:t>
            </a:r>
            <a:endParaRPr lang="en-US" sz="1200" dirty="0"/>
          </a:p>
        </p:txBody>
      </p:sp>
      <p:sp>
        <p:nvSpPr>
          <p:cNvPr id="12" name="Text 10"/>
          <p:cNvSpPr/>
          <p:nvPr/>
        </p:nvSpPr>
        <p:spPr>
          <a:xfrm>
            <a:off x="822960" y="4178808"/>
            <a:ext cx="4800600" cy="566928"/>
          </a:xfrm>
          <a:prstGeom prst="rect">
            <a:avLst/>
          </a:prstGeom>
          <a:noFill/>
          <a:ln/>
        </p:spPr>
        <p:txBody>
          <a:bodyPr wrap="square" lIns="0" tIns="0" rIns="0" bIns="0" rtlCol="0" anchor="t"/>
          <a:lstStyle/>
          <a:p>
            <a:pPr indent="0" marL="0">
              <a:lnSpc>
                <a:spcPct val="110000"/>
              </a:lnSpc>
              <a:buNone/>
            </a:pPr>
            <a:r>
              <a:rPr lang="en-US" sz="1000" dirty="0">
                <a:solidFill>
                  <a:srgbClr val="9AA1B4"/>
                </a:solidFill>
                <a:latin typeface="Calibri" pitchFamily="34" charset="0"/>
                <a:ea typeface="Calibri" pitchFamily="34" charset="-122"/>
                <a:cs typeface="Calibri" pitchFamily="34" charset="-120"/>
              </a:rPr>
              <a:t>There is no hand-labelled validation set. It is better than a lexicon on the cases it was built for — that is an argument, not an accuracy figure.</a:t>
            </a:r>
            <a:endParaRPr lang="en-US" sz="1000" dirty="0"/>
          </a:p>
        </p:txBody>
      </p:sp>
      <p:sp>
        <p:nvSpPr>
          <p:cNvPr id="13" name="Shape 11"/>
          <p:cNvSpPr/>
          <p:nvPr/>
        </p:nvSpPr>
        <p:spPr>
          <a:xfrm>
            <a:off x="548640" y="4901184"/>
            <a:ext cx="5349240" cy="1024128"/>
          </a:xfrm>
          <a:prstGeom prst="roundRect">
            <a:avLst>
              <a:gd name="adj" fmla="val 7143"/>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4" name="Text 12"/>
          <p:cNvSpPr/>
          <p:nvPr/>
        </p:nvSpPr>
        <p:spPr>
          <a:xfrm>
            <a:off x="822960" y="5001768"/>
            <a:ext cx="4800600" cy="292608"/>
          </a:xfrm>
          <a:prstGeom prst="rect">
            <a:avLst/>
          </a:prstGeom>
          <a:noFill/>
          <a:ln/>
        </p:spPr>
        <p:txBody>
          <a:bodyPr wrap="square" lIns="0" tIns="0" rIns="0" bIns="0"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Non-English text is unvalidated</a:t>
            </a:r>
            <a:endParaRPr lang="en-US" sz="1200" dirty="0"/>
          </a:p>
        </p:txBody>
      </p:sp>
      <p:sp>
        <p:nvSpPr>
          <p:cNvPr id="15" name="Text 13"/>
          <p:cNvSpPr/>
          <p:nvPr/>
        </p:nvSpPr>
        <p:spPr>
          <a:xfrm>
            <a:off x="822960" y="5294376"/>
            <a:ext cx="4800600" cy="566928"/>
          </a:xfrm>
          <a:prstGeom prst="rect">
            <a:avLst/>
          </a:prstGeom>
          <a:noFill/>
          <a:ln/>
        </p:spPr>
        <p:txBody>
          <a:bodyPr wrap="square" lIns="0" tIns="0" rIns="0" bIns="0" rtlCol="0" anchor="t"/>
          <a:lstStyle/>
          <a:p>
            <a:pPr indent="0" marL="0">
              <a:lnSpc>
                <a:spcPct val="110000"/>
              </a:lnSpc>
              <a:buNone/>
            </a:pPr>
            <a:r>
              <a:rPr lang="en-US" sz="1000" dirty="0">
                <a:solidFill>
                  <a:srgbClr val="9AA1B4"/>
                </a:solidFill>
                <a:latin typeface="Calibri" pitchFamily="34" charset="0"/>
                <a:ea typeface="Calibri" pitchFamily="34" charset="-122"/>
                <a:cs typeface="Calibri" pitchFamily="34" charset="-120"/>
              </a:rPr>
              <a:t>Nobody has checked whether a Simplified Chinese comment is scored as reliably as an English one. For an agency working between China and the West, this is the most important open assumption.</a:t>
            </a:r>
            <a:endParaRPr lang="en-US" sz="1000" dirty="0"/>
          </a:p>
        </p:txBody>
      </p:sp>
      <p:sp>
        <p:nvSpPr>
          <p:cNvPr id="16" name="Shape 14"/>
          <p:cNvSpPr/>
          <p:nvPr/>
        </p:nvSpPr>
        <p:spPr>
          <a:xfrm>
            <a:off x="6263640" y="1554480"/>
            <a:ext cx="5349240" cy="1024128"/>
          </a:xfrm>
          <a:prstGeom prst="roundRect">
            <a:avLst>
              <a:gd name="adj" fmla="val 7143"/>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7" name="Text 15"/>
          <p:cNvSpPr/>
          <p:nvPr/>
        </p:nvSpPr>
        <p:spPr>
          <a:xfrm>
            <a:off x="6537960" y="1655064"/>
            <a:ext cx="4800600" cy="292608"/>
          </a:xfrm>
          <a:prstGeom prst="rect">
            <a:avLst/>
          </a:prstGeom>
          <a:noFill/>
          <a:ln/>
        </p:spPr>
        <p:txBody>
          <a:bodyPr wrap="square" lIns="0" tIns="0" rIns="0" bIns="0"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The engagement ceilings are guesses, honestly labelled</a:t>
            </a:r>
            <a:endParaRPr lang="en-US" sz="1200" dirty="0"/>
          </a:p>
        </p:txBody>
      </p:sp>
      <p:sp>
        <p:nvSpPr>
          <p:cNvPr id="18" name="Text 16"/>
          <p:cNvSpPr/>
          <p:nvPr/>
        </p:nvSpPr>
        <p:spPr>
          <a:xfrm>
            <a:off x="6537960" y="1947672"/>
            <a:ext cx="4800600" cy="566928"/>
          </a:xfrm>
          <a:prstGeom prst="rect">
            <a:avLst/>
          </a:prstGeom>
          <a:noFill/>
          <a:ln/>
        </p:spPr>
        <p:txBody>
          <a:bodyPr wrap="square" lIns="0" tIns="0" rIns="0" bIns="0" rtlCol="0" anchor="t"/>
          <a:lstStyle/>
          <a:p>
            <a:pPr indent="0" marL="0">
              <a:lnSpc>
                <a:spcPct val="110000"/>
              </a:lnSpc>
              <a:buNone/>
            </a:pPr>
            <a:r>
              <a:rPr lang="en-US" sz="1000" dirty="0">
                <a:solidFill>
                  <a:srgbClr val="9AA1B4"/>
                </a:solidFill>
                <a:latin typeface="Calibri" pitchFamily="34" charset="0"/>
                <a:ea typeface="Calibri" pitchFamily="34" charset="-122"/>
                <a:cs typeface="Calibri" pitchFamily="34" charset="-120"/>
              </a:rPr>
              <a:t>Calibration constants from observed orders of magnitude, not licensed benchmarks. Re-tune them against your own campaign data before client reporting.</a:t>
            </a:r>
            <a:endParaRPr lang="en-US" sz="1000" dirty="0"/>
          </a:p>
        </p:txBody>
      </p:sp>
      <p:sp>
        <p:nvSpPr>
          <p:cNvPr id="19" name="Shape 17"/>
          <p:cNvSpPr/>
          <p:nvPr/>
        </p:nvSpPr>
        <p:spPr>
          <a:xfrm>
            <a:off x="6263640" y="2670048"/>
            <a:ext cx="5349240" cy="1024128"/>
          </a:xfrm>
          <a:prstGeom prst="roundRect">
            <a:avLst>
              <a:gd name="adj" fmla="val 7143"/>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20" name="Text 18"/>
          <p:cNvSpPr/>
          <p:nvPr/>
        </p:nvSpPr>
        <p:spPr>
          <a:xfrm>
            <a:off x="6537960" y="2770632"/>
            <a:ext cx="4800600" cy="292608"/>
          </a:xfrm>
          <a:prstGeom prst="rect">
            <a:avLst/>
          </a:prstGeom>
          <a:noFill/>
          <a:ln/>
        </p:spPr>
        <p:txBody>
          <a:bodyPr wrap="square" lIns="0" tIns="0" rIns="0" bIns="0"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Regional splits are coarse today</a:t>
            </a:r>
            <a:endParaRPr lang="en-US" sz="1200" dirty="0"/>
          </a:p>
        </p:txBody>
      </p:sp>
      <p:sp>
        <p:nvSpPr>
          <p:cNvPr id="21" name="Text 19"/>
          <p:cNvSpPr/>
          <p:nvPr/>
        </p:nvSpPr>
        <p:spPr>
          <a:xfrm>
            <a:off x="6537960" y="3063240"/>
            <a:ext cx="4800600" cy="566928"/>
          </a:xfrm>
          <a:prstGeom prst="rect">
            <a:avLst/>
          </a:prstGeom>
          <a:noFill/>
          <a:ln/>
        </p:spPr>
        <p:txBody>
          <a:bodyPr wrap="square" lIns="0" tIns="0" rIns="0" bIns="0" rtlCol="0" anchor="t"/>
          <a:lstStyle/>
          <a:p>
            <a:pPr indent="0" marL="0">
              <a:lnSpc>
                <a:spcPct val="110000"/>
              </a:lnSpc>
              <a:buNone/>
            </a:pPr>
            <a:r>
              <a:rPr lang="en-US" sz="1000" dirty="0">
                <a:solidFill>
                  <a:srgbClr val="9AA1B4"/>
                </a:solidFill>
                <a:latin typeface="Calibri" pitchFamily="34" charset="0"/>
                <a:ea typeface="Calibri" pitchFamily="34" charset="-122"/>
                <a:cs typeface="Calibri" pitchFamily="34" charset="-120"/>
              </a:rPr>
              <a:t>Global publisher channels collapse into one bucket, and a meaningful share of records will read Undetermined until regional sources are configured.</a:t>
            </a:r>
            <a:endParaRPr lang="en-US" sz="1000" dirty="0"/>
          </a:p>
        </p:txBody>
      </p:sp>
      <p:sp>
        <p:nvSpPr>
          <p:cNvPr id="22" name="Shape 20"/>
          <p:cNvSpPr/>
          <p:nvPr/>
        </p:nvSpPr>
        <p:spPr>
          <a:xfrm>
            <a:off x="6263640" y="3785616"/>
            <a:ext cx="5349240" cy="1024128"/>
          </a:xfrm>
          <a:prstGeom prst="roundRect">
            <a:avLst>
              <a:gd name="adj" fmla="val 7143"/>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23" name="Text 21"/>
          <p:cNvSpPr/>
          <p:nvPr/>
        </p:nvSpPr>
        <p:spPr>
          <a:xfrm>
            <a:off x="6537960" y="3886200"/>
            <a:ext cx="4800600" cy="292608"/>
          </a:xfrm>
          <a:prstGeom prst="rect">
            <a:avLst/>
          </a:prstGeom>
          <a:noFill/>
          <a:ln/>
        </p:spPr>
        <p:txBody>
          <a:bodyPr wrap="square" lIns="0" tIns="0" rIns="0" bIns="0"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Twitch sentiment should be read sceptically</a:t>
            </a:r>
            <a:endParaRPr lang="en-US" sz="1200" dirty="0"/>
          </a:p>
        </p:txBody>
      </p:sp>
      <p:sp>
        <p:nvSpPr>
          <p:cNvPr id="24" name="Text 22"/>
          <p:cNvSpPr/>
          <p:nvPr/>
        </p:nvSpPr>
        <p:spPr>
          <a:xfrm>
            <a:off x="6537960" y="4178808"/>
            <a:ext cx="4800600" cy="566928"/>
          </a:xfrm>
          <a:prstGeom prst="rect">
            <a:avLst/>
          </a:prstGeom>
          <a:noFill/>
          <a:ln/>
        </p:spPr>
        <p:txBody>
          <a:bodyPr wrap="square" lIns="0" tIns="0" rIns="0" bIns="0" rtlCol="0" anchor="t"/>
          <a:lstStyle/>
          <a:p>
            <a:pPr indent="0" marL="0">
              <a:lnSpc>
                <a:spcPct val="110000"/>
              </a:lnSpc>
              <a:buNone/>
            </a:pPr>
            <a:r>
              <a:rPr lang="en-US" sz="1000" dirty="0">
                <a:solidFill>
                  <a:srgbClr val="9AA1B4"/>
                </a:solidFill>
                <a:latin typeface="Calibri" pitchFamily="34" charset="0"/>
                <a:ea typeface="Calibri" pitchFamily="34" charset="-122"/>
                <a:cs typeface="Calibri" pitchFamily="34" charset="-120"/>
              </a:rPr>
              <a:t>Clip titles are promotional copy written to attract clicks, not player opinion.</a:t>
            </a:r>
            <a:endParaRPr lang="en-US" sz="1000" dirty="0"/>
          </a:p>
        </p:txBody>
      </p:sp>
      <p:sp>
        <p:nvSpPr>
          <p:cNvPr id="25" name="Shape 23"/>
          <p:cNvSpPr/>
          <p:nvPr/>
        </p:nvSpPr>
        <p:spPr>
          <a:xfrm>
            <a:off x="6263640" y="4901184"/>
            <a:ext cx="5349240" cy="1024128"/>
          </a:xfrm>
          <a:prstGeom prst="roundRect">
            <a:avLst>
              <a:gd name="adj" fmla="val 7143"/>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26" name="Text 24"/>
          <p:cNvSpPr/>
          <p:nvPr/>
        </p:nvSpPr>
        <p:spPr>
          <a:xfrm>
            <a:off x="6537960" y="5001768"/>
            <a:ext cx="4800600" cy="292608"/>
          </a:xfrm>
          <a:prstGeom prst="rect">
            <a:avLst/>
          </a:prstGeom>
          <a:noFill/>
          <a:ln/>
        </p:spPr>
        <p:txBody>
          <a:bodyPr wrap="square" lIns="0" tIns="0" rIns="0" bIns="0"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Nothing is scheduled and nothing alerts</a:t>
            </a:r>
            <a:endParaRPr lang="en-US" sz="1200" dirty="0"/>
          </a:p>
        </p:txBody>
      </p:sp>
      <p:sp>
        <p:nvSpPr>
          <p:cNvPr id="27" name="Text 25"/>
          <p:cNvSpPr/>
          <p:nvPr/>
        </p:nvSpPr>
        <p:spPr>
          <a:xfrm>
            <a:off x="6537960" y="5294376"/>
            <a:ext cx="4800600" cy="566928"/>
          </a:xfrm>
          <a:prstGeom prst="rect">
            <a:avLst/>
          </a:prstGeom>
          <a:noFill/>
          <a:ln/>
        </p:spPr>
        <p:txBody>
          <a:bodyPr wrap="square" lIns="0" tIns="0" rIns="0" bIns="0" rtlCol="0" anchor="t"/>
          <a:lstStyle/>
          <a:p>
            <a:pPr indent="0" marL="0">
              <a:lnSpc>
                <a:spcPct val="110000"/>
              </a:lnSpc>
              <a:buNone/>
            </a:pPr>
            <a:r>
              <a:rPr lang="en-US" sz="1000" dirty="0">
                <a:solidFill>
                  <a:srgbClr val="9AA1B4"/>
                </a:solidFill>
                <a:latin typeface="Calibri" pitchFamily="34" charset="0"/>
                <a:ea typeface="Calibri" pitchFamily="34" charset="-122"/>
                <a:cs typeface="Calibri" pitchFamily="34" charset="-120"/>
              </a:rPr>
              <a:t>Collection happens when someone opens the page. A risk appears on a dashboard; it does not email, message or page anyone.</a:t>
            </a:r>
            <a:endParaRPr lang="en-US" sz="1000" dirty="0"/>
          </a:p>
        </p:txBody>
      </p:sp>
      <p:sp>
        <p:nvSpPr>
          <p:cNvPr id="28" name="Text 26"/>
          <p:cNvSpPr/>
          <p:nvPr/>
        </p:nvSpPr>
        <p:spPr>
          <a:xfrm>
            <a:off x="548640" y="6035040"/>
            <a:ext cx="11064240" cy="457200"/>
          </a:xfrm>
          <a:prstGeom prst="rect">
            <a:avLst/>
          </a:prstGeom>
          <a:noFill/>
          <a:ln/>
        </p:spPr>
        <p:txBody>
          <a:bodyPr wrap="square" lIns="0" tIns="0" rIns="0" bIns="0" rtlCol="0" anchor="ctr"/>
          <a:lstStyle/>
          <a:p>
            <a:pPr indent="0" marL="0">
              <a:lnSpc>
                <a:spcPct val="108000"/>
              </a:lnSpc>
              <a:buNone/>
            </a:pPr>
            <a:r>
              <a:rPr lang="en-US" sz="1050" i="1" dirty="0">
                <a:solidFill>
                  <a:srgbClr val="9AA1B4"/>
                </a:solidFill>
                <a:latin typeface="Calibri" pitchFamily="34" charset="0"/>
                <a:ea typeface="Calibri" pitchFamily="34" charset="-122"/>
                <a:cs typeface="Calibri" pitchFamily="34" charset="-120"/>
              </a:rPr>
              <a:t>Also true: two snapshots are not a trend. There is no deduplication, bot filtering or influencer weighting. Discord coverage is one test channel deep. Without an API key the theme, risk and question panels run on a much thinner signal. The API has no authentication. This is a prototype, not a product.</a:t>
            </a:r>
            <a:endParaRPr lang="en-US" sz="1050" dirty="0"/>
          </a:p>
        </p:txBody>
      </p:sp>
      <p:sp>
        <p:nvSpPr>
          <p:cNvPr id="29" name="Text 27"/>
          <p:cNvSpPr/>
          <p:nvPr/>
        </p:nvSpPr>
        <p:spPr>
          <a:xfrm>
            <a:off x="548640" y="6537960"/>
            <a:ext cx="6400800" cy="274320"/>
          </a:xfrm>
          <a:prstGeom prst="rect">
            <a:avLst/>
          </a:prstGeom>
          <a:noFill/>
          <a:ln/>
        </p:spPr>
        <p:txBody>
          <a:bodyPr wrap="square" lIns="0" tIns="0" rIns="0" bIns="0" rtlCol="0" anchor="ctr"/>
          <a:lstStyle/>
          <a:p>
            <a:pPr indent="0" marL="0">
              <a:buNone/>
            </a:pPr>
            <a:r>
              <a:rPr lang="en-US" sz="900" dirty="0">
                <a:solidFill>
                  <a:srgbClr val="9AA1B4"/>
                </a:solidFill>
                <a:latin typeface="Calibri" pitchFamily="34" charset="0"/>
                <a:ea typeface="Calibri" pitchFamily="34" charset="-122"/>
                <a:cs typeface="Calibri" pitchFamily="34" charset="-120"/>
              </a:rPr>
              <a:t>Gaming Community Pulse v2 — prepared for Ruisheng Holdings</a:t>
            </a:r>
            <a:endParaRPr lang="en-US" sz="900" dirty="0"/>
          </a:p>
        </p:txBody>
      </p:sp>
      <p:sp>
        <p:nvSpPr>
          <p:cNvPr id="30" name="Text 28"/>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1B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6C8CFF"/>
                </a:solidFill>
                <a:latin typeface="Calibri" pitchFamily="34" charset="0"/>
                <a:ea typeface="Calibri" pitchFamily="34" charset="-122"/>
                <a:cs typeface="Calibri" pitchFamily="34" charset="-120"/>
              </a:rPr>
              <a:t>NEXT</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E8EAF0"/>
                </a:solidFill>
                <a:latin typeface="Cambria" pitchFamily="34" charset="0"/>
                <a:ea typeface="Cambria" pitchFamily="34" charset="-122"/>
                <a:cs typeface="Cambria" pitchFamily="34" charset="-120"/>
              </a:rPr>
              <a:t>In the order we would actually do it</a:t>
            </a:r>
            <a:endParaRPr lang="en-US" sz="2800" dirty="0"/>
          </a:p>
        </p:txBody>
      </p:sp>
      <p:sp>
        <p:nvSpPr>
          <p:cNvPr id="4" name="Shape 2"/>
          <p:cNvSpPr/>
          <p:nvPr/>
        </p:nvSpPr>
        <p:spPr>
          <a:xfrm>
            <a:off x="548640" y="1554480"/>
            <a:ext cx="11064240" cy="749808"/>
          </a:xfrm>
          <a:prstGeom prst="roundRect">
            <a:avLst>
              <a:gd name="adj" fmla="val 9756"/>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777240" y="1709928"/>
            <a:ext cx="438912" cy="438912"/>
          </a:xfrm>
          <a:prstGeom prst="ellipse">
            <a:avLst/>
          </a:prstGeom>
          <a:solidFill>
            <a:srgbClr val="FF6B6B"/>
          </a:solidFill>
          <a:ln/>
        </p:spPr>
      </p:sp>
      <p:sp>
        <p:nvSpPr>
          <p:cNvPr id="6" name="Text 4"/>
          <p:cNvSpPr/>
          <p:nvPr/>
        </p:nvSpPr>
        <p:spPr>
          <a:xfrm>
            <a:off x="777240" y="1709928"/>
            <a:ext cx="438912" cy="438912"/>
          </a:xfrm>
          <a:prstGeom prst="rect">
            <a:avLst/>
          </a:prstGeom>
          <a:noFill/>
          <a:ln/>
        </p:spPr>
        <p:txBody>
          <a:bodyPr wrap="square" lIns="0" tIns="0" rIns="0" bIns="0" rtlCol="0" anchor="ctr"/>
          <a:lstStyle/>
          <a:p>
            <a:pPr algn="ctr" indent="0" marL="0">
              <a:buNone/>
            </a:pPr>
            <a:r>
              <a:rPr lang="en-US" sz="1500" b="1" dirty="0">
                <a:solidFill>
                  <a:srgbClr val="12141C"/>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71600" y="1645920"/>
            <a:ext cx="3566160" cy="566928"/>
          </a:xfrm>
          <a:prstGeom prst="rect">
            <a:avLst/>
          </a:prstGeom>
          <a:noFill/>
          <a:ln/>
        </p:spPr>
        <p:txBody>
          <a:bodyPr wrap="square" lIns="0" tIns="0" rIns="0" bIns="0" rtlCol="0" anchor="ctr"/>
          <a:lstStyle/>
          <a:p>
            <a:pPr indent="0" marL="0">
              <a:lnSpc>
                <a:spcPct val="100000"/>
              </a:lnSpc>
              <a:buNone/>
            </a:pPr>
            <a:r>
              <a:rPr lang="en-US" sz="1300" b="1" dirty="0">
                <a:solidFill>
                  <a:srgbClr val="E8EAF0"/>
                </a:solidFill>
                <a:latin typeface="Calibri" pitchFamily="34" charset="0"/>
                <a:ea typeface="Calibri" pitchFamily="34" charset="-122"/>
                <a:cs typeface="Calibri" pitchFamily="34" charset="-120"/>
              </a:rPr>
              <a:t>Build a hand-labelled validation set</a:t>
            </a:r>
            <a:endParaRPr lang="en-US" sz="1300" dirty="0"/>
          </a:p>
        </p:txBody>
      </p:sp>
      <p:sp>
        <p:nvSpPr>
          <p:cNvPr id="8" name="Text 6"/>
          <p:cNvSpPr/>
          <p:nvPr/>
        </p:nvSpPr>
        <p:spPr>
          <a:xfrm>
            <a:off x="5029200" y="1627632"/>
            <a:ext cx="6400800" cy="603504"/>
          </a:xfrm>
          <a:prstGeom prst="rect">
            <a:avLst/>
          </a:prstGeom>
          <a:noFill/>
          <a:ln/>
        </p:spPr>
        <p:txBody>
          <a:bodyPr wrap="square" lIns="0" tIns="0" rIns="0" bIns="0" rtlCol="0" anchor="ctr"/>
          <a:lstStyle/>
          <a:p>
            <a:pPr indent="0" marL="0">
              <a:lnSpc>
                <a:spcPct val="108000"/>
              </a:lnSpc>
              <a:buNone/>
            </a:pPr>
            <a:r>
              <a:rPr lang="en-US" sz="1050" dirty="0">
                <a:solidFill>
                  <a:srgbClr val="9AA1B4"/>
                </a:solidFill>
                <a:latin typeface="Calibri" pitchFamily="34" charset="0"/>
                <a:ea typeface="Calibri" pitchFamily="34" charset="-122"/>
                <a:cs typeface="Calibri" pitchFamily="34" charset="-120"/>
              </a:rPr>
              <a:t>200 records per platform, scored by a human and measured against the model — including a non-English portion. Until it exists we can demonstrate quality but not quantify it.</a:t>
            </a:r>
            <a:endParaRPr lang="en-US" sz="1050" dirty="0"/>
          </a:p>
        </p:txBody>
      </p:sp>
      <p:sp>
        <p:nvSpPr>
          <p:cNvPr id="9" name="Shape 7"/>
          <p:cNvSpPr/>
          <p:nvPr/>
        </p:nvSpPr>
        <p:spPr>
          <a:xfrm>
            <a:off x="548640" y="2359152"/>
            <a:ext cx="11064240" cy="749808"/>
          </a:xfrm>
          <a:prstGeom prst="roundRect">
            <a:avLst>
              <a:gd name="adj" fmla="val 9756"/>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0" name="Shape 8"/>
          <p:cNvSpPr/>
          <p:nvPr/>
        </p:nvSpPr>
        <p:spPr>
          <a:xfrm>
            <a:off x="777240" y="2514600"/>
            <a:ext cx="438912" cy="438912"/>
          </a:xfrm>
          <a:prstGeom prst="ellipse">
            <a:avLst/>
          </a:prstGeom>
          <a:solidFill>
            <a:srgbClr val="6C8CFF"/>
          </a:solidFill>
          <a:ln/>
        </p:spPr>
      </p:sp>
      <p:sp>
        <p:nvSpPr>
          <p:cNvPr id="11" name="Text 9"/>
          <p:cNvSpPr/>
          <p:nvPr/>
        </p:nvSpPr>
        <p:spPr>
          <a:xfrm>
            <a:off x="777240" y="2514600"/>
            <a:ext cx="438912" cy="438912"/>
          </a:xfrm>
          <a:prstGeom prst="rect">
            <a:avLst/>
          </a:prstGeom>
          <a:noFill/>
          <a:ln/>
        </p:spPr>
        <p:txBody>
          <a:bodyPr wrap="square" lIns="0" tIns="0" rIns="0" bIns="0" rtlCol="0" anchor="ctr"/>
          <a:lstStyle/>
          <a:p>
            <a:pPr algn="ctr" indent="0" marL="0">
              <a:buNone/>
            </a:pPr>
            <a:r>
              <a:rPr lang="en-US" sz="1500" b="1" dirty="0">
                <a:solidFill>
                  <a:srgbClr val="12141C"/>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371600" y="2450592"/>
            <a:ext cx="3566160" cy="566928"/>
          </a:xfrm>
          <a:prstGeom prst="rect">
            <a:avLst/>
          </a:prstGeom>
          <a:noFill/>
          <a:ln/>
        </p:spPr>
        <p:txBody>
          <a:bodyPr wrap="square" lIns="0" tIns="0" rIns="0" bIns="0" rtlCol="0" anchor="ctr"/>
          <a:lstStyle/>
          <a:p>
            <a:pPr indent="0" marL="0">
              <a:lnSpc>
                <a:spcPct val="100000"/>
              </a:lnSpc>
              <a:buNone/>
            </a:pPr>
            <a:r>
              <a:rPr lang="en-US" sz="1300" b="1" dirty="0">
                <a:solidFill>
                  <a:srgbClr val="E8EAF0"/>
                </a:solidFill>
                <a:latin typeface="Calibri" pitchFamily="34" charset="0"/>
                <a:ea typeface="Calibri" pitchFamily="34" charset="-122"/>
                <a:cs typeface="Calibri" pitchFamily="34" charset="-120"/>
              </a:rPr>
              <a:t>Add regional sources</a:t>
            </a:r>
            <a:endParaRPr lang="en-US" sz="1300" dirty="0"/>
          </a:p>
        </p:txBody>
      </p:sp>
      <p:sp>
        <p:nvSpPr>
          <p:cNvPr id="13" name="Text 11"/>
          <p:cNvSpPr/>
          <p:nvPr/>
        </p:nvSpPr>
        <p:spPr>
          <a:xfrm>
            <a:off x="5029200" y="2432304"/>
            <a:ext cx="6400800" cy="603504"/>
          </a:xfrm>
          <a:prstGeom prst="rect">
            <a:avLst/>
          </a:prstGeom>
          <a:noFill/>
          <a:ln/>
        </p:spPr>
        <p:txBody>
          <a:bodyPr wrap="square" lIns="0" tIns="0" rIns="0" bIns="0" rtlCol="0" anchor="ctr"/>
          <a:lstStyle/>
          <a:p>
            <a:pPr indent="0" marL="0">
              <a:lnSpc>
                <a:spcPct val="108000"/>
              </a:lnSpc>
              <a:buNone/>
            </a:pPr>
            <a:r>
              <a:rPr lang="en-US" sz="1050" dirty="0">
                <a:solidFill>
                  <a:srgbClr val="9AA1B4"/>
                </a:solidFill>
                <a:latin typeface="Calibri" pitchFamily="34" charset="0"/>
                <a:ea typeface="Calibri" pitchFamily="34" charset="-122"/>
                <a:cs typeface="Calibri" pitchFamily="34" charset="-120"/>
              </a:rPr>
              <a:t>Per-region publisher channels, language-specific subreddits, regional Discord servers. Configuration, not code — and the change that makes the region split matter for your China/West work.</a:t>
            </a:r>
            <a:endParaRPr lang="en-US" sz="1050" dirty="0"/>
          </a:p>
        </p:txBody>
      </p:sp>
      <p:sp>
        <p:nvSpPr>
          <p:cNvPr id="14" name="Shape 12"/>
          <p:cNvSpPr/>
          <p:nvPr/>
        </p:nvSpPr>
        <p:spPr>
          <a:xfrm>
            <a:off x="548640" y="3163824"/>
            <a:ext cx="11064240" cy="749808"/>
          </a:xfrm>
          <a:prstGeom prst="roundRect">
            <a:avLst>
              <a:gd name="adj" fmla="val 9756"/>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5" name="Shape 13"/>
          <p:cNvSpPr/>
          <p:nvPr/>
        </p:nvSpPr>
        <p:spPr>
          <a:xfrm>
            <a:off x="777240" y="3319272"/>
            <a:ext cx="438912" cy="438912"/>
          </a:xfrm>
          <a:prstGeom prst="ellipse">
            <a:avLst/>
          </a:prstGeom>
          <a:solidFill>
            <a:srgbClr val="6C8CFF"/>
          </a:solidFill>
          <a:ln/>
        </p:spPr>
      </p:sp>
      <p:sp>
        <p:nvSpPr>
          <p:cNvPr id="16" name="Text 14"/>
          <p:cNvSpPr/>
          <p:nvPr/>
        </p:nvSpPr>
        <p:spPr>
          <a:xfrm>
            <a:off x="777240" y="3319272"/>
            <a:ext cx="438912" cy="438912"/>
          </a:xfrm>
          <a:prstGeom prst="rect">
            <a:avLst/>
          </a:prstGeom>
          <a:noFill/>
          <a:ln/>
        </p:spPr>
        <p:txBody>
          <a:bodyPr wrap="square" lIns="0" tIns="0" rIns="0" bIns="0" rtlCol="0" anchor="ctr"/>
          <a:lstStyle/>
          <a:p>
            <a:pPr algn="ctr" indent="0" marL="0">
              <a:buNone/>
            </a:pPr>
            <a:r>
              <a:rPr lang="en-US" sz="1500" b="1" dirty="0">
                <a:solidFill>
                  <a:srgbClr val="12141C"/>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371600" y="3255264"/>
            <a:ext cx="3566160" cy="566928"/>
          </a:xfrm>
          <a:prstGeom prst="rect">
            <a:avLst/>
          </a:prstGeom>
          <a:noFill/>
          <a:ln/>
        </p:spPr>
        <p:txBody>
          <a:bodyPr wrap="square" lIns="0" tIns="0" rIns="0" bIns="0" rtlCol="0" anchor="ctr"/>
          <a:lstStyle/>
          <a:p>
            <a:pPr indent="0" marL="0">
              <a:lnSpc>
                <a:spcPct val="100000"/>
              </a:lnSpc>
              <a:buNone/>
            </a:pPr>
            <a:r>
              <a:rPr lang="en-US" sz="1300" b="1" dirty="0">
                <a:solidFill>
                  <a:srgbClr val="E8EAF0"/>
                </a:solidFill>
                <a:latin typeface="Calibri" pitchFamily="34" charset="0"/>
                <a:ea typeface="Calibri" pitchFamily="34" charset="-122"/>
                <a:cs typeface="Calibri" pitchFamily="34" charset="-120"/>
              </a:rPr>
              <a:t>Schedule automatic collection</a:t>
            </a:r>
            <a:endParaRPr lang="en-US" sz="1300" dirty="0"/>
          </a:p>
        </p:txBody>
      </p:sp>
      <p:sp>
        <p:nvSpPr>
          <p:cNvPr id="18" name="Text 16"/>
          <p:cNvSpPr/>
          <p:nvPr/>
        </p:nvSpPr>
        <p:spPr>
          <a:xfrm>
            <a:off x="5029200" y="3236976"/>
            <a:ext cx="6400800" cy="603504"/>
          </a:xfrm>
          <a:prstGeom prst="rect">
            <a:avLst/>
          </a:prstGeom>
          <a:noFill/>
          <a:ln/>
        </p:spPr>
        <p:txBody>
          <a:bodyPr wrap="square" lIns="0" tIns="0" rIns="0" bIns="0" rtlCol="0" anchor="ctr"/>
          <a:lstStyle/>
          <a:p>
            <a:pPr indent="0" marL="0">
              <a:lnSpc>
                <a:spcPct val="108000"/>
              </a:lnSpc>
              <a:buNone/>
            </a:pPr>
            <a:r>
              <a:rPr lang="en-US" sz="1050" dirty="0">
                <a:solidFill>
                  <a:srgbClr val="9AA1B4"/>
                </a:solidFill>
                <a:latin typeface="Calibri" pitchFamily="34" charset="0"/>
                <a:ea typeface="Calibri" pitchFamily="34" charset="-122"/>
                <a:cs typeface="Calibri" pitchFamily="34" charset="-120"/>
              </a:rPr>
              <a:t>Daily and unattended, so trends accumulate without someone remembering to open the page. Every baseline and delta depends on it.</a:t>
            </a:r>
            <a:endParaRPr lang="en-US" sz="1050" dirty="0"/>
          </a:p>
        </p:txBody>
      </p:sp>
      <p:sp>
        <p:nvSpPr>
          <p:cNvPr id="19" name="Shape 17"/>
          <p:cNvSpPr/>
          <p:nvPr/>
        </p:nvSpPr>
        <p:spPr>
          <a:xfrm>
            <a:off x="548640" y="3968496"/>
            <a:ext cx="11064240" cy="749808"/>
          </a:xfrm>
          <a:prstGeom prst="roundRect">
            <a:avLst>
              <a:gd name="adj" fmla="val 9756"/>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20" name="Shape 18"/>
          <p:cNvSpPr/>
          <p:nvPr/>
        </p:nvSpPr>
        <p:spPr>
          <a:xfrm>
            <a:off x="777240" y="4123944"/>
            <a:ext cx="438912" cy="438912"/>
          </a:xfrm>
          <a:prstGeom prst="ellipse">
            <a:avLst/>
          </a:prstGeom>
          <a:solidFill>
            <a:srgbClr val="F5C451"/>
          </a:solidFill>
          <a:ln/>
        </p:spPr>
      </p:sp>
      <p:sp>
        <p:nvSpPr>
          <p:cNvPr id="21" name="Text 19"/>
          <p:cNvSpPr/>
          <p:nvPr/>
        </p:nvSpPr>
        <p:spPr>
          <a:xfrm>
            <a:off x="777240" y="4123944"/>
            <a:ext cx="438912" cy="438912"/>
          </a:xfrm>
          <a:prstGeom prst="rect">
            <a:avLst/>
          </a:prstGeom>
          <a:noFill/>
          <a:ln/>
        </p:spPr>
        <p:txBody>
          <a:bodyPr wrap="square" lIns="0" tIns="0" rIns="0" bIns="0" rtlCol="0" anchor="ctr"/>
          <a:lstStyle/>
          <a:p>
            <a:pPr algn="ctr" indent="0" marL="0">
              <a:buNone/>
            </a:pPr>
            <a:r>
              <a:rPr lang="en-US" sz="1500" b="1" dirty="0">
                <a:solidFill>
                  <a:srgbClr val="12141C"/>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371600" y="4059936"/>
            <a:ext cx="3566160" cy="566928"/>
          </a:xfrm>
          <a:prstGeom prst="rect">
            <a:avLst/>
          </a:prstGeom>
          <a:noFill/>
          <a:ln/>
        </p:spPr>
        <p:txBody>
          <a:bodyPr wrap="square" lIns="0" tIns="0" rIns="0" bIns="0" rtlCol="0" anchor="ctr"/>
          <a:lstStyle/>
          <a:p>
            <a:pPr indent="0" marL="0">
              <a:lnSpc>
                <a:spcPct val="100000"/>
              </a:lnSpc>
              <a:buNone/>
            </a:pPr>
            <a:r>
              <a:rPr lang="en-US" sz="1300" b="1" dirty="0">
                <a:solidFill>
                  <a:srgbClr val="E8EAF0"/>
                </a:solidFill>
                <a:latin typeface="Calibri" pitchFamily="34" charset="0"/>
                <a:ea typeface="Calibri" pitchFamily="34" charset="-122"/>
                <a:cs typeface="Calibri" pitchFamily="34" charset="-120"/>
              </a:rPr>
              <a:t>Add alerting on the risk thresholds</a:t>
            </a:r>
            <a:endParaRPr lang="en-US" sz="1300" dirty="0"/>
          </a:p>
        </p:txBody>
      </p:sp>
      <p:sp>
        <p:nvSpPr>
          <p:cNvPr id="23" name="Text 21"/>
          <p:cNvSpPr/>
          <p:nvPr/>
        </p:nvSpPr>
        <p:spPr>
          <a:xfrm>
            <a:off x="5029200" y="4041648"/>
            <a:ext cx="6400800" cy="603504"/>
          </a:xfrm>
          <a:prstGeom prst="rect">
            <a:avLst/>
          </a:prstGeom>
          <a:noFill/>
          <a:ln/>
        </p:spPr>
        <p:txBody>
          <a:bodyPr wrap="square" lIns="0" tIns="0" rIns="0" bIns="0" rtlCol="0" anchor="ctr"/>
          <a:lstStyle/>
          <a:p>
            <a:pPr indent="0" marL="0">
              <a:lnSpc>
                <a:spcPct val="108000"/>
              </a:lnSpc>
              <a:buNone/>
            </a:pPr>
            <a:r>
              <a:rPr lang="en-US" sz="1050" dirty="0">
                <a:solidFill>
                  <a:srgbClr val="9AA1B4"/>
                </a:solidFill>
                <a:latin typeface="Calibri" pitchFamily="34" charset="0"/>
                <a:ea typeface="Calibri" pitchFamily="34" charset="-122"/>
                <a:cs typeface="Calibri" pitchFamily="34" charset="-120"/>
              </a:rPr>
              <a:t>The detection logic already exists. Alerting turns community monitoring from something someone checks into something proactive.</a:t>
            </a:r>
            <a:endParaRPr lang="en-US" sz="1050" dirty="0"/>
          </a:p>
        </p:txBody>
      </p:sp>
      <p:sp>
        <p:nvSpPr>
          <p:cNvPr id="24" name="Shape 22"/>
          <p:cNvSpPr/>
          <p:nvPr/>
        </p:nvSpPr>
        <p:spPr>
          <a:xfrm>
            <a:off x="548640" y="4773168"/>
            <a:ext cx="11064240" cy="749808"/>
          </a:xfrm>
          <a:prstGeom prst="roundRect">
            <a:avLst>
              <a:gd name="adj" fmla="val 9756"/>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25" name="Shape 23"/>
          <p:cNvSpPr/>
          <p:nvPr/>
        </p:nvSpPr>
        <p:spPr>
          <a:xfrm>
            <a:off x="777240" y="4928616"/>
            <a:ext cx="438912" cy="438912"/>
          </a:xfrm>
          <a:prstGeom prst="ellipse">
            <a:avLst/>
          </a:prstGeom>
          <a:solidFill>
            <a:srgbClr val="F5C451"/>
          </a:solidFill>
          <a:ln/>
        </p:spPr>
      </p:sp>
      <p:sp>
        <p:nvSpPr>
          <p:cNvPr id="26" name="Text 24"/>
          <p:cNvSpPr/>
          <p:nvPr/>
        </p:nvSpPr>
        <p:spPr>
          <a:xfrm>
            <a:off x="777240" y="4928616"/>
            <a:ext cx="438912" cy="438912"/>
          </a:xfrm>
          <a:prstGeom prst="rect">
            <a:avLst/>
          </a:prstGeom>
          <a:noFill/>
          <a:ln/>
        </p:spPr>
        <p:txBody>
          <a:bodyPr wrap="square" lIns="0" tIns="0" rIns="0" bIns="0" rtlCol="0" anchor="ctr"/>
          <a:lstStyle/>
          <a:p>
            <a:pPr algn="ctr" indent="0" marL="0">
              <a:buNone/>
            </a:pPr>
            <a:r>
              <a:rPr lang="en-US" sz="1500" b="1" dirty="0">
                <a:solidFill>
                  <a:srgbClr val="12141C"/>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371600" y="4864608"/>
            <a:ext cx="3566160" cy="566928"/>
          </a:xfrm>
          <a:prstGeom prst="rect">
            <a:avLst/>
          </a:prstGeom>
          <a:noFill/>
          <a:ln/>
        </p:spPr>
        <p:txBody>
          <a:bodyPr wrap="square" lIns="0" tIns="0" rIns="0" bIns="0" rtlCol="0" anchor="ctr"/>
          <a:lstStyle/>
          <a:p>
            <a:pPr indent="0" marL="0">
              <a:lnSpc>
                <a:spcPct val="100000"/>
              </a:lnSpc>
              <a:buNone/>
            </a:pPr>
            <a:r>
              <a:rPr lang="en-US" sz="1300" b="1" dirty="0">
                <a:solidFill>
                  <a:srgbClr val="E8EAF0"/>
                </a:solidFill>
                <a:latin typeface="Calibri" pitchFamily="34" charset="0"/>
                <a:ea typeface="Calibri" pitchFamily="34" charset="-122"/>
                <a:cs typeface="Calibri" pitchFamily="34" charset="-120"/>
              </a:rPr>
              <a:t>Re-tune the Engagement Index ceilings</a:t>
            </a:r>
            <a:endParaRPr lang="en-US" sz="1300" dirty="0"/>
          </a:p>
        </p:txBody>
      </p:sp>
      <p:sp>
        <p:nvSpPr>
          <p:cNvPr id="28" name="Text 26"/>
          <p:cNvSpPr/>
          <p:nvPr/>
        </p:nvSpPr>
        <p:spPr>
          <a:xfrm>
            <a:off x="5029200" y="4846320"/>
            <a:ext cx="6400800" cy="603504"/>
          </a:xfrm>
          <a:prstGeom prst="rect">
            <a:avLst/>
          </a:prstGeom>
          <a:noFill/>
          <a:ln/>
        </p:spPr>
        <p:txBody>
          <a:bodyPr wrap="square" lIns="0" tIns="0" rIns="0" bIns="0" rtlCol="0" anchor="ctr"/>
          <a:lstStyle/>
          <a:p>
            <a:pPr indent="0" marL="0">
              <a:lnSpc>
                <a:spcPct val="108000"/>
              </a:lnSpc>
              <a:buNone/>
            </a:pPr>
            <a:r>
              <a:rPr lang="en-US" sz="1050" dirty="0">
                <a:solidFill>
                  <a:srgbClr val="9AA1B4"/>
                </a:solidFill>
                <a:latin typeface="Calibri" pitchFamily="34" charset="0"/>
                <a:ea typeface="Calibri" pitchFamily="34" charset="-122"/>
                <a:cs typeface="Calibri" pitchFamily="34" charset="-120"/>
              </a:rPr>
              <a:t>Against your own campaign benchmarks, so the index reflects RS's reality rather than a reasonable guess.</a:t>
            </a:r>
            <a:endParaRPr lang="en-US" sz="1050" dirty="0"/>
          </a:p>
        </p:txBody>
      </p:sp>
      <p:sp>
        <p:nvSpPr>
          <p:cNvPr id="29" name="Shape 27"/>
          <p:cNvSpPr/>
          <p:nvPr/>
        </p:nvSpPr>
        <p:spPr>
          <a:xfrm>
            <a:off x="548640" y="5577840"/>
            <a:ext cx="11064240" cy="749808"/>
          </a:xfrm>
          <a:prstGeom prst="roundRect">
            <a:avLst>
              <a:gd name="adj" fmla="val 9756"/>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30" name="Shape 28"/>
          <p:cNvSpPr/>
          <p:nvPr/>
        </p:nvSpPr>
        <p:spPr>
          <a:xfrm>
            <a:off x="777240" y="5733288"/>
            <a:ext cx="438912" cy="438912"/>
          </a:xfrm>
          <a:prstGeom prst="ellipse">
            <a:avLst/>
          </a:prstGeom>
          <a:solidFill>
            <a:srgbClr val="3ECF8E"/>
          </a:solidFill>
          <a:ln/>
        </p:spPr>
      </p:sp>
      <p:sp>
        <p:nvSpPr>
          <p:cNvPr id="31" name="Text 29"/>
          <p:cNvSpPr/>
          <p:nvPr/>
        </p:nvSpPr>
        <p:spPr>
          <a:xfrm>
            <a:off x="777240" y="5733288"/>
            <a:ext cx="438912" cy="438912"/>
          </a:xfrm>
          <a:prstGeom prst="rect">
            <a:avLst/>
          </a:prstGeom>
          <a:noFill/>
          <a:ln/>
        </p:spPr>
        <p:txBody>
          <a:bodyPr wrap="square" lIns="0" tIns="0" rIns="0" bIns="0" rtlCol="0" anchor="ctr"/>
          <a:lstStyle/>
          <a:p>
            <a:pPr algn="ctr" indent="0" marL="0">
              <a:buNone/>
            </a:pPr>
            <a:r>
              <a:rPr lang="en-US" sz="1500" b="1" dirty="0">
                <a:solidFill>
                  <a:srgbClr val="12141C"/>
                </a:solidFill>
                <a:latin typeface="Calibri" pitchFamily="34" charset="0"/>
                <a:ea typeface="Calibri" pitchFamily="34" charset="-122"/>
                <a:cs typeface="Calibri" pitchFamily="34" charset="-120"/>
              </a:rPr>
              <a:t>6</a:t>
            </a:r>
            <a:endParaRPr lang="en-US" sz="1500" dirty="0"/>
          </a:p>
        </p:txBody>
      </p:sp>
      <p:sp>
        <p:nvSpPr>
          <p:cNvPr id="32" name="Text 30"/>
          <p:cNvSpPr/>
          <p:nvPr/>
        </p:nvSpPr>
        <p:spPr>
          <a:xfrm>
            <a:off x="1371600" y="5669280"/>
            <a:ext cx="3566160" cy="566928"/>
          </a:xfrm>
          <a:prstGeom prst="rect">
            <a:avLst/>
          </a:prstGeom>
          <a:noFill/>
          <a:ln/>
        </p:spPr>
        <p:txBody>
          <a:bodyPr wrap="square" lIns="0" tIns="0" rIns="0" bIns="0" rtlCol="0" anchor="ctr"/>
          <a:lstStyle/>
          <a:p>
            <a:pPr indent="0" marL="0">
              <a:lnSpc>
                <a:spcPct val="100000"/>
              </a:lnSpc>
              <a:buNone/>
            </a:pPr>
            <a:r>
              <a:rPr lang="en-US" sz="1300" b="1" dirty="0">
                <a:solidFill>
                  <a:srgbClr val="E8EAF0"/>
                </a:solidFill>
                <a:latin typeface="Calibri" pitchFamily="34" charset="0"/>
                <a:ea typeface="Calibri" pitchFamily="34" charset="-122"/>
                <a:cs typeface="Calibri" pitchFamily="34" charset="-120"/>
              </a:rPr>
              <a:t>Pilot with one account team, one real title</a:t>
            </a:r>
            <a:endParaRPr lang="en-US" sz="1300" dirty="0"/>
          </a:p>
        </p:txBody>
      </p:sp>
      <p:sp>
        <p:nvSpPr>
          <p:cNvPr id="33" name="Text 31"/>
          <p:cNvSpPr/>
          <p:nvPr/>
        </p:nvSpPr>
        <p:spPr>
          <a:xfrm>
            <a:off x="5029200" y="5650992"/>
            <a:ext cx="6400800" cy="603504"/>
          </a:xfrm>
          <a:prstGeom prst="rect">
            <a:avLst/>
          </a:prstGeom>
          <a:noFill/>
          <a:ln/>
        </p:spPr>
        <p:txBody>
          <a:bodyPr wrap="square" lIns="0" tIns="0" rIns="0" bIns="0" rtlCol="0" anchor="ctr"/>
          <a:lstStyle/>
          <a:p>
            <a:pPr indent="0" marL="0">
              <a:lnSpc>
                <a:spcPct val="108000"/>
              </a:lnSpc>
              <a:buNone/>
            </a:pPr>
            <a:r>
              <a:rPr lang="en-US" sz="1050" dirty="0">
                <a:solidFill>
                  <a:srgbClr val="9AA1B4"/>
                </a:solidFill>
                <a:latin typeface="Calibri" pitchFamily="34" charset="0"/>
                <a:ea typeface="Calibri" pitchFamily="34" charset="-122"/>
                <a:cs typeface="Calibri" pitchFamily="34" charset="-120"/>
              </a:rPr>
              <a:t>A few weeks, with a standing instruction to note every time the tool was wrong. Their feedback should set the next build, not our guess.</a:t>
            </a:r>
            <a:endParaRPr lang="en-US" sz="1050" dirty="0"/>
          </a:p>
        </p:txBody>
      </p:sp>
      <p:sp>
        <p:nvSpPr>
          <p:cNvPr id="34" name="Text 32"/>
          <p:cNvSpPr/>
          <p:nvPr/>
        </p:nvSpPr>
        <p:spPr>
          <a:xfrm>
            <a:off x="548640" y="6382512"/>
            <a:ext cx="7772400" cy="274320"/>
          </a:xfrm>
          <a:prstGeom prst="rect">
            <a:avLst/>
          </a:prstGeom>
          <a:noFill/>
          <a:ln/>
        </p:spPr>
        <p:txBody>
          <a:bodyPr wrap="square" lIns="0" tIns="0" rIns="0" bIns="0" rtlCol="0" anchor="ctr"/>
          <a:lstStyle/>
          <a:p>
            <a:pPr indent="0" marL="0">
              <a:buNone/>
            </a:pPr>
            <a:r>
              <a:rPr lang="en-US" sz="1000" i="1" dirty="0">
                <a:solidFill>
                  <a:srgbClr val="9AA1B4"/>
                </a:solidFill>
                <a:latin typeface="Calibri" pitchFamily="34" charset="0"/>
                <a:ea typeface="Calibri" pitchFamily="34" charset="-122"/>
                <a:cs typeface="Calibri" pitchFamily="34" charset="-120"/>
              </a:rPr>
              <a:t>The first two are what turn this from a working prototype into something whose numbers can be put in front of a client.</a:t>
            </a:r>
            <a:endParaRPr lang="en-US" sz="1000" dirty="0"/>
          </a:p>
        </p:txBody>
      </p:sp>
      <p:sp>
        <p:nvSpPr>
          <p:cNvPr id="35" name="Text 33"/>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1B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141C"/>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6C8CFF">
              <a:alpha val="10000"/>
            </a:srgbClr>
          </a:solidFill>
          <a:ln/>
        </p:spPr>
      </p:sp>
      <p:sp>
        <p:nvSpPr>
          <p:cNvPr id="3" name="Shape 1"/>
          <p:cNvSpPr/>
          <p:nvPr/>
        </p:nvSpPr>
        <p:spPr>
          <a:xfrm>
            <a:off x="10241280" y="4572000"/>
            <a:ext cx="3108960" cy="3108960"/>
          </a:xfrm>
          <a:prstGeom prst="ellipse">
            <a:avLst/>
          </a:prstGeom>
          <a:solidFill>
            <a:srgbClr val="B98CFF">
              <a:alpha val="10000"/>
            </a:srgbClr>
          </a:solidFill>
          <a:ln/>
        </p:spPr>
      </p:sp>
      <p:sp>
        <p:nvSpPr>
          <p:cNvPr id="4" name="Text 2"/>
          <p:cNvSpPr/>
          <p:nvPr/>
        </p:nvSpPr>
        <p:spPr>
          <a:xfrm>
            <a:off x="731520" y="822960"/>
            <a:ext cx="10058400" cy="822960"/>
          </a:xfrm>
          <a:prstGeom prst="rect">
            <a:avLst/>
          </a:prstGeom>
          <a:noFill/>
          <a:ln/>
        </p:spPr>
        <p:txBody>
          <a:bodyPr wrap="square" lIns="0" tIns="0" rIns="0" bIns="0" rtlCol="0" anchor="ctr"/>
          <a:lstStyle/>
          <a:p>
            <a:pPr indent="0" marL="0">
              <a:buNone/>
            </a:pPr>
            <a:r>
              <a:rPr lang="en-US" sz="3400" b="1" dirty="0">
                <a:solidFill>
                  <a:srgbClr val="E8EAF0"/>
                </a:solidFill>
                <a:latin typeface="Cambria" pitchFamily="34" charset="0"/>
                <a:ea typeface="Cambria" pitchFamily="34" charset="-122"/>
                <a:cs typeface="Cambria" pitchFamily="34" charset="-120"/>
              </a:rPr>
              <a:t>Thank you</a:t>
            </a:r>
            <a:endParaRPr lang="en-US" sz="3400" dirty="0"/>
          </a:p>
        </p:txBody>
      </p:sp>
      <p:sp>
        <p:nvSpPr>
          <p:cNvPr id="5" name="Text 3"/>
          <p:cNvSpPr/>
          <p:nvPr/>
        </p:nvSpPr>
        <p:spPr>
          <a:xfrm>
            <a:off x="731520" y="1691640"/>
            <a:ext cx="10058400" cy="365760"/>
          </a:xfrm>
          <a:prstGeom prst="rect">
            <a:avLst/>
          </a:prstGeom>
          <a:noFill/>
          <a:ln/>
        </p:spPr>
        <p:txBody>
          <a:bodyPr wrap="square" lIns="0" tIns="0" rIns="0" bIns="0" rtlCol="0" anchor="ctr"/>
          <a:lstStyle/>
          <a:p>
            <a:pPr indent="0" marL="0">
              <a:buNone/>
            </a:pPr>
            <a:r>
              <a:rPr lang="en-US" sz="1400" dirty="0">
                <a:solidFill>
                  <a:srgbClr val="9AA1B4"/>
                </a:solidFill>
                <a:latin typeface="Calibri" pitchFamily="34" charset="0"/>
                <a:ea typeface="Calibri" pitchFamily="34" charset="-122"/>
                <a:cs typeface="Calibri" pitchFamily="34" charset="-120"/>
              </a:rPr>
              <a:t>Everything described here is running in the repository you have been given.</a:t>
            </a:r>
            <a:endParaRPr lang="en-US" sz="1400" dirty="0"/>
          </a:p>
        </p:txBody>
      </p:sp>
      <p:sp>
        <p:nvSpPr>
          <p:cNvPr id="6" name="Shape 4"/>
          <p:cNvSpPr/>
          <p:nvPr/>
        </p:nvSpPr>
        <p:spPr>
          <a:xfrm>
            <a:off x="731520" y="2286000"/>
            <a:ext cx="5120640" cy="2286000"/>
          </a:xfrm>
          <a:prstGeom prst="roundRect">
            <a:avLst>
              <a:gd name="adj" fmla="val 3200"/>
            </a:avLst>
          </a:prstGeom>
          <a:solidFill>
            <a:srgbClr val="1A2033"/>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7" name="Text 5"/>
          <p:cNvSpPr/>
          <p:nvPr/>
        </p:nvSpPr>
        <p:spPr>
          <a:xfrm>
            <a:off x="1005840" y="2423160"/>
            <a:ext cx="4572000" cy="274320"/>
          </a:xfrm>
          <a:prstGeom prst="rect">
            <a:avLst/>
          </a:prstGeom>
          <a:noFill/>
          <a:ln/>
        </p:spPr>
        <p:txBody>
          <a:bodyPr wrap="square" lIns="0" tIns="0" rIns="0" bIns="0" rtlCol="0" anchor="ctr"/>
          <a:lstStyle/>
          <a:p>
            <a:pPr indent="0" marL="0">
              <a:buNone/>
            </a:pPr>
            <a:r>
              <a:rPr lang="en-US" sz="1000" b="1" spc="100" kern="0" dirty="0">
                <a:solidFill>
                  <a:srgbClr val="6C8CFF"/>
                </a:solidFill>
                <a:latin typeface="Calibri" pitchFamily="34" charset="0"/>
                <a:ea typeface="Calibri" pitchFamily="34" charset="-122"/>
                <a:cs typeface="Calibri" pitchFamily="34" charset="-120"/>
              </a:rPr>
              <a:t>HOW TO RUN IT</a:t>
            </a:r>
            <a:endParaRPr lang="en-US" sz="1000" dirty="0"/>
          </a:p>
        </p:txBody>
      </p:sp>
      <p:sp>
        <p:nvSpPr>
          <p:cNvPr id="8" name="Text 6"/>
          <p:cNvSpPr/>
          <p:nvPr/>
        </p:nvSpPr>
        <p:spPr>
          <a:xfrm>
            <a:off x="1005840" y="2743200"/>
            <a:ext cx="4572000" cy="1097280"/>
          </a:xfrm>
          <a:prstGeom prst="rect">
            <a:avLst/>
          </a:prstGeom>
          <a:noFill/>
          <a:ln/>
        </p:spPr>
        <p:txBody>
          <a:bodyPr wrap="square" lIns="0" tIns="0" rIns="0" bIns="0" rtlCol="0" anchor="ctr"/>
          <a:lstStyle/>
          <a:p>
            <a:pPr indent="0" marL="0">
              <a:lnSpc>
                <a:spcPct val="125000"/>
              </a:lnSpc>
              <a:buNone/>
            </a:pPr>
            <a:r>
              <a:rPr lang="en-US" sz="1300" dirty="0">
                <a:solidFill>
                  <a:srgbClr val="E8EAF0"/>
                </a:solidFill>
                <a:latin typeface="Consolas" pitchFamily="34" charset="0"/>
                <a:ea typeface="Consolas" pitchFamily="34" charset="-122"/>
                <a:cs typeface="Consolas" pitchFamily="34" charset="-120"/>
              </a:rPr>
              <a:t>cd server</a:t>
            </a:r>
            <a:endParaRPr lang="en-US" sz="1300" dirty="0"/>
          </a:p>
          <a:p>
            <a:pPr indent="0" marL="0">
              <a:lnSpc>
                <a:spcPct val="125000"/>
              </a:lnSpc>
              <a:buNone/>
            </a:pPr>
            <a:r>
              <a:rPr lang="en-US" sz="1300" dirty="0">
                <a:solidFill>
                  <a:srgbClr val="E8EAF0"/>
                </a:solidFill>
                <a:latin typeface="Consolas" pitchFamily="34" charset="0"/>
                <a:ea typeface="Consolas" pitchFamily="34" charset="-122"/>
                <a:cs typeface="Consolas" pitchFamily="34" charset="-120"/>
              </a:rPr>
              <a:t>cp .env.example .env</a:t>
            </a:r>
            <a:endParaRPr lang="en-US" sz="1300" dirty="0"/>
          </a:p>
          <a:p>
            <a:pPr indent="0" marL="0">
              <a:lnSpc>
                <a:spcPct val="125000"/>
              </a:lnSpc>
              <a:buNone/>
            </a:pPr>
            <a:r>
              <a:rPr lang="en-US" sz="1300" dirty="0">
                <a:solidFill>
                  <a:srgbClr val="E8EAF0"/>
                </a:solidFill>
                <a:latin typeface="Consolas" pitchFamily="34" charset="0"/>
                <a:ea typeface="Consolas" pitchFamily="34" charset="-122"/>
                <a:cs typeface="Consolas" pitchFamily="34" charset="-120"/>
              </a:rPr>
              <a:t>npm install</a:t>
            </a:r>
            <a:endParaRPr lang="en-US" sz="1300" dirty="0"/>
          </a:p>
          <a:p>
            <a:pPr indent="0" marL="0">
              <a:lnSpc>
                <a:spcPct val="125000"/>
              </a:lnSpc>
              <a:buNone/>
            </a:pPr>
            <a:r>
              <a:rPr lang="en-US" sz="1300" dirty="0">
                <a:solidFill>
                  <a:srgbClr val="E8EAF0"/>
                </a:solidFill>
                <a:latin typeface="Consolas" pitchFamily="34" charset="0"/>
                <a:ea typeface="Consolas" pitchFamily="34" charset="-122"/>
                <a:cs typeface="Consolas" pitchFamily="34" charset="-120"/>
              </a:rPr>
              <a:t>npm start</a:t>
            </a:r>
            <a:endParaRPr lang="en-US" sz="1300" dirty="0"/>
          </a:p>
        </p:txBody>
      </p:sp>
      <p:sp>
        <p:nvSpPr>
          <p:cNvPr id="9" name="Text 7"/>
          <p:cNvSpPr/>
          <p:nvPr/>
        </p:nvSpPr>
        <p:spPr>
          <a:xfrm>
            <a:off x="1005840" y="3886200"/>
            <a:ext cx="4572000" cy="594360"/>
          </a:xfrm>
          <a:prstGeom prst="rect">
            <a:avLst/>
          </a:prstGeom>
          <a:noFill/>
          <a:ln/>
        </p:spPr>
        <p:txBody>
          <a:bodyPr wrap="square" lIns="0" tIns="0" rIns="0" bIns="0" rtlCol="0" anchor="ctr"/>
          <a:lstStyle/>
          <a:p>
            <a:pPr indent="0" marL="0">
              <a:lnSpc>
                <a:spcPct val="110000"/>
              </a:lnSpc>
              <a:buNone/>
            </a:pPr>
            <a:r>
              <a:rPr lang="en-US" sz="1000" dirty="0">
                <a:solidFill>
                  <a:srgbClr val="9AA1B4"/>
                </a:solidFill>
                <a:latin typeface="Calibri" pitchFamily="34" charset="0"/>
                <a:ea typeface="Calibri" pitchFamily="34" charset="-122"/>
                <a:cs typeface="Calibri" pitchFamily="34" charset="-120"/>
              </a:rPr>
              <a:t>Then open http://localhost:3000. Nothing in .env is mandatory — with an empty file the dashboard still boots, and every unconfigured source is labelled on screen.</a:t>
            </a:r>
            <a:endParaRPr lang="en-US" sz="1000" dirty="0"/>
          </a:p>
        </p:txBody>
      </p:sp>
      <p:sp>
        <p:nvSpPr>
          <p:cNvPr id="10" name="Shape 8"/>
          <p:cNvSpPr/>
          <p:nvPr/>
        </p:nvSpPr>
        <p:spPr>
          <a:xfrm>
            <a:off x="6172200" y="2286000"/>
            <a:ext cx="5303520" cy="2286000"/>
          </a:xfrm>
          <a:prstGeom prst="roundRect">
            <a:avLst>
              <a:gd name="adj" fmla="val 3200"/>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1" name="Text 9"/>
          <p:cNvSpPr/>
          <p:nvPr/>
        </p:nvSpPr>
        <p:spPr>
          <a:xfrm>
            <a:off x="6446520" y="2423160"/>
            <a:ext cx="4754880" cy="274320"/>
          </a:xfrm>
          <a:prstGeom prst="rect">
            <a:avLst/>
          </a:prstGeom>
          <a:noFill/>
          <a:ln/>
        </p:spPr>
        <p:txBody>
          <a:bodyPr wrap="square" lIns="0" tIns="0" rIns="0" bIns="0" rtlCol="0" anchor="ctr"/>
          <a:lstStyle/>
          <a:p>
            <a:pPr indent="0" marL="0">
              <a:buNone/>
            </a:pPr>
            <a:r>
              <a:rPr lang="en-US" sz="1000" b="1" spc="100" kern="0" dirty="0">
                <a:solidFill>
                  <a:srgbClr val="3ECF8E"/>
                </a:solidFill>
                <a:latin typeface="Calibri" pitchFamily="34" charset="0"/>
                <a:ea typeface="Calibri" pitchFamily="34" charset="-122"/>
                <a:cs typeface="Calibri" pitchFamily="34" charset="-120"/>
              </a:rPr>
              <a:t>BEFORE QUOTING A FIGURE TO A CLIENT</a:t>
            </a:r>
            <a:endParaRPr lang="en-US" sz="1000" dirty="0"/>
          </a:p>
        </p:txBody>
      </p:sp>
      <p:sp>
        <p:nvSpPr>
          <p:cNvPr id="12" name="Text 10"/>
          <p:cNvSpPr/>
          <p:nvPr/>
        </p:nvSpPr>
        <p:spPr>
          <a:xfrm>
            <a:off x="6446520" y="2743200"/>
            <a:ext cx="4754880" cy="1737360"/>
          </a:xfrm>
          <a:prstGeom prst="rect">
            <a:avLst/>
          </a:prstGeom>
          <a:noFill/>
          <a:ln/>
        </p:spPr>
        <p:txBody>
          <a:bodyPr wrap="square" lIns="0" tIns="0" rIns="0" bIns="0" rtlCol="0" anchor="t"/>
          <a:lstStyle/>
          <a:p>
            <a:pPr marL="177800" indent="-177800">
              <a:lnSpc>
                <a:spcPct val="110000"/>
              </a:lnSpc>
              <a:spcAft>
                <a:spcPts val="500"/>
              </a:spcAft>
              <a:buSzPct val="100000"/>
              <a:buChar char="•"/>
            </a:pPr>
            <a:r>
              <a:rPr lang="en-US" sz="1050" dirty="0">
                <a:solidFill>
                  <a:srgbClr val="E8EAF0"/>
                </a:solidFill>
                <a:latin typeface="Calibri" pitchFamily="34" charset="0"/>
                <a:ea typeface="Calibri" pitchFamily="34" charset="-122"/>
                <a:cs typeface="Calibri" pitchFamily="34" charset="-120"/>
              </a:rPr>
              <a:t>Configure credentials for as many channels as you can</a:t>
            </a:r>
            <a:endParaRPr lang="en-US" sz="1050" dirty="0"/>
          </a:p>
          <a:p>
            <a:pPr marL="177800" indent="-177800">
              <a:lnSpc>
                <a:spcPct val="110000"/>
              </a:lnSpc>
              <a:spcAft>
                <a:spcPts val="500"/>
              </a:spcAft>
              <a:buSzPct val="100000"/>
              <a:buChar char="•"/>
            </a:pPr>
            <a:r>
              <a:rPr lang="en-US" sz="1050" dirty="0">
                <a:solidFill>
                  <a:srgbClr val="E8EAF0"/>
                </a:solidFill>
                <a:latin typeface="Calibri" pitchFamily="34" charset="0"/>
                <a:ea typeface="Calibri" pitchFamily="34" charset="-122"/>
                <a:cs typeface="Calibri" pitchFamily="34" charset="-120"/>
              </a:rPr>
              <a:t>Set DEMO_DATA=false so the sample is excluded entirely</a:t>
            </a:r>
            <a:endParaRPr lang="en-US" sz="1050" dirty="0"/>
          </a:p>
          <a:p>
            <a:pPr marL="177800" indent="-177800">
              <a:lnSpc>
                <a:spcPct val="110000"/>
              </a:lnSpc>
              <a:spcAft>
                <a:spcPts val="500"/>
              </a:spcAft>
              <a:buSzPct val="100000"/>
              <a:buChar char="•"/>
            </a:pPr>
            <a:r>
              <a:rPr lang="en-US" sz="1050" dirty="0">
                <a:solidFill>
                  <a:srgbClr val="E8EAF0"/>
                </a:solidFill>
                <a:latin typeface="Calibri" pitchFamily="34" charset="0"/>
                <a:ea typeface="Calibri" pitchFamily="34" charset="-122"/>
                <a:cs typeface="Calibri" pitchFamily="34" charset="-120"/>
              </a:rPr>
              <a:t>Set ANTHROPIC_API_KEY so sentiment is semantic</a:t>
            </a:r>
            <a:endParaRPr lang="en-US" sz="1050" dirty="0"/>
          </a:p>
          <a:p>
            <a:pPr marL="177800" indent="-177800">
              <a:lnSpc>
                <a:spcPct val="110000"/>
              </a:lnSpc>
              <a:spcAft>
                <a:spcPts val="500"/>
              </a:spcAft>
              <a:buSzPct val="100000"/>
              <a:buChar char="•"/>
            </a:pPr>
            <a:r>
              <a:rPr lang="en-US" sz="1050" dirty="0">
                <a:solidFill>
                  <a:srgbClr val="E8EAF0"/>
                </a:solidFill>
                <a:latin typeface="Calibri" pitchFamily="34" charset="0"/>
                <a:ea typeface="Calibri" pitchFamily="34" charset="-122"/>
                <a:cs typeface="Calibri" pitchFamily="34" charset="-120"/>
              </a:rPr>
              <a:t>Let it run a fortnight, with snapshots on durable storage</a:t>
            </a:r>
            <a:endParaRPr lang="en-US" sz="1050" dirty="0"/>
          </a:p>
        </p:txBody>
      </p:sp>
      <p:sp>
        <p:nvSpPr>
          <p:cNvPr id="13" name="Shape 11"/>
          <p:cNvSpPr/>
          <p:nvPr/>
        </p:nvSpPr>
        <p:spPr>
          <a:xfrm>
            <a:off x="731520" y="4800600"/>
            <a:ext cx="10744200" cy="960120"/>
          </a:xfrm>
          <a:prstGeom prst="roundRect">
            <a:avLst>
              <a:gd name="adj" fmla="val 7619"/>
            </a:avLst>
          </a:prstGeom>
          <a:solidFill>
            <a:srgbClr val="1B1F2C"/>
          </a:solidFill>
          <a:ln w="12700">
            <a:solidFill>
              <a:srgbClr val="2A2F40"/>
            </a:solidFill>
            <a:prstDash val="solid"/>
          </a:ln>
          <a:effectLst>
            <a:outerShdw sx="100000" sy="100000" kx="0" ky="0" algn="bl" rotWithShape="0" blurRad="101600" dist="38100" dir="5400000">
              <a:srgbClr val="000000">
                <a:alpha val="35000"/>
              </a:srgbClr>
            </a:outerShdw>
          </a:effectLst>
        </p:spPr>
      </p:sp>
      <p:sp>
        <p:nvSpPr>
          <p:cNvPr id="14" name="Text 12"/>
          <p:cNvSpPr/>
          <p:nvPr/>
        </p:nvSpPr>
        <p:spPr>
          <a:xfrm>
            <a:off x="1005840" y="4901184"/>
            <a:ext cx="10241280" cy="274320"/>
          </a:xfrm>
          <a:prstGeom prst="rect">
            <a:avLst/>
          </a:prstGeom>
          <a:noFill/>
          <a:ln/>
        </p:spPr>
        <p:txBody>
          <a:bodyPr wrap="square" lIns="0" tIns="0" rIns="0" bIns="0" rtlCol="0" anchor="ctr"/>
          <a:lstStyle/>
          <a:p>
            <a:pPr indent="0" marL="0">
              <a:buNone/>
            </a:pPr>
            <a:r>
              <a:rPr lang="en-US" sz="1000" b="1" spc="100" kern="0" dirty="0">
                <a:solidFill>
                  <a:srgbClr val="9AA1B4"/>
                </a:solidFill>
                <a:latin typeface="Calibri" pitchFamily="34" charset="0"/>
                <a:ea typeface="Calibri" pitchFamily="34" charset="-122"/>
                <a:cs typeface="Calibri" pitchFamily="34" charset="-120"/>
              </a:rPr>
              <a:t>THE WRITTEN DELIVERABLE</a:t>
            </a:r>
            <a:endParaRPr lang="en-US" sz="1000" dirty="0"/>
          </a:p>
        </p:txBody>
      </p:sp>
      <p:sp>
        <p:nvSpPr>
          <p:cNvPr id="15" name="Text 13"/>
          <p:cNvSpPr/>
          <p:nvPr/>
        </p:nvSpPr>
        <p:spPr>
          <a:xfrm>
            <a:off x="1005840" y="5193792"/>
            <a:ext cx="10241280" cy="411480"/>
          </a:xfrm>
          <a:prstGeom prst="rect">
            <a:avLst/>
          </a:prstGeom>
          <a:noFill/>
          <a:ln/>
        </p:spPr>
        <p:txBody>
          <a:bodyPr wrap="square" lIns="0" tIns="0" rIns="0" bIns="0" rtlCol="0" anchor="ctr"/>
          <a:lstStyle/>
          <a:p>
            <a:pPr indent="0" marL="0">
              <a:buNone/>
            </a:pPr>
            <a:r>
              <a:rPr lang="en-US" sz="1050" dirty="0">
                <a:solidFill>
                  <a:srgbClr val="6C8CFF"/>
                </a:solidFill>
                <a:latin typeface="Consolas" pitchFamily="34" charset="0"/>
                <a:ea typeface="Consolas" pitchFamily="34" charset="-122"/>
                <a:cs typeface="Consolas" pitchFamily="34" charset="-120"/>
              </a:rPr>
              <a:t>GAMING_COMMUNITY_PULSE_REPORT.md   ·   CLIENT_ANSWERS.md   ·   PLATFORM_LANDSCAPE.md   ·   TOOL_LANDSCAPE.md   ·   README.md   ·   the running dashboard in server/</a:t>
            </a:r>
            <a:endParaRPr lang="en-US" sz="1050" dirty="0"/>
          </a:p>
        </p:txBody>
      </p:sp>
      <p:sp>
        <p:nvSpPr>
          <p:cNvPr id="16" name="Text 14"/>
          <p:cNvSpPr/>
          <p:nvPr/>
        </p:nvSpPr>
        <p:spPr>
          <a:xfrm>
            <a:off x="731520" y="5989320"/>
            <a:ext cx="10744200" cy="457200"/>
          </a:xfrm>
          <a:prstGeom prst="rect">
            <a:avLst/>
          </a:prstGeom>
          <a:noFill/>
          <a:ln/>
        </p:spPr>
        <p:txBody>
          <a:bodyPr wrap="square" lIns="0" tIns="0" rIns="0" bIns="0" rtlCol="0" anchor="ctr"/>
          <a:lstStyle/>
          <a:p>
            <a:pPr indent="0" marL="0">
              <a:lnSpc>
                <a:spcPct val="108000"/>
              </a:lnSpc>
              <a:buNone/>
            </a:pPr>
            <a:r>
              <a:rPr lang="en-US" sz="1050" i="1" dirty="0">
                <a:solidFill>
                  <a:srgbClr val="9AA1B4"/>
                </a:solidFill>
                <a:latin typeface="Calibri" pitchFamily="34" charset="0"/>
                <a:ea typeface="Calibri" pitchFamily="34" charset="-122"/>
                <a:cs typeface="Calibri" pitchFamily="34" charset="-120"/>
              </a:rPr>
              <a:t>No current sentiment, engagement or record figures appear anywhere in this deck. They come from a live run and change on every refresh — the defensible claim today is about the tool, not about the titles.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2026-08-11T16:51:38Z</dcterms:created>
  <dcterms:modified xsi:type="dcterms:W3CDTF">2026-08-11T16:51:38Z</dcterms:modified>
</cp:coreProperties>
</file>